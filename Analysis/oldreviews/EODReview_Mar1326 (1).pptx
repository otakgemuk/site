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65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632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462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DBFE-D132-CB95-966B-8BF6D7DC3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F8453-8016-CD12-8081-07E7E123E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22625-5A56-A324-ACAD-0058DD518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82153-5002-BE38-41EB-2CC3CB556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80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  ·  MES  ·  5-Minute Bars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0" y="73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13, 2026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21792"/>
            <a:ext cx="1179576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3566160"/>
            <a:ext cx="11795760" cy="29260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1188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3776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CONTEXT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91840" y="362102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52–1 overlapping (IOI pattern) → high probability reversal  ·  Bar 2 = Outside Outside Bar (Breakout)  ·  Bar 2 has long lower wick → buyers in control  ·  Bars 1 &amp; 2 = High 2  ·  Expect 1:1 move up after Bar 2 confirmation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Review: March 13, 2026  ·  MES 5m  ·  Personal trade journal — not financial advice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182880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682496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82496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38BEE5B-7EA9-5266-53F4-5CA620BC5317}"/>
              </a:ext>
            </a:extLst>
          </p:cNvPr>
          <p:cNvGrpSpPr/>
          <p:nvPr/>
        </p:nvGrpSpPr>
        <p:grpSpPr>
          <a:xfrm>
            <a:off x="182880" y="3950208"/>
            <a:ext cx="2249424" cy="2743200"/>
            <a:chOff x="182880" y="3950208"/>
            <a:chExt cx="2249424" cy="2743200"/>
          </a:xfrm>
        </p:grpSpPr>
        <p:sp>
          <p:nvSpPr>
            <p:cNvPr id="11" name="Shape 7"/>
            <p:cNvSpPr/>
            <p:nvPr/>
          </p:nvSpPr>
          <p:spPr>
            <a:xfrm>
              <a:off x="182880" y="3950208"/>
              <a:ext cx="2249424" cy="2743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BF7D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13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4320" y="4023360"/>
              <a:ext cx="237744" cy="237744"/>
            </a:xfrm>
            <a:prstGeom prst="rect">
              <a:avLst/>
            </a:prstGeom>
          </p:spPr>
        </p:pic>
        <p:sp>
          <p:nvSpPr>
            <p:cNvPr id="14" name="Text 9"/>
            <p:cNvSpPr/>
            <p:nvPr/>
          </p:nvSpPr>
          <p:spPr>
            <a:xfrm>
              <a:off x="566928" y="4023360"/>
              <a:ext cx="6400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T01</a:t>
              </a:r>
              <a:endParaRPr lang="en-US" sz="12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566928" y="4023360"/>
              <a:ext cx="17739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</a:t>
              </a:r>
              <a:endParaRPr lang="en-US" sz="10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274320" y="4279392"/>
              <a:ext cx="206654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Bars 1–3</a:t>
              </a:r>
              <a:endParaRPr lang="en-US" sz="75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292608" y="4425696"/>
              <a:ext cx="13716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ENTRY</a:t>
              </a:r>
              <a:endParaRPr lang="en-US" sz="7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292608" y="4590288"/>
              <a:ext cx="20482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Buy STOP 1 tick above Bar 1 · STOP 1 tick below Bar 2</a:t>
              </a:r>
              <a:endParaRPr lang="en-US" sz="800" dirty="0"/>
            </a:p>
          </p:txBody>
        </p:sp>
        <p:sp>
          <p:nvSpPr>
            <p:cNvPr id="21" name="Text 16"/>
            <p:cNvSpPr/>
            <p:nvPr/>
          </p:nvSpPr>
          <p:spPr>
            <a:xfrm>
              <a:off x="292608" y="5029200"/>
              <a:ext cx="13716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EXIT</a:t>
              </a:r>
              <a:endParaRPr lang="en-US" sz="700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292608" y="5193792"/>
              <a:ext cx="20482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Exit Bar 3 using Bar 1 as Outside Bar to measure move · 1:1R</a:t>
              </a:r>
              <a:endParaRPr lang="en-US" sz="8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292608" y="5632704"/>
              <a:ext cx="13716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REASON</a:t>
              </a:r>
              <a:endParaRPr lang="en-US" sz="70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292608" y="5797296"/>
              <a:ext cx="204825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Breakout from pre-market trading range · Bar 2 BOO</a:t>
              </a:r>
              <a:endParaRPr lang="en-US" sz="800" dirty="0"/>
            </a:p>
          </p:txBody>
        </p:sp>
      </p:grpSp>
      <p:sp>
        <p:nvSpPr>
          <p:cNvPr id="25" name="Shape 20"/>
          <p:cNvSpPr/>
          <p:nvPr/>
        </p:nvSpPr>
        <p:spPr>
          <a:xfrm>
            <a:off x="2523744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523744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40233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907792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2907792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606040" y="421538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11–13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4023360" y="6318504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005072" y="6342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633472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2633472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11 filled at Bar 13 · STOP 1 tick below Bar 11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2633472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2633472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13 using Bar 11 as MM up · 39 ticks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633472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2633472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11 = inside bar · Bullish scalp after 2-leg pullback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864608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864608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023360"/>
            <a:ext cx="237744" cy="23774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248656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248656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956048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12–18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6364224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64224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4974336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48" name="Text 41"/>
          <p:cNvSpPr/>
          <p:nvPr/>
        </p:nvSpPr>
        <p:spPr>
          <a:xfrm>
            <a:off x="4974336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12 filled at Bar 15 · STOP 1 tick above Bar 12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974336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4974336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18 using Bar 12/13 MM down · 80 ticks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974336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52" name="Text 45"/>
          <p:cNvSpPr/>
          <p:nvPr/>
        </p:nvSpPr>
        <p:spPr>
          <a:xfrm>
            <a:off x="4974336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Bars 10–14 · Expecting 2nd leg down · Bar 13 = Low 1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7205472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7"/>
          <p:cNvSpPr/>
          <p:nvPr/>
        </p:nvSpPr>
        <p:spPr>
          <a:xfrm>
            <a:off x="7205472" y="3950208"/>
            <a:ext cx="2249424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4023360"/>
            <a:ext cx="237744" cy="237744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589520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200" dirty="0"/>
          </a:p>
        </p:txBody>
      </p:sp>
      <p:sp>
        <p:nvSpPr>
          <p:cNvPr id="57" name="Text 49"/>
          <p:cNvSpPr/>
          <p:nvPr/>
        </p:nvSpPr>
        <p:spPr>
          <a:xfrm>
            <a:off x="7589520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7296912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22–24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8705088" y="4425696"/>
            <a:ext cx="658368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705088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7315200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62" name="Text 54"/>
          <p:cNvSpPr/>
          <p:nvPr/>
        </p:nvSpPr>
        <p:spPr>
          <a:xfrm>
            <a:off x="7315200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STOP 1 tick below Bar 22 · Entry Bar 21/22 = Low 2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7315200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64" name="Text 56"/>
          <p:cNvSpPr/>
          <p:nvPr/>
        </p:nvSpPr>
        <p:spPr>
          <a:xfrm>
            <a:off x="7315200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24 using Bar 22 as MM down · 49 ticks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7315200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66" name="Text 58"/>
          <p:cNvSpPr/>
          <p:nvPr/>
        </p:nvSpPr>
        <p:spPr>
          <a:xfrm>
            <a:off x="7315200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· Price below 20 EMA with gap · Downtrend context</a:t>
            </a:r>
            <a:endParaRPr lang="en-US" sz="800" dirty="0"/>
          </a:p>
        </p:txBody>
      </p:sp>
      <p:sp>
        <p:nvSpPr>
          <p:cNvPr id="67" name="Shape 59"/>
          <p:cNvSpPr/>
          <p:nvPr/>
        </p:nvSpPr>
        <p:spPr>
          <a:xfrm>
            <a:off x="9546336" y="3950208"/>
            <a:ext cx="2249424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0"/>
          <p:cNvSpPr/>
          <p:nvPr/>
        </p:nvSpPr>
        <p:spPr>
          <a:xfrm>
            <a:off x="9546336" y="3950208"/>
            <a:ext cx="2249424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4023360"/>
            <a:ext cx="237744" cy="237744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9930384" y="4023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9930384" y="402336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en-US" sz="1000" dirty="0"/>
          </a:p>
        </p:txBody>
      </p:sp>
      <p:sp>
        <p:nvSpPr>
          <p:cNvPr id="72" name="Text 63"/>
          <p:cNvSpPr/>
          <p:nvPr/>
        </p:nvSpPr>
        <p:spPr>
          <a:xfrm>
            <a:off x="9637776" y="427939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53–58</a:t>
            </a:r>
            <a:endParaRPr lang="en-US" sz="750" dirty="0"/>
          </a:p>
        </p:txBody>
      </p:sp>
      <p:sp>
        <p:nvSpPr>
          <p:cNvPr id="73" name="Shape 64"/>
          <p:cNvSpPr/>
          <p:nvPr/>
        </p:nvSpPr>
        <p:spPr>
          <a:xfrm>
            <a:off x="11045952" y="4425696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11045952" y="44439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850" dirty="0"/>
          </a:p>
        </p:txBody>
      </p:sp>
      <p:sp>
        <p:nvSpPr>
          <p:cNvPr id="75" name="Text 66"/>
          <p:cNvSpPr/>
          <p:nvPr/>
        </p:nvSpPr>
        <p:spPr>
          <a:xfrm>
            <a:off x="9656064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700" dirty="0"/>
          </a:p>
        </p:txBody>
      </p:sp>
      <p:sp>
        <p:nvSpPr>
          <p:cNvPr id="76" name="Text 67"/>
          <p:cNvSpPr/>
          <p:nvPr/>
        </p:nvSpPr>
        <p:spPr>
          <a:xfrm>
            <a:off x="9656064" y="45902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STOP 1 tick above Bar 53 · STOP 1 tick below Bar 53</a:t>
            </a:r>
            <a:endParaRPr lang="en-US" sz="800" dirty="0"/>
          </a:p>
        </p:txBody>
      </p:sp>
      <p:sp>
        <p:nvSpPr>
          <p:cNvPr id="77" name="Text 68"/>
          <p:cNvSpPr/>
          <p:nvPr/>
        </p:nvSpPr>
        <p:spPr>
          <a:xfrm>
            <a:off x="9656064" y="5029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700" dirty="0"/>
          </a:p>
        </p:txBody>
      </p:sp>
      <p:sp>
        <p:nvSpPr>
          <p:cNvPr id="78" name="Text 69"/>
          <p:cNvSpPr/>
          <p:nvPr/>
        </p:nvSpPr>
        <p:spPr>
          <a:xfrm>
            <a:off x="9656064" y="5193792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Bar 58 at 1:1 MM using Bar 53 · 30 ticks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9656064" y="56327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9656064" y="579729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= strong BO bar down · Bar 53 = weak buy signal · PA repeating Bar 42 pattern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AA628C-B293-4348-36C0-53F8C179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642DB77-B9F9-ADE0-B50B-8724D837ED41}"/>
              </a:ext>
            </a:extLst>
          </p:cNvPr>
          <p:cNvSpPr/>
          <p:nvPr/>
        </p:nvSpPr>
        <p:spPr>
          <a:xfrm>
            <a:off x="228600" y="914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  ·  MES  ·  5-Minute Bars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715761-1A77-34D3-AD30-0ED74C83050C}"/>
              </a:ext>
            </a:extLst>
          </p:cNvPr>
          <p:cNvSpPr/>
          <p:nvPr/>
        </p:nvSpPr>
        <p:spPr>
          <a:xfrm>
            <a:off x="8229600" y="73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16, 2026</a:t>
            </a:r>
            <a:endParaRPr lang="en-US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CF57BF7-607B-EADD-5878-1545121B0167}"/>
              </a:ext>
            </a:extLst>
          </p:cNvPr>
          <p:cNvSpPr/>
          <p:nvPr/>
        </p:nvSpPr>
        <p:spPr>
          <a:xfrm>
            <a:off x="132080" y="3529583"/>
            <a:ext cx="4628511" cy="1126638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197A1E6-3831-BB89-A3BC-610063A6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11880"/>
            <a:ext cx="182880" cy="18288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388D162-31D4-29E2-245F-0474565BBD5A}"/>
              </a:ext>
            </a:extLst>
          </p:cNvPr>
          <p:cNvSpPr/>
          <p:nvPr/>
        </p:nvSpPr>
        <p:spPr>
          <a:xfrm>
            <a:off x="493776" y="36210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PRE-MARKET CONTEXT</a:t>
            </a:r>
            <a:endParaRPr lang="en-US" sz="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14EB1E9-6FF3-4DB3-1D4A-8AD54E0C81E1}"/>
              </a:ext>
            </a:extLst>
          </p:cNvPr>
          <p:cNvSpPr/>
          <p:nvPr/>
        </p:nvSpPr>
        <p:spPr>
          <a:xfrm>
            <a:off x="2198205" y="3771314"/>
            <a:ext cx="2385827" cy="843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Price Action was trending up since Sunday Open. This is strong indication of a reversal to the upside from Friday's low..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E5AC83A-2509-C3A9-82CE-801112BE4B49}"/>
              </a:ext>
            </a:extLst>
          </p:cNvPr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Review: March 13, 2026  ·  MES 5m  ·  Personal trade journal — not financial advice</a:t>
            </a:r>
            <a:endParaRPr lang="en-US" sz="700" dirty="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02B042A8-8635-4E65-C5D3-BD8C49EC8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" y="522252"/>
            <a:ext cx="11663680" cy="6011722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BD8C5085-949C-A125-26B1-17B266D36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124" y="3547518"/>
            <a:ext cx="1613486" cy="311725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36971160-8C95-03F0-F07C-F07420D9C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436" y="3497357"/>
            <a:ext cx="1456732" cy="3211692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2B6057A-38C4-D310-DF8C-1D12FB15CA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752" y="3499329"/>
            <a:ext cx="1675043" cy="3170617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17446F14-FA7F-1142-77BE-C50FC91382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" y="55345"/>
            <a:ext cx="11846560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79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6A90F-87A9-1FF2-7170-5416424E8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349"/>
            <a:ext cx="8902700" cy="6517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AAF1AE-951F-9B07-7633-70720E81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2700" y="0"/>
            <a:ext cx="3289300" cy="64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6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CBE19-2612-A1B0-1B19-5EAC1B12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08" y="304800"/>
            <a:ext cx="11956438" cy="626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81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NOTES  ·  MES 5m  ·  Mar 13,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7315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Bar-by-Bar Context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9D70DA7-6923-24E3-EBEB-997B35EFECE1}"/>
              </a:ext>
            </a:extLst>
          </p:cNvPr>
          <p:cNvGrpSpPr/>
          <p:nvPr/>
        </p:nvGrpSpPr>
        <p:grpSpPr>
          <a:xfrm>
            <a:off x="182880" y="658368"/>
            <a:ext cx="3858768" cy="402336"/>
            <a:chOff x="182880" y="658368"/>
            <a:chExt cx="3858768" cy="402336"/>
          </a:xfrm>
        </p:grpSpPr>
        <p:sp>
          <p:nvSpPr>
            <p:cNvPr id="6" name="Shape 4"/>
            <p:cNvSpPr/>
            <p:nvPr/>
          </p:nvSpPr>
          <p:spPr>
            <a:xfrm>
              <a:off x="182880" y="658368"/>
              <a:ext cx="3858768" cy="402336"/>
            </a:xfrm>
            <a:prstGeom prst="rect">
              <a:avLst/>
            </a:prstGeom>
            <a:solidFill>
              <a:srgbClr val="DBEAFE"/>
            </a:solidFill>
            <a:ln w="12700">
              <a:solidFill>
                <a:srgbClr val="DBEAFE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20040" y="713232"/>
              <a:ext cx="363016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Session  ·  Bars 1–14</a:t>
              </a:r>
              <a:endParaRPr lang="en-US" sz="105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292608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2608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" y="603504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12648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2608" y="665683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674827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13 (EMA):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closing above EMA — "breakout" above EMA weak, essentially a false break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78808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78808" y="658368"/>
            <a:ext cx="3858768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Session  ·  Bars 21–53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15968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21/22: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2 — bearish inside bar, price below 20EMA with gap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88536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15968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EMA: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closes below EMA — bear trend context, EMA acting as resistance not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288536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 confirmed — entry sell stop 1 tick below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88536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15968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23+: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start to overlap — strong indication price action is in a Trading Range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88536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15968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Breakout Bar to the downside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88536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15968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buy signal bar — no follow-up bear bar after Bar 52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88536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968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Bar 42: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 Bar with no follow-up bear bar — high probability price repeats pattern from Bar 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88536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15968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note: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risk was only about 30 ticks — very small if trade failed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74736" y="658368"/>
            <a:ext cx="3858768" cy="59618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74736" y="658368"/>
            <a:ext cx="3858768" cy="402336"/>
          </a:xfrm>
          <a:prstGeom prst="rect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713232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 ·  All Session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311896" y="115214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session: Trending. Mid session: Trading Range from Bar 23 onwards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84464" y="168249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1896" y="177393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role: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acted as resistance in the afternoon — price unable to sustain above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84464" y="230428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11896" y="23957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Bear Flag Bars 10–14 led cleanly to T03 — 80 tick winner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84464" y="2926080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11896" y="3017520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repeat: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53 setup mirrors Bar 42 — trading pattern recognition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84464" y="3547872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11896" y="363931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note: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was limited to ~40 ticks — bullish inside bar scalp in minor pullback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284464" y="4169664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311896" y="4261104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conviction: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trade for Bear Flag + expecting 2nd leg down — confirmed by Bar 13 Low 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84464" y="4791456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11896" y="4882896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context: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confirmed — bearish inside bar below EMA with gap is high conviction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284464" y="5413248"/>
            <a:ext cx="3639312" cy="9144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11896" y="5504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away: 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T06 — overlapping bars from Bar 23 signal choppy range. Correct to stop.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82880" y="6492240"/>
            <a:ext cx="117957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528816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  ·  5 Trades  ·  T01 +39  ·  T02 +39  ·  T03 +80  ·  T04 +49  ·  T05 +30  ·  TOTAL: +237 TICKS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21">
            <a:extLst>
              <a:ext uri="{FF2B5EF4-FFF2-40B4-BE49-F238E27FC236}">
                <a16:creationId xmlns:a16="http://schemas.microsoft.com/office/drawing/2014/main" id="{64D3429D-75FF-89E9-C772-97022737A611}"/>
              </a:ext>
            </a:extLst>
          </p:cNvPr>
          <p:cNvSpPr/>
          <p:nvPr/>
        </p:nvSpPr>
        <p:spPr>
          <a:xfrm>
            <a:off x="2314736" y="2554692"/>
            <a:ext cx="3524740" cy="40233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31720" y="3004396"/>
            <a:ext cx="3524741" cy="3495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 ·  LONG  ·  Bars 1–3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91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MES 5m  ·  Mar 13,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2560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15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CBD1A8-B799-CD7C-3995-CD7045D7748A}"/>
              </a:ext>
            </a:extLst>
          </p:cNvPr>
          <p:cNvGrpSpPr/>
          <p:nvPr/>
        </p:nvGrpSpPr>
        <p:grpSpPr>
          <a:xfrm>
            <a:off x="213360" y="658368"/>
            <a:ext cx="11795760" cy="327490"/>
            <a:chOff x="213360" y="658368"/>
            <a:chExt cx="11795760" cy="327490"/>
          </a:xfrm>
        </p:grpSpPr>
        <p:sp>
          <p:nvSpPr>
            <p:cNvPr id="7" name="Shape 4"/>
            <p:cNvSpPr/>
            <p:nvPr/>
          </p:nvSpPr>
          <p:spPr>
            <a:xfrm>
              <a:off x="213360" y="658368"/>
              <a:ext cx="11765280" cy="327490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213360" y="678350"/>
              <a:ext cx="117957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TRADE EXPLANATION</a:t>
              </a:r>
              <a:endParaRPr lang="en-US" sz="1400" dirty="0"/>
            </a:p>
          </p:txBody>
        </p:sp>
      </p:grpSp>
      <p:sp>
        <p:nvSpPr>
          <p:cNvPr id="9" name="Shape 6"/>
          <p:cNvSpPr/>
          <p:nvPr/>
        </p:nvSpPr>
        <p:spPr>
          <a:xfrm>
            <a:off x="182880" y="1243584"/>
            <a:ext cx="2011680" cy="1111421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77440" y="1270168"/>
            <a:ext cx="9601200" cy="1111421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42032" y="1903646"/>
            <a:ext cx="9326880" cy="437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4253187-F0B9-0329-D2E5-2B007361EA17}"/>
              </a:ext>
            </a:extLst>
          </p:cNvPr>
          <p:cNvGrpSpPr/>
          <p:nvPr/>
        </p:nvGrpSpPr>
        <p:grpSpPr>
          <a:xfrm>
            <a:off x="182880" y="2557865"/>
            <a:ext cx="2011680" cy="585216"/>
            <a:chOff x="182880" y="2843784"/>
            <a:chExt cx="2011680" cy="585216"/>
          </a:xfrm>
        </p:grpSpPr>
        <p:sp>
          <p:nvSpPr>
            <p:cNvPr id="14" name="Shape 10"/>
            <p:cNvSpPr/>
            <p:nvPr/>
          </p:nvSpPr>
          <p:spPr>
            <a:xfrm>
              <a:off x="182880" y="2843784"/>
              <a:ext cx="2011680" cy="585216"/>
            </a:xfrm>
            <a:prstGeom prst="rect">
              <a:avLst/>
            </a:prstGeom>
            <a:solidFill>
              <a:srgbClr val="DCFCE7"/>
            </a:solidFill>
            <a:ln w="12700">
              <a:solidFill>
                <a:srgbClr val="BBF7D0"/>
              </a:solidFill>
              <a:prstDash val="solid"/>
            </a:ln>
            <a:effectLst>
              <a:outerShdw blurRad="50800" dist="25400" dir="8100000" algn="bl" rotWithShape="0">
                <a:srgbClr val="000000">
                  <a:alpha val="10000"/>
                </a:srgbClr>
              </a:outerShdw>
            </a:effectLst>
          </p:spPr>
        </p:sp>
        <p:pic>
          <p:nvPicPr>
            <p:cNvPr id="15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0040" y="2971800"/>
              <a:ext cx="347472" cy="347472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749808" y="3008376"/>
              <a:ext cx="13716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580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Trades</a:t>
              </a:r>
              <a:endParaRPr lang="en-US" sz="1400" dirty="0"/>
            </a:p>
          </p:txBody>
        </p:sp>
      </p:grpSp>
      <p:sp>
        <p:nvSpPr>
          <p:cNvPr id="28" name="Text 21"/>
          <p:cNvSpPr/>
          <p:nvPr/>
        </p:nvSpPr>
        <p:spPr>
          <a:xfrm>
            <a:off x="2542032" y="5303520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1 of 5  ·  EOD Review Mar 13, 2026  ·  Personal trade journal — not financial advice</a:t>
            </a:r>
            <a:endParaRPr lang="en-US" sz="700" dirty="0"/>
          </a:p>
        </p:txBody>
      </p:sp>
      <p:sp>
        <p:nvSpPr>
          <p:cNvPr id="36" name="Text 8"/>
          <p:cNvSpPr/>
          <p:nvPr/>
        </p:nvSpPr>
        <p:spPr>
          <a:xfrm>
            <a:off x="11220365" y="921682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830C943-F855-D05D-258D-3EE3A8774378}"/>
              </a:ext>
            </a:extLst>
          </p:cNvPr>
          <p:cNvGrpSpPr/>
          <p:nvPr/>
        </p:nvGrpSpPr>
        <p:grpSpPr>
          <a:xfrm>
            <a:off x="2354438" y="2621196"/>
            <a:ext cx="3552277" cy="3021544"/>
            <a:chOff x="2354437" y="2621196"/>
            <a:chExt cx="3615724" cy="3021544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D5BADC0-B027-C249-BFDB-5AB2BD99F3FE}"/>
                </a:ext>
              </a:extLst>
            </p:cNvPr>
            <p:cNvGrpSpPr/>
            <p:nvPr/>
          </p:nvGrpSpPr>
          <p:grpSpPr>
            <a:xfrm>
              <a:off x="2354437" y="2621196"/>
              <a:ext cx="1853853" cy="256032"/>
              <a:chOff x="2481072" y="3108960"/>
              <a:chExt cx="1853853" cy="256032"/>
            </a:xfrm>
          </p:grpSpPr>
          <p:pic>
            <p:nvPicPr>
              <p:cNvPr id="40" name="Image 2" descr="preencoded.png">
                <a:extLst>
                  <a:ext uri="{FF2B5EF4-FFF2-40B4-BE49-F238E27FC236}">
                    <a16:creationId xmlns:a16="http://schemas.microsoft.com/office/drawing/2014/main" id="{AEEE82DC-A32D-D2F8-8945-2DB41896E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1072" y="3108960"/>
                <a:ext cx="237744" cy="237744"/>
              </a:xfrm>
              <a:prstGeom prst="rect">
                <a:avLst/>
              </a:prstGeom>
            </p:spPr>
          </p:pic>
          <p:sp>
            <p:nvSpPr>
              <p:cNvPr id="41" name="Text 9">
                <a:extLst>
                  <a:ext uri="{FF2B5EF4-FFF2-40B4-BE49-F238E27FC236}">
                    <a16:creationId xmlns:a16="http://schemas.microsoft.com/office/drawing/2014/main" id="{0733CED3-5814-9F22-C9ED-6F07676BF242}"/>
                  </a:ext>
                </a:extLst>
              </p:cNvPr>
              <p:cNvSpPr/>
              <p:nvPr/>
            </p:nvSpPr>
            <p:spPr>
              <a:xfrm>
                <a:off x="2773680" y="3108960"/>
                <a:ext cx="64008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b="1" dirty="0">
                    <a:solidFill>
                      <a:srgbClr val="1580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T01</a:t>
                </a:r>
                <a:endParaRPr lang="en-US" sz="1050" dirty="0"/>
              </a:p>
            </p:txBody>
          </p:sp>
          <p:sp>
            <p:nvSpPr>
              <p:cNvPr id="42" name="Text 10">
                <a:extLst>
                  <a:ext uri="{FF2B5EF4-FFF2-40B4-BE49-F238E27FC236}">
                    <a16:creationId xmlns:a16="http://schemas.microsoft.com/office/drawing/2014/main" id="{07706A8F-D6BB-77C1-F0FB-A8605E692401}"/>
                  </a:ext>
                </a:extLst>
              </p:cNvPr>
              <p:cNvSpPr/>
              <p:nvPr/>
            </p:nvSpPr>
            <p:spPr>
              <a:xfrm>
                <a:off x="2773680" y="3108960"/>
                <a:ext cx="1561245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800" b="1" dirty="0">
                    <a:solidFill>
                      <a:srgbClr val="15803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LONG</a:t>
                </a:r>
                <a:endParaRPr lang="en-US" sz="800" dirty="0"/>
              </a:p>
            </p:txBody>
          </p:sp>
        </p:grpSp>
        <p:sp>
          <p:nvSpPr>
            <p:cNvPr id="44" name="Text 14">
              <a:extLst>
                <a:ext uri="{FF2B5EF4-FFF2-40B4-BE49-F238E27FC236}">
                  <a16:creationId xmlns:a16="http://schemas.microsoft.com/office/drawing/2014/main" id="{2A53C619-A98B-28D6-7C73-B19BD5FD5DE5}"/>
                </a:ext>
              </a:extLst>
            </p:cNvPr>
            <p:cNvSpPr/>
            <p:nvPr/>
          </p:nvSpPr>
          <p:spPr>
            <a:xfrm>
              <a:off x="2382466" y="3055788"/>
              <a:ext cx="3587695" cy="2586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b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CONTEXT:</a:t>
              </a:r>
              <a:br>
                <a:rPr lang="en-US" sz="7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8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Bars 52→1: </a:t>
              </a: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Pre-market bars overlapping (IOI) — high probability reversal zone</a:t>
              </a:r>
              <a:b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8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 60/61/62: </a:t>
              </a: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IOI pattern — Inside Outside Inside Bars confirming reversal</a:t>
              </a:r>
              <a:endParaRPr lang="en-US" sz="800" dirty="0"/>
            </a:p>
            <a:p>
              <a:r>
                <a:rPr lang="en-US" sz="8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 2: </a:t>
              </a: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Outside </a:t>
              </a:r>
              <a:r>
                <a:rPr lang="en-US" sz="8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Outside</a:t>
              </a: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Bar (breakout bar) with long lower wick — buyers in control</a:t>
              </a:r>
            </a:p>
            <a:p>
              <a:r>
                <a:rPr lang="en-US" sz="8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Bars 1 &amp; 2: </a:t>
              </a:r>
              <a:r>
                <a:rPr lang="en-US" sz="8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2 structure — buying 1 tick above Bar 1 makes sense</a:t>
              </a:r>
            </a:p>
            <a:p>
              <a:endPara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8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ENTRY : </a:t>
              </a: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Buy STOP 1 tick above Bar 1 · STOP 1 tick below Bar 2</a:t>
              </a:r>
            </a:p>
            <a:p>
              <a:r>
                <a:rPr lang="en-US" sz="8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EXIT :  </a:t>
              </a: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 Bar 3 using Bar 1 as Outside Bar to measure move up</a:t>
              </a:r>
            </a:p>
            <a:p>
              <a:r>
                <a:rPr lang="en-US" sz="8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REASON: </a:t>
              </a:r>
              <a:r>
                <a:rPr lang="en-US" sz="800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Breakout from pre-market trading range · Bar 2 – OO expecting 1:1R minimum</a:t>
              </a:r>
            </a:p>
            <a:p>
              <a:endPara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800" b="1" kern="0" spc="150" dirty="0">
                  <a:solidFill>
                    <a:srgbClr val="1D4E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OUTCOME:</a:t>
              </a:r>
            </a:p>
            <a:p>
              <a:endParaRPr lang="en-US" sz="8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800" b="1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Lesson Learnt</a:t>
              </a:r>
              <a:endParaRPr lang="en-US" sz="800" dirty="0"/>
            </a:p>
            <a:p>
              <a:endParaRPr lang="en-US" sz="700" b="1" kern="0" spc="15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700" b="1" dirty="0">
                  <a:solidFill>
                    <a:srgbClr val="1E3A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IOI pre-market compression followed by a strong Outside Bar breakout is a high-probability setup. The long lower wick on Bar 2 was the key confirmation — buyers were aggressively defending. Wait for Bar 2 close confirmation before entering.</a:t>
              </a:r>
              <a:endParaRPr lang="en-US" sz="800" b="1" dirty="0"/>
            </a:p>
          </p:txBody>
        </p:sp>
      </p:grpSp>
      <p:sp>
        <p:nvSpPr>
          <p:cNvPr id="46" name="Text 16">
            <a:extLst>
              <a:ext uri="{FF2B5EF4-FFF2-40B4-BE49-F238E27FC236}">
                <a16:creationId xmlns:a16="http://schemas.microsoft.com/office/drawing/2014/main" id="{E87585E7-ECB5-4099-56FA-5763BF94DB6D}"/>
              </a:ext>
            </a:extLst>
          </p:cNvPr>
          <p:cNvSpPr/>
          <p:nvPr/>
        </p:nvSpPr>
        <p:spPr>
          <a:xfrm>
            <a:off x="213360" y="3004396"/>
            <a:ext cx="18122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95AAF39E-64B4-2E94-DAD8-5B82D92FCC6B}"/>
              </a:ext>
            </a:extLst>
          </p:cNvPr>
          <p:cNvSpPr/>
          <p:nvPr/>
        </p:nvSpPr>
        <p:spPr>
          <a:xfrm>
            <a:off x="182880" y="3042412"/>
            <a:ext cx="2446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1501DD4E-0434-7D9B-141A-2E1B7F25ED03}"/>
              </a:ext>
            </a:extLst>
          </p:cNvPr>
          <p:cNvSpPr/>
          <p:nvPr/>
        </p:nvSpPr>
        <p:spPr>
          <a:xfrm>
            <a:off x="2377440" y="1508660"/>
            <a:ext cx="3602736" cy="81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0" b="1" dirty="0"/>
          </a:p>
          <a:p>
            <a:r>
              <a:rPr lang="en-US" sz="800" b="1" dirty="0"/>
              <a:t>What is the overnight high? What is the overnight low? Lines drawn.</a:t>
            </a:r>
          </a:p>
          <a:p>
            <a:endParaRPr lang="en-US" sz="800" b="1" dirty="0"/>
          </a:p>
          <a:p>
            <a:r>
              <a:rPr lang="en-US" sz="800" b="1" dirty="0"/>
              <a:t>Pre-market direction assessed — up or down from prior close</a:t>
            </a:r>
          </a:p>
          <a:p>
            <a:endParaRPr lang="en-US" sz="800" b="1" dirty="0"/>
          </a:p>
          <a:p>
            <a:r>
              <a:rPr lang="en-US" sz="800" b="1" dirty="0"/>
              <a:t>Two-leg structure checked — is a base complete?</a:t>
            </a:r>
          </a:p>
          <a:p>
            <a:endParaRPr lang="en-US" sz="800" b="1" dirty="0"/>
          </a:p>
          <a:p>
            <a:r>
              <a:rPr lang="en-US" sz="800" b="1" dirty="0"/>
              <a:t>TD9 count checked on pre-market bars</a:t>
            </a:r>
          </a:p>
          <a:p>
            <a:r>
              <a:rPr lang="en-US" sz="700" dirty="0"/>
              <a:t>If TD9 fired in pre-market, mark that bar. It is a test target for the session.</a:t>
            </a:r>
          </a:p>
          <a:p>
            <a:endParaRPr lang="en-US" sz="100" b="1" dirty="0"/>
          </a:p>
          <a:p>
            <a:r>
              <a:rPr lang="en-US" sz="800" b="1" dirty="0"/>
              <a:t>Where is VWAP relative to current price? Above = bullish bias. Below = bearish bias.</a:t>
            </a:r>
            <a:endParaRPr lang="en-US" sz="100" b="1" dirty="0"/>
          </a:p>
          <a:p>
            <a:endParaRPr lang="en-US" sz="1000" dirty="0"/>
          </a:p>
          <a:p>
            <a:endParaRPr lang="en-US" sz="800" dirty="0"/>
          </a:p>
          <a:p>
            <a:endParaRPr lang="en-US" sz="1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0DB9A61-E954-88F3-DF27-7FF644E95A1F}"/>
              </a:ext>
            </a:extLst>
          </p:cNvPr>
          <p:cNvGrpSpPr/>
          <p:nvPr/>
        </p:nvGrpSpPr>
        <p:grpSpPr>
          <a:xfrm>
            <a:off x="1661850" y="4567514"/>
            <a:ext cx="1729740" cy="256032"/>
            <a:chOff x="320040" y="5585968"/>
            <a:chExt cx="1801368" cy="347472"/>
          </a:xfrm>
        </p:grpSpPr>
        <p:pic>
          <p:nvPicPr>
            <p:cNvPr id="57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0040" y="5585968"/>
              <a:ext cx="347472" cy="347472"/>
            </a:xfrm>
            <a:prstGeom prst="rect">
              <a:avLst/>
            </a:prstGeom>
          </p:spPr>
        </p:pic>
        <p:sp>
          <p:nvSpPr>
            <p:cNvPr id="58" name="Text 19"/>
            <p:cNvSpPr/>
            <p:nvPr/>
          </p:nvSpPr>
          <p:spPr>
            <a:xfrm>
              <a:off x="749808" y="5622544"/>
              <a:ext cx="13716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00" dirty="0"/>
            </a:p>
          </p:txBody>
        </p:sp>
      </p:grpSp>
      <p:sp>
        <p:nvSpPr>
          <p:cNvPr id="61" name="Shape 25">
            <a:extLst>
              <a:ext uri="{FF2B5EF4-FFF2-40B4-BE49-F238E27FC236}">
                <a16:creationId xmlns:a16="http://schemas.microsoft.com/office/drawing/2014/main" id="{065F807C-07B1-2872-37A2-14B136B35C11}"/>
              </a:ext>
            </a:extLst>
          </p:cNvPr>
          <p:cNvSpPr/>
          <p:nvPr/>
        </p:nvSpPr>
        <p:spPr>
          <a:xfrm>
            <a:off x="2344064" y="4432174"/>
            <a:ext cx="658368" cy="237744"/>
          </a:xfrm>
          <a:prstGeom prst="rect">
            <a:avLst/>
          </a:prstGeom>
          <a:solidFill>
            <a:srgbClr val="DCFCE7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r>
              <a:rPr lang="en-US" sz="900" dirty="0"/>
              <a:t>+39 ticks</a:t>
            </a:r>
            <a:endParaRPr lang="en-US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57609A6-679F-8141-41F6-720A78BFF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9652" y="2541575"/>
            <a:ext cx="2641275" cy="2951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 ·  LONG  ·  Bars 11–13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91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MES 5m  ·  Mar 13,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2560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658368"/>
            <a:ext cx="9601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7315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243584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77440" y="1243584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42032" y="1353312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5m · Bar 11 = Inside Bar (compression after pullback) · Entry STOP 1 tick above Bar 11 filled at Bar 13 · Stop 1 tick below Bar 11 · Target = MM up using Bar 11 as reference · Risk ~40 ticks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560320"/>
            <a:ext cx="201168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1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77440" y="2560320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542032" y="2670048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2-leg pullback from the session high, Bar 11 formed an inside bar — a compression signal. Buying 1 tick above the inside bar makes sense as a quick bullish scalp in a minor pullback context. Risk was limited due to the tight inside bar range.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82880" y="3877056"/>
            <a:ext cx="201168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88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325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377440" y="3877056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2542032" y="3986784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ticks · Exit at Bar 13 using Bar 11 as MM up · Risk was approximately 40 ticks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2880" y="5193792"/>
            <a:ext cx="201168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56052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5641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2377440" y="5193792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2542032" y="5303520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bars at the end of a 2-leg pullback in a trending session are clean scalp entries. The key is keeping risk tight — the inside bar naturally defines the stop. Do not hold through if the next bar fails to follow through.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2 of 5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 ·  SHORT  ·  Bars 12–18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91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MES 5m  ·  Mar 13,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2560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658368"/>
            <a:ext cx="96012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7315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243584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77440" y="1243584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42032" y="1353312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5m · Bear Flag Bars 10–14 · Bar 12/13 = Low 1 · Entry Sell STOP 1 tick below Bar 12 filled at Bar 15 · Stop 1 tick above Bar 12 · Target = MM down using Bar 12/13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560320"/>
            <a:ext cx="201168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1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77440" y="2560320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542032" y="2670048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 formed between Bars 10 and 14 — a classic continuation pattern after the first leg down. Bar 13 was a Low 1 — no follow-through from bulls, momentum was fake. Wick on Bar 14 showed sellers actively rejecting highs. Bar 13 barely closed above EMA — essentially a false breakout. Expecting 2nd leg down.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82880" y="3877056"/>
            <a:ext cx="201168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88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325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377440" y="3877056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2542032" y="3986784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 ticks · Exit at Bar 18 using Bar 12/13 MM down · Largest winner of the session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2880" y="5193792"/>
            <a:ext cx="201168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56052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5641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2377440" y="5193792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2542032" y="5303520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Flags with a Low 1 at the flag top are one of the highest conviction short setups. The fake breakout above EMA on Bar 13 with no follow-through was the final confirmation. When the wick rejection and false EMA breakout align — size up with confidence.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3 of 5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450A0A"/>
          </a:solidFill>
          <a:ln w="12700">
            <a:solidFill>
              <a:srgbClr val="450A0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 ·  SHORT  ·  Bars 22–24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91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MES 5m  ·  Mar 13,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2560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658368"/>
            <a:ext cx="96012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7315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243584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77440" y="1243584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42032" y="1353312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5m · Bar 22 = Bearish Inside Bar · Price below 20EMA with a gap · Bar 21/22 = Low 2 · Entry Sell STOP 1 tick below Bar 22 · Target = MM down using Bar 22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560320"/>
            <a:ext cx="201168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1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77440" y="2560320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542032" y="2670048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22 was a bearish inside bar with price clearly below the 20EMA — the EMA acting as resistance not support. The gap between price and EMA confirmed the downtrend context. Bar 21/22 formed a Low 2 structure. High conviction short in an established downtrend.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82880" y="3877056"/>
            <a:ext cx="201168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88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325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377440" y="3877056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2542032" y="3986784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ticks · Exit at Bar 24 using Bar 22 as MM down · Clean execution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2880" y="5193792"/>
            <a:ext cx="201168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56052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5641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2377440" y="5193792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2542032" y="5303520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Bearish inside bars below the EMA with a visible gap are textbook downtrend continuation entries. The EMA gap tells you the trend has momentum — do not fight it. Low 2 structure adds structural confluence. This is a core SIMPAN setup.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4 of 5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91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 ·  LONG  ·  Bars 53–58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0" y="9144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  ·  MES 5m  ·  Mar 13,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256032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658368"/>
            <a:ext cx="960120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77440" y="7315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EXPLANATION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2880" y="1243584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5506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691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377440" y="1243584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542032" y="1353312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5m · Bar 52 = Strong BO Bar to downside · Bar 53 = Weak buy signal bar (no follow-up bear bar) · Entry Buy STOP 1 tick above Bar 53 · Stop 1 tick below Bar 53 · Target = 1:1 MM using Bar 53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82880" y="2560320"/>
            <a:ext cx="201168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7180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" y="300837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Idea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2377440" y="2560320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542032" y="2670048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52 was a strong breakout bar to the downside — but Bar 53 showed no follow-through from bears. This mirrors the Bar 42 pattern earlier in the session where a BO bar with no follow-up led to a reversal. Pattern recognition trade — hoping PA repeats what it did at Bar 42. Risk was very small at ~30 ticks.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82880" y="3877056"/>
            <a:ext cx="201168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88536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" y="43251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377440" y="3877056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2542032" y="3986784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ticks · Exit at Bar 58 at 1:1 MM · Low risk, high probability pattern repeat trade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82880" y="5193792"/>
            <a:ext cx="2011680" cy="118872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5605272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5641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Learnt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2377440" y="5193792"/>
            <a:ext cx="9601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2542032" y="5303520"/>
            <a:ext cx="9326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strong breakout bar has no follow-through on the next bar, it is a signal that the move may be exhausted. Pattern recognition across the same session is a valid edge — if Bar 42 showed the same setup and worked, Bar 53 deserves a trade. Small risk = easy decision.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82880" y="6675120"/>
            <a:ext cx="1179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5 of 5  ·  EOD Review Mar 13, 2026  ·  Personal trade journal — not financial advice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1882</Words>
  <Application>Microsoft Office PowerPoint</Application>
  <PresentationFormat>Widescreen</PresentationFormat>
  <Paragraphs>182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EOD Review — Mar 13 2026 — MES 5m</dc:title>
  <dc:subject>PptxGenJS Presentation</dc:subject>
  <dc:creator>PptxGenJS</dc:creator>
  <cp:lastModifiedBy>Sire Mammat</cp:lastModifiedBy>
  <cp:revision>4</cp:revision>
  <dcterms:created xsi:type="dcterms:W3CDTF">2026-03-14T14:24:00Z</dcterms:created>
  <dcterms:modified xsi:type="dcterms:W3CDTF">2026-04-06T05:27:47Z</dcterms:modified>
</cp:coreProperties>
</file>