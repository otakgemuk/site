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60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071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E514-4DEB-150C-6C07-D76CE618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CB7F5-156F-2B04-E819-7FE8C5DC2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F6BD5-A7AC-BCA3-F9FE-3901E130F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BAF42-A258-6297-D25C-50D343D95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1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  ·  MES  ·  5-Minute Bars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73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13, 2026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21792"/>
            <a:ext cx="117957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3566160"/>
            <a:ext cx="1179576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118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CONTEXT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91840" y="362102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52–1 overlapping (IOI pattern) → high probability reversal  ·  Bar 2 = Outside Outside Bar (Breakout)  ·  Bar 2 has long lower wick → buyers in control  ·  Bars 1 &amp; 2 = High 2  ·  Expect 1:1 move up after Bar 2 confirmation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Review: March 13, 2026  ·  MES 5m  ·  Personal trade journal — not financial advice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82880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82880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2336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66928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74320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1–3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1682496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82496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92608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292608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 · STOP 1 tick below Bar 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92608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292608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3 using Bar 1 as Outside Bar to measure move · 1:1R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92608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292608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from pre-market trading range · Bar 2 BOO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523744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23744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40233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07792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907792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615184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4023360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023360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633472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2633472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2633472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2633472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633472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2633472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864608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864608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023360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48656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248656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956048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6364224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64224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974336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4974336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974336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4974336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974336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4974336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= Low 1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05472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7205472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4023360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58952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7589520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7296912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8705088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705088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7315200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7315200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7315200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7315200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315200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7315200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 EMA with gap · Downtrend context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9546336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0"/>
          <p:cNvSpPr/>
          <p:nvPr/>
        </p:nvSpPr>
        <p:spPr>
          <a:xfrm>
            <a:off x="9546336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4023360"/>
            <a:ext cx="237744" cy="237744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930384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9930384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72" name="Text 63"/>
          <p:cNvSpPr/>
          <p:nvPr/>
        </p:nvSpPr>
        <p:spPr>
          <a:xfrm>
            <a:off x="9637776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73" name="Shape 64"/>
          <p:cNvSpPr/>
          <p:nvPr/>
        </p:nvSpPr>
        <p:spPr>
          <a:xfrm>
            <a:off x="11045952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11045952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850" dirty="0"/>
          </a:p>
        </p:txBody>
      </p:sp>
      <p:sp>
        <p:nvSpPr>
          <p:cNvPr id="75" name="Text 66"/>
          <p:cNvSpPr/>
          <p:nvPr/>
        </p:nvSpPr>
        <p:spPr>
          <a:xfrm>
            <a:off x="9656064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9656064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800" dirty="0"/>
          </a:p>
        </p:txBody>
      </p:sp>
      <p:sp>
        <p:nvSpPr>
          <p:cNvPr id="77" name="Text 68"/>
          <p:cNvSpPr/>
          <p:nvPr/>
        </p:nvSpPr>
        <p:spPr>
          <a:xfrm>
            <a:off x="9656064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78" name="Text 69"/>
          <p:cNvSpPr/>
          <p:nvPr/>
        </p:nvSpPr>
        <p:spPr>
          <a:xfrm>
            <a:off x="9656064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9656064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9656064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= strong BO bar down · Bar 53 = weak buy signal · PA repeating Bar 42 pattern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907F8-0870-CBC1-40AB-091F4D836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730999" cy="4676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470AF2-B949-CBE8-0299-9AA5319B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99" y="0"/>
            <a:ext cx="5552732" cy="467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7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 ·  MES 5m  ·  Mar 13,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Bar-by-Bar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3858768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  ·  Bars 1–14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52→1: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bars overlapping (IOI) — high probability reversal zone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60/61/62: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pattern — Inside Outside Inside Bars confirming reversal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Outside Bar (breakout bar) with long lower wick — buyers in control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 &amp; 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 structure — buying 1 tick above Bar 1 makes sense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 — buying 1 tick above makes sense after 2-leg pullback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after bulls couldn't sustain push — momentum fake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603504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12648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on bar 14 — sellers actively rejecting highs, strong hands present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665683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74827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(EMA):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closing above EMA — "breakout" above EMA weak, essentially a false break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78808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78808" y="658368"/>
            <a:ext cx="385876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Session  ·  Bars 21–53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15968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21/22: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2 — bearish inside bar, price below 20EMA with gap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88536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EMA: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closes below EMA — bear trend context, EMA acting as resistance not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88536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confirmed — entry sell stop 1 tick below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88536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23+: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to overlap — strong indication price action is in a Trading Range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88536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the downside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88536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bar — no follow-up bear bar after Bar 52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88536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Bar 42: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with no follow-up bear bar — high probability price repeats pattern from Bar 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88536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risk was only about 30 ticks — very small if trade failed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74736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74736" y="658368"/>
            <a:ext cx="3858768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All Session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11896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session: Trending. Mid session: Trading Range from Bar 23 onwards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84464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1896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role: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acted as resistance in the afternoon — price unable to sustain above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84464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11896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Bear Flag Bars 10–14 led cleanly to T03 — 80 tick winner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84464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11896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repeat: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 setup mirrors Bar 42 — trading pattern recognition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84464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11896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note: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was limited to ~40 ticks — bullish inside bar scalp in minor pullback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84464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conviction: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trade for Bear Flag + expecting 2nd leg down — confirmed by Bar 13 Low 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84464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11896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context: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confirmed — bearish inside bar below EMA with gap is high conviction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284464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11896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T06 — overlapping bars from Bar 23 signal choppy range. Correct to stop.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6492240"/>
            <a:ext cx="117957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5288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  ·  5 Trades  ·  T01 +39  ·  T02 +39  ·  T03 +80  ·  T04 +49  ·  T05 +30  ·  TOTAL: +237 TICKS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3D12B37-B526-7EAE-ABD6-CC4FA0FDBFF2}"/>
              </a:ext>
            </a:extLst>
          </p:cNvPr>
          <p:cNvGrpSpPr/>
          <p:nvPr/>
        </p:nvGrpSpPr>
        <p:grpSpPr>
          <a:xfrm>
            <a:off x="0" y="0"/>
            <a:ext cx="12161520" cy="475488"/>
            <a:chOff x="0" y="0"/>
            <a:chExt cx="12161520" cy="475488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61520" cy="475488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0" y="73152"/>
              <a:ext cx="121615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TRADE EXPLANATION						DATE</a:t>
              </a:r>
              <a:endParaRPr lang="en-US" sz="130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522D77E-6A97-C7C2-DAE8-33E929741AEF}"/>
              </a:ext>
            </a:extLst>
          </p:cNvPr>
          <p:cNvGrpSpPr/>
          <p:nvPr/>
        </p:nvGrpSpPr>
        <p:grpSpPr>
          <a:xfrm>
            <a:off x="164592" y="566928"/>
            <a:ext cx="11832336" cy="329184"/>
            <a:chOff x="164592" y="566928"/>
            <a:chExt cx="11832336" cy="329184"/>
          </a:xfrm>
        </p:grpSpPr>
        <p:sp>
          <p:nvSpPr>
            <p:cNvPr id="4" name="Shape 2"/>
            <p:cNvSpPr/>
            <p:nvPr/>
          </p:nvSpPr>
          <p:spPr>
            <a:xfrm>
              <a:off x="164592" y="566928"/>
              <a:ext cx="11832336" cy="329184"/>
            </a:xfrm>
            <a:prstGeom prst="rect">
              <a:avLst/>
            </a:prstGeom>
            <a:solidFill>
              <a:srgbClr val="DBEAFE"/>
            </a:solidFill>
            <a:ln w="6350">
              <a:solidFill>
                <a:srgbClr val="BFDBFE"/>
              </a:solidFill>
              <a:prstDash val="solid"/>
            </a:ln>
          </p:spPr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456" y="612648"/>
              <a:ext cx="219456" cy="219456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512064" y="621792"/>
              <a:ext cx="11430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Overall Context</a:t>
              </a:r>
              <a:endParaRPr lang="en-US" sz="800" dirty="0"/>
            </a:p>
          </p:txBody>
        </p:sp>
      </p:grpSp>
      <p:sp>
        <p:nvSpPr>
          <p:cNvPr id="8" name="Shape 5"/>
          <p:cNvSpPr/>
          <p:nvPr/>
        </p:nvSpPr>
        <p:spPr>
          <a:xfrm>
            <a:off x="164592" y="987552"/>
            <a:ext cx="2249424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" y="158191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1545336" y="4251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AB2F5B-B84E-5F5F-7FD7-0576DA06D99D}"/>
              </a:ext>
            </a:extLst>
          </p:cNvPr>
          <p:cNvGrpSpPr/>
          <p:nvPr/>
        </p:nvGrpSpPr>
        <p:grpSpPr>
          <a:xfrm>
            <a:off x="164592" y="1051560"/>
            <a:ext cx="2249424" cy="5805763"/>
            <a:chOff x="164592" y="1051560"/>
            <a:chExt cx="2249424" cy="5805763"/>
          </a:xfrm>
        </p:grpSpPr>
        <p:sp>
          <p:nvSpPr>
            <p:cNvPr id="7" name="Shape 4"/>
            <p:cNvSpPr/>
            <p:nvPr/>
          </p:nvSpPr>
          <p:spPr>
            <a:xfrm>
              <a:off x="164592" y="1096603"/>
              <a:ext cx="2249424" cy="5760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BF7D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32" y="1051560"/>
              <a:ext cx="237744" cy="237744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548640" y="1051560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13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548640" y="1051560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</a:t>
              </a:r>
              <a:endParaRPr lang="en-US" sz="10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256032" y="1335024"/>
              <a:ext cx="208483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Bars 1–3</a:t>
              </a:r>
              <a:endParaRPr lang="en-US" sz="7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256032" y="1536192"/>
              <a:ext cx="2066544" cy="1078992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BFDBFE"/>
              </a:solidFill>
              <a:prstDash val="solid"/>
            </a:ln>
          </p:spPr>
        </p:sp>
        <p:sp>
          <p:nvSpPr>
            <p:cNvPr id="19" name="Text 15"/>
            <p:cNvSpPr/>
            <p:nvPr/>
          </p:nvSpPr>
          <p:spPr>
            <a:xfrm>
              <a:off x="274320" y="2706624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ENTRY</a:t>
              </a:r>
              <a:endParaRPr lang="en-US" sz="7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274320" y="3200400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EXIT</a:t>
              </a:r>
              <a:endParaRPr lang="en-US" sz="700" dirty="0"/>
            </a:p>
          </p:txBody>
        </p:sp>
        <p:sp>
          <p:nvSpPr>
            <p:cNvPr id="23" name="Text 19"/>
            <p:cNvSpPr/>
            <p:nvPr/>
          </p:nvSpPr>
          <p:spPr>
            <a:xfrm>
              <a:off x="274320" y="3694176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REASON</a:t>
              </a:r>
              <a:endParaRPr lang="en-US" sz="700" dirty="0"/>
            </a:p>
          </p:txBody>
        </p:sp>
        <p:sp>
          <p:nvSpPr>
            <p:cNvPr id="25" name="Shape 21"/>
            <p:cNvSpPr/>
            <p:nvPr/>
          </p:nvSpPr>
          <p:spPr>
            <a:xfrm>
              <a:off x="1545336" y="4342723"/>
              <a:ext cx="749808" cy="237744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BBF7D0"/>
              </a:solidFill>
              <a:prstDash val="solid"/>
            </a:ln>
          </p:spPr>
        </p:sp>
        <p:sp>
          <p:nvSpPr>
            <p:cNvPr id="27" name="Shape 23"/>
            <p:cNvSpPr/>
            <p:nvPr/>
          </p:nvSpPr>
          <p:spPr>
            <a:xfrm>
              <a:off x="256032" y="4681051"/>
              <a:ext cx="2066544" cy="18288"/>
            </a:xfrm>
            <a:prstGeom prst="rect">
              <a:avLst/>
            </a:prstGeom>
            <a:solidFill>
              <a:srgbClr val="FDE047"/>
            </a:solidFill>
            <a:ln w="12700">
              <a:solidFill>
                <a:srgbClr val="FDE047"/>
              </a:solidFill>
              <a:prstDash val="solid"/>
            </a:ln>
          </p:spPr>
        </p:sp>
        <p:sp>
          <p:nvSpPr>
            <p:cNvPr id="28" name="Text 24"/>
            <p:cNvSpPr/>
            <p:nvPr/>
          </p:nvSpPr>
          <p:spPr>
            <a:xfrm>
              <a:off x="274320" y="4772491"/>
              <a:ext cx="20482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Lesson Learnt</a:t>
              </a:r>
              <a:endParaRPr lang="en-US" sz="800" dirty="0"/>
            </a:p>
          </p:txBody>
        </p:sp>
      </p:grpSp>
      <p:sp>
        <p:nvSpPr>
          <p:cNvPr id="30" name="Shape 26"/>
          <p:cNvSpPr/>
          <p:nvPr/>
        </p:nvSpPr>
        <p:spPr>
          <a:xfrm>
            <a:off x="2505456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2505456" y="987552"/>
            <a:ext cx="2249424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051560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889504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2889504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2596896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615184" y="15361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2615184" y="16916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2615184" y="20299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2615184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2615184" y="25237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2615184" y="26791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3886200" y="3063240"/>
            <a:ext cx="749808" cy="237744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886200" y="30815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2596896" y="34015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615184" y="34930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2615184" y="3694176"/>
            <a:ext cx="2048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bars at the end of a 2-leg pullback in a trending session are clean scalp entries. Keep risk tight — the inside bar naturally defines the stop.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4846320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4846320" y="987552"/>
            <a:ext cx="2249424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51560"/>
            <a:ext cx="237744" cy="237744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230368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5230368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4937760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4937760" y="1536192"/>
            <a:ext cx="2066544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992624" y="158191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4992624" y="1755648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4992624" y="1956816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4992624" y="2157984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from bulls — momentum was fake</a:t>
            </a:r>
            <a:endParaRPr lang="en-US" sz="700" dirty="0"/>
          </a:p>
        </p:txBody>
      </p:sp>
      <p:sp>
        <p:nvSpPr>
          <p:cNvPr id="58" name="Text 52"/>
          <p:cNvSpPr/>
          <p:nvPr/>
        </p:nvSpPr>
        <p:spPr>
          <a:xfrm>
            <a:off x="4992624" y="2359152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rejecting highs — sellers actively in control</a:t>
            </a:r>
            <a:endParaRPr lang="en-US" sz="700" dirty="0"/>
          </a:p>
        </p:txBody>
      </p:sp>
      <p:sp>
        <p:nvSpPr>
          <p:cNvPr id="59" name="Text 53"/>
          <p:cNvSpPr/>
          <p:nvPr/>
        </p:nvSpPr>
        <p:spPr>
          <a:xfrm>
            <a:off x="4992624" y="2560320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vs EMA: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closes above EMA — essentially a false break</a:t>
            </a:r>
            <a:endParaRPr lang="en-US" sz="700" dirty="0"/>
          </a:p>
        </p:txBody>
      </p:sp>
      <p:sp>
        <p:nvSpPr>
          <p:cNvPr id="60" name="Text 54"/>
          <p:cNvSpPr/>
          <p:nvPr/>
        </p:nvSpPr>
        <p:spPr>
          <a:xfrm>
            <a:off x="4956048" y="29077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1" name="Text 55"/>
          <p:cNvSpPr/>
          <p:nvPr/>
        </p:nvSpPr>
        <p:spPr>
          <a:xfrm>
            <a:off x="4956048" y="30632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750" dirty="0"/>
          </a:p>
        </p:txBody>
      </p:sp>
      <p:sp>
        <p:nvSpPr>
          <p:cNvPr id="62" name="Text 56"/>
          <p:cNvSpPr/>
          <p:nvPr/>
        </p:nvSpPr>
        <p:spPr>
          <a:xfrm>
            <a:off x="4956048" y="34015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3" name="Text 57"/>
          <p:cNvSpPr/>
          <p:nvPr/>
        </p:nvSpPr>
        <p:spPr>
          <a:xfrm>
            <a:off x="4956048" y="35570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4956048" y="38953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5" name="Text 59"/>
          <p:cNvSpPr/>
          <p:nvPr/>
        </p:nvSpPr>
        <p:spPr>
          <a:xfrm>
            <a:off x="4956048" y="40507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Low 1 confirmation</a:t>
            </a:r>
            <a:endParaRPr lang="en-US" sz="750" dirty="0"/>
          </a:p>
        </p:txBody>
      </p:sp>
      <p:sp>
        <p:nvSpPr>
          <p:cNvPr id="66" name="Shape 60"/>
          <p:cNvSpPr/>
          <p:nvPr/>
        </p:nvSpPr>
        <p:spPr>
          <a:xfrm>
            <a:off x="6227064" y="4434840"/>
            <a:ext cx="749808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6227064" y="44531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950" dirty="0"/>
          </a:p>
        </p:txBody>
      </p:sp>
      <p:sp>
        <p:nvSpPr>
          <p:cNvPr id="68" name="Shape 62"/>
          <p:cNvSpPr/>
          <p:nvPr/>
        </p:nvSpPr>
        <p:spPr>
          <a:xfrm>
            <a:off x="4937760" y="47731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4956048" y="48646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70" name="Text 64"/>
          <p:cNvSpPr/>
          <p:nvPr/>
        </p:nvSpPr>
        <p:spPr>
          <a:xfrm>
            <a:off x="4956048" y="5065776"/>
            <a:ext cx="20482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Flags with a Low 1 at the flag top are highest conviction short setups. Fake EMA breakout on Bar 13 with no follow-through was the final signal. When wick rejection and false EMA breakout align — high conviction entry.</a:t>
            </a:r>
            <a:endParaRPr lang="en-US" sz="750" dirty="0"/>
          </a:p>
        </p:txBody>
      </p:sp>
      <p:sp>
        <p:nvSpPr>
          <p:cNvPr id="71" name="Shape 65"/>
          <p:cNvSpPr/>
          <p:nvPr/>
        </p:nvSpPr>
        <p:spPr>
          <a:xfrm>
            <a:off x="7187184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Shape 66"/>
          <p:cNvSpPr/>
          <p:nvPr/>
        </p:nvSpPr>
        <p:spPr>
          <a:xfrm>
            <a:off x="7187184" y="987552"/>
            <a:ext cx="2249424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7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1051560"/>
            <a:ext cx="237744" cy="237744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7571232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300" dirty="0"/>
          </a:p>
        </p:txBody>
      </p:sp>
      <p:sp>
        <p:nvSpPr>
          <p:cNvPr id="75" name="Text 68"/>
          <p:cNvSpPr/>
          <p:nvPr/>
        </p:nvSpPr>
        <p:spPr>
          <a:xfrm>
            <a:off x="7571232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76" name="Text 69"/>
          <p:cNvSpPr/>
          <p:nvPr/>
        </p:nvSpPr>
        <p:spPr>
          <a:xfrm>
            <a:off x="7278624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77" name="Text 70"/>
          <p:cNvSpPr/>
          <p:nvPr/>
        </p:nvSpPr>
        <p:spPr>
          <a:xfrm>
            <a:off x="7296912" y="15361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8" name="Text 71"/>
          <p:cNvSpPr/>
          <p:nvPr/>
        </p:nvSpPr>
        <p:spPr>
          <a:xfrm>
            <a:off x="7296912" y="16916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750" dirty="0"/>
          </a:p>
        </p:txBody>
      </p:sp>
      <p:sp>
        <p:nvSpPr>
          <p:cNvPr id="79" name="Text 72"/>
          <p:cNvSpPr/>
          <p:nvPr/>
        </p:nvSpPr>
        <p:spPr>
          <a:xfrm>
            <a:off x="7296912" y="20299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80" name="Text 73"/>
          <p:cNvSpPr/>
          <p:nvPr/>
        </p:nvSpPr>
        <p:spPr>
          <a:xfrm>
            <a:off x="729691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750" dirty="0"/>
          </a:p>
        </p:txBody>
      </p:sp>
      <p:sp>
        <p:nvSpPr>
          <p:cNvPr id="81" name="Text 74"/>
          <p:cNvSpPr/>
          <p:nvPr/>
        </p:nvSpPr>
        <p:spPr>
          <a:xfrm>
            <a:off x="7296912" y="25237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2" name="Text 75"/>
          <p:cNvSpPr/>
          <p:nvPr/>
        </p:nvSpPr>
        <p:spPr>
          <a:xfrm>
            <a:off x="7296912" y="26791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20EMA with gap · Downtrend context</a:t>
            </a:r>
            <a:endParaRPr lang="en-US" sz="750" dirty="0"/>
          </a:p>
        </p:txBody>
      </p:sp>
      <p:sp>
        <p:nvSpPr>
          <p:cNvPr id="83" name="Shape 76"/>
          <p:cNvSpPr/>
          <p:nvPr/>
        </p:nvSpPr>
        <p:spPr>
          <a:xfrm>
            <a:off x="8567928" y="3063240"/>
            <a:ext cx="749808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84" name="Text 77"/>
          <p:cNvSpPr/>
          <p:nvPr/>
        </p:nvSpPr>
        <p:spPr>
          <a:xfrm>
            <a:off x="8567928" y="30815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950" dirty="0"/>
          </a:p>
        </p:txBody>
      </p:sp>
      <p:sp>
        <p:nvSpPr>
          <p:cNvPr id="85" name="Shape 78"/>
          <p:cNvSpPr/>
          <p:nvPr/>
        </p:nvSpPr>
        <p:spPr>
          <a:xfrm>
            <a:off x="7278624" y="34015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86" name="Text 79"/>
          <p:cNvSpPr/>
          <p:nvPr/>
        </p:nvSpPr>
        <p:spPr>
          <a:xfrm>
            <a:off x="7296912" y="34930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87" name="Text 80"/>
          <p:cNvSpPr/>
          <p:nvPr/>
        </p:nvSpPr>
        <p:spPr>
          <a:xfrm>
            <a:off x="7296912" y="3694176"/>
            <a:ext cx="2048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bars below EMA with a visible gap are textbook downtrend continuation entries. EMA gap = trend momentum. Low 2 adds structural confluence. Core SIMPAN setup.</a:t>
            </a:r>
            <a:endParaRPr lang="en-US" sz="750" dirty="0"/>
          </a:p>
        </p:txBody>
      </p:sp>
      <p:sp>
        <p:nvSpPr>
          <p:cNvPr id="88" name="Shape 81"/>
          <p:cNvSpPr/>
          <p:nvPr/>
        </p:nvSpPr>
        <p:spPr>
          <a:xfrm>
            <a:off x="9528048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9" name="Shape 82"/>
          <p:cNvSpPr/>
          <p:nvPr/>
        </p:nvSpPr>
        <p:spPr>
          <a:xfrm>
            <a:off x="9528048" y="987552"/>
            <a:ext cx="2249424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9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1051560"/>
            <a:ext cx="237744" cy="237744"/>
          </a:xfrm>
          <a:prstGeom prst="rect">
            <a:avLst/>
          </a:prstGeom>
        </p:spPr>
      </p:pic>
      <p:sp>
        <p:nvSpPr>
          <p:cNvPr id="91" name="Text 83"/>
          <p:cNvSpPr/>
          <p:nvPr/>
        </p:nvSpPr>
        <p:spPr>
          <a:xfrm>
            <a:off x="9912096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300" dirty="0"/>
          </a:p>
        </p:txBody>
      </p:sp>
      <p:sp>
        <p:nvSpPr>
          <p:cNvPr id="92" name="Text 84"/>
          <p:cNvSpPr/>
          <p:nvPr/>
        </p:nvSpPr>
        <p:spPr>
          <a:xfrm>
            <a:off x="9912096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93" name="Text 85"/>
          <p:cNvSpPr/>
          <p:nvPr/>
        </p:nvSpPr>
        <p:spPr>
          <a:xfrm>
            <a:off x="9619488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94" name="Shape 86"/>
          <p:cNvSpPr/>
          <p:nvPr/>
        </p:nvSpPr>
        <p:spPr>
          <a:xfrm>
            <a:off x="9619488" y="1536192"/>
            <a:ext cx="2066544" cy="107899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5" name="Text 87"/>
          <p:cNvSpPr/>
          <p:nvPr/>
        </p:nvSpPr>
        <p:spPr>
          <a:xfrm>
            <a:off x="9674352" y="158191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00" dirty="0"/>
          </a:p>
        </p:txBody>
      </p:sp>
      <p:sp>
        <p:nvSpPr>
          <p:cNvPr id="96" name="Text 88"/>
          <p:cNvSpPr/>
          <p:nvPr/>
        </p:nvSpPr>
        <p:spPr>
          <a:xfrm>
            <a:off x="9674352" y="1755648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downside</a:t>
            </a:r>
            <a:endParaRPr lang="en-US" sz="700" dirty="0"/>
          </a:p>
        </p:txBody>
      </p:sp>
      <p:sp>
        <p:nvSpPr>
          <p:cNvPr id="97" name="Text 89"/>
          <p:cNvSpPr/>
          <p:nvPr/>
        </p:nvSpPr>
        <p:spPr>
          <a:xfrm>
            <a:off x="9674352" y="1956816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— no follow-up bear bar after Bar 52</a:t>
            </a:r>
            <a:endParaRPr lang="en-US" sz="700" dirty="0"/>
          </a:p>
        </p:txBody>
      </p:sp>
      <p:sp>
        <p:nvSpPr>
          <p:cNvPr id="98" name="Text 90"/>
          <p:cNvSpPr/>
          <p:nvPr/>
        </p:nvSpPr>
        <p:spPr>
          <a:xfrm>
            <a:off x="9674352" y="2157984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42 pattern: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earlier in session had no follow-through — same setup repeating</a:t>
            </a:r>
            <a:endParaRPr lang="en-US" sz="700" dirty="0"/>
          </a:p>
        </p:txBody>
      </p:sp>
      <p:sp>
        <p:nvSpPr>
          <p:cNvPr id="99" name="Text 91"/>
          <p:cNvSpPr/>
          <p:nvPr/>
        </p:nvSpPr>
        <p:spPr>
          <a:xfrm>
            <a:off x="9674352" y="2359152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~30 ticks — very small if trade failed</a:t>
            </a:r>
            <a:endParaRPr lang="en-US" sz="700" dirty="0"/>
          </a:p>
        </p:txBody>
      </p:sp>
      <p:sp>
        <p:nvSpPr>
          <p:cNvPr id="100" name="Text 92"/>
          <p:cNvSpPr/>
          <p:nvPr/>
        </p:nvSpPr>
        <p:spPr>
          <a:xfrm>
            <a:off x="9637776" y="270662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101" name="Text 93"/>
          <p:cNvSpPr/>
          <p:nvPr/>
        </p:nvSpPr>
        <p:spPr>
          <a:xfrm>
            <a:off x="9637776" y="28620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750" dirty="0"/>
          </a:p>
        </p:txBody>
      </p:sp>
      <p:sp>
        <p:nvSpPr>
          <p:cNvPr id="102" name="Text 94"/>
          <p:cNvSpPr/>
          <p:nvPr/>
        </p:nvSpPr>
        <p:spPr>
          <a:xfrm>
            <a:off x="9637776" y="3200400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103" name="Text 95"/>
          <p:cNvSpPr/>
          <p:nvPr/>
        </p:nvSpPr>
        <p:spPr>
          <a:xfrm>
            <a:off x="9637776" y="335584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750" dirty="0"/>
          </a:p>
        </p:txBody>
      </p:sp>
      <p:sp>
        <p:nvSpPr>
          <p:cNvPr id="104" name="Text 96"/>
          <p:cNvSpPr/>
          <p:nvPr/>
        </p:nvSpPr>
        <p:spPr>
          <a:xfrm>
            <a:off x="9637776" y="3694176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105" name="Text 97"/>
          <p:cNvSpPr/>
          <p:nvPr/>
        </p:nvSpPr>
        <p:spPr>
          <a:xfrm>
            <a:off x="9637776" y="384962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strong BO bar with no follow-through · PA repeating Bar 42 pattern</a:t>
            </a:r>
            <a:endParaRPr lang="en-US" sz="750" dirty="0"/>
          </a:p>
        </p:txBody>
      </p:sp>
      <p:sp>
        <p:nvSpPr>
          <p:cNvPr id="106" name="Shape 98"/>
          <p:cNvSpPr/>
          <p:nvPr/>
        </p:nvSpPr>
        <p:spPr>
          <a:xfrm>
            <a:off x="10908792" y="4233672"/>
            <a:ext cx="749808" cy="237744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7" name="Text 99"/>
          <p:cNvSpPr/>
          <p:nvPr/>
        </p:nvSpPr>
        <p:spPr>
          <a:xfrm>
            <a:off x="10908792" y="4251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950" dirty="0"/>
          </a:p>
        </p:txBody>
      </p:sp>
      <p:sp>
        <p:nvSpPr>
          <p:cNvPr id="108" name="Shape 100"/>
          <p:cNvSpPr/>
          <p:nvPr/>
        </p:nvSpPr>
        <p:spPr>
          <a:xfrm>
            <a:off x="9619488" y="4572000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9" name="Text 101"/>
          <p:cNvSpPr/>
          <p:nvPr/>
        </p:nvSpPr>
        <p:spPr>
          <a:xfrm>
            <a:off x="9637776" y="46634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110" name="Text 102"/>
          <p:cNvSpPr/>
          <p:nvPr/>
        </p:nvSpPr>
        <p:spPr>
          <a:xfrm>
            <a:off x="9637776" y="4864608"/>
            <a:ext cx="20482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strong BO bar has no follow-through, the move may be exhausted. Pattern recognition within the same session is a valid edge — if Bar 42 showed the same setup and worked, Bar 53 deserves the trade at minimal risk.</a:t>
            </a:r>
            <a:endParaRPr lang="en-US" sz="750" dirty="0"/>
          </a:p>
        </p:txBody>
      </p:sp>
      <p:sp>
        <p:nvSpPr>
          <p:cNvPr id="111" name="Shape 103"/>
          <p:cNvSpPr/>
          <p:nvPr/>
        </p:nvSpPr>
        <p:spPr>
          <a:xfrm>
            <a:off x="164592" y="6583680"/>
            <a:ext cx="11832336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2" name="Text 104"/>
          <p:cNvSpPr/>
          <p:nvPr/>
        </p:nvSpPr>
        <p:spPr>
          <a:xfrm>
            <a:off x="164592" y="6601968"/>
            <a:ext cx="1183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TOTAL  ·  T01 +39  ·  T02 +39  ·  T03 +80  ·  T04 +49  ·  T05 +30  ·  +237 TICKS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AD2B38-C581-D7EB-B647-9AB1CFBFC3D5}"/>
              </a:ext>
            </a:extLst>
          </p:cNvPr>
          <p:cNvGrpSpPr/>
          <p:nvPr/>
        </p:nvGrpSpPr>
        <p:grpSpPr>
          <a:xfrm>
            <a:off x="164592" y="1051560"/>
            <a:ext cx="2249424" cy="5805763"/>
            <a:chOff x="164592" y="1051560"/>
            <a:chExt cx="2249424" cy="5805763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57A06B79-7C3F-6559-8827-40F6DDF9794D}"/>
                </a:ext>
              </a:extLst>
            </p:cNvPr>
            <p:cNvSpPr/>
            <p:nvPr/>
          </p:nvSpPr>
          <p:spPr>
            <a:xfrm>
              <a:off x="164592" y="1096603"/>
              <a:ext cx="2249424" cy="5760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BF7D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5031BD2A-653B-FF19-D8F3-D2F9EC26D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032" y="1051560"/>
              <a:ext cx="237744" cy="237744"/>
            </a:xfrm>
            <a:prstGeom prst="rect">
              <a:avLst/>
            </a:prstGeom>
          </p:spPr>
        </p:pic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610A955A-42AD-81EA-1AAD-B3152CCA3DA9}"/>
                </a:ext>
              </a:extLst>
            </p:cNvPr>
            <p:cNvSpPr/>
            <p:nvPr/>
          </p:nvSpPr>
          <p:spPr>
            <a:xfrm>
              <a:off x="548640" y="1051560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1300" dirty="0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D10CC1C0-1C64-6788-9AB2-7505248540AC}"/>
                </a:ext>
              </a:extLst>
            </p:cNvPr>
            <p:cNvSpPr/>
            <p:nvPr/>
          </p:nvSpPr>
          <p:spPr>
            <a:xfrm>
              <a:off x="548640" y="1051560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</a:t>
              </a:r>
              <a:endParaRPr lang="en-US" sz="1000" dirty="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9D6A00CD-FB38-AB40-7E68-D17793DA754B}"/>
                </a:ext>
              </a:extLst>
            </p:cNvPr>
            <p:cNvSpPr/>
            <p:nvPr/>
          </p:nvSpPr>
          <p:spPr>
            <a:xfrm>
              <a:off x="256032" y="1335024"/>
              <a:ext cx="208483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Bars</a:t>
              </a:r>
              <a:endParaRPr lang="en-US" sz="750" dirty="0"/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81E96167-2F4D-FFD7-8202-8BC5BAD4003A}"/>
                </a:ext>
              </a:extLst>
            </p:cNvPr>
            <p:cNvSpPr/>
            <p:nvPr/>
          </p:nvSpPr>
          <p:spPr>
            <a:xfrm>
              <a:off x="256032" y="1536192"/>
              <a:ext cx="2066544" cy="1078992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BFDBFE"/>
              </a:solidFill>
              <a:prstDash val="solid"/>
            </a:ln>
          </p:spPr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F529FA03-743C-95A9-6368-482F20E94C4C}"/>
                </a:ext>
              </a:extLst>
            </p:cNvPr>
            <p:cNvSpPr/>
            <p:nvPr/>
          </p:nvSpPr>
          <p:spPr>
            <a:xfrm>
              <a:off x="274320" y="2706624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ENTRY</a:t>
              </a:r>
              <a:endParaRPr lang="en-US" sz="700" dirty="0"/>
            </a:p>
          </p:txBody>
        </p:sp>
        <p:sp>
          <p:nvSpPr>
            <p:cNvPr id="10" name="Text 17">
              <a:extLst>
                <a:ext uri="{FF2B5EF4-FFF2-40B4-BE49-F238E27FC236}">
                  <a16:creationId xmlns:a16="http://schemas.microsoft.com/office/drawing/2014/main" id="{0AA87DAA-FE60-EF59-3EF0-340AC70DAB85}"/>
                </a:ext>
              </a:extLst>
            </p:cNvPr>
            <p:cNvSpPr/>
            <p:nvPr/>
          </p:nvSpPr>
          <p:spPr>
            <a:xfrm>
              <a:off x="274320" y="3200400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EXIT</a:t>
              </a:r>
              <a:endParaRPr lang="en-US" sz="700" dirty="0"/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63424A7C-08FE-958A-A6C5-966F8C292468}"/>
                </a:ext>
              </a:extLst>
            </p:cNvPr>
            <p:cNvSpPr/>
            <p:nvPr/>
          </p:nvSpPr>
          <p:spPr>
            <a:xfrm>
              <a:off x="274320" y="3694176"/>
              <a:ext cx="2048256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REASON</a:t>
              </a:r>
              <a:endParaRPr lang="en-US" sz="700" dirty="0"/>
            </a:p>
          </p:txBody>
        </p:sp>
        <p:sp>
          <p:nvSpPr>
            <p:cNvPr id="12" name="Shape 21">
              <a:extLst>
                <a:ext uri="{FF2B5EF4-FFF2-40B4-BE49-F238E27FC236}">
                  <a16:creationId xmlns:a16="http://schemas.microsoft.com/office/drawing/2014/main" id="{5D8D9D2C-EF7E-C4D7-5D83-8D0E6281DD0D}"/>
                </a:ext>
              </a:extLst>
            </p:cNvPr>
            <p:cNvSpPr/>
            <p:nvPr/>
          </p:nvSpPr>
          <p:spPr>
            <a:xfrm>
              <a:off x="1545336" y="4342723"/>
              <a:ext cx="749808" cy="237744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BBF7D0"/>
              </a:solidFill>
              <a:prstDash val="solid"/>
            </a:ln>
          </p:spPr>
        </p:sp>
        <p:sp>
          <p:nvSpPr>
            <p:cNvPr id="13" name="Shape 23">
              <a:extLst>
                <a:ext uri="{FF2B5EF4-FFF2-40B4-BE49-F238E27FC236}">
                  <a16:creationId xmlns:a16="http://schemas.microsoft.com/office/drawing/2014/main" id="{76DFCB80-28FE-FA85-1821-C5589DB876D3}"/>
                </a:ext>
              </a:extLst>
            </p:cNvPr>
            <p:cNvSpPr/>
            <p:nvPr/>
          </p:nvSpPr>
          <p:spPr>
            <a:xfrm>
              <a:off x="256032" y="4681051"/>
              <a:ext cx="2066544" cy="18288"/>
            </a:xfrm>
            <a:prstGeom prst="rect">
              <a:avLst/>
            </a:prstGeom>
            <a:solidFill>
              <a:srgbClr val="FDE047"/>
            </a:solidFill>
            <a:ln w="12700">
              <a:solidFill>
                <a:srgbClr val="FDE047"/>
              </a:solidFill>
              <a:prstDash val="solid"/>
            </a:ln>
          </p:spPr>
        </p:sp>
        <p:sp>
          <p:nvSpPr>
            <p:cNvPr id="14" name="Text 24">
              <a:extLst>
                <a:ext uri="{FF2B5EF4-FFF2-40B4-BE49-F238E27FC236}">
                  <a16:creationId xmlns:a16="http://schemas.microsoft.com/office/drawing/2014/main" id="{7E29BA0D-9F56-CF92-D859-DE780A29CC86}"/>
                </a:ext>
              </a:extLst>
            </p:cNvPr>
            <p:cNvSpPr/>
            <p:nvPr/>
          </p:nvSpPr>
          <p:spPr>
            <a:xfrm>
              <a:off x="274320" y="4772491"/>
              <a:ext cx="20482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Lesson Learnt</a:t>
              </a:r>
              <a:endParaRPr lang="en-US" sz="8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B15F78-E51E-C078-83B3-54C0A4C6C3A3}"/>
              </a:ext>
            </a:extLst>
          </p:cNvPr>
          <p:cNvGrpSpPr/>
          <p:nvPr/>
        </p:nvGrpSpPr>
        <p:grpSpPr>
          <a:xfrm>
            <a:off x="0" y="0"/>
            <a:ext cx="12161520" cy="475488"/>
            <a:chOff x="0" y="0"/>
            <a:chExt cx="12161520" cy="475488"/>
          </a:xfrm>
        </p:grpSpPr>
        <p:sp>
          <p:nvSpPr>
            <p:cNvPr id="16" name="Shape 0">
              <a:extLst>
                <a:ext uri="{FF2B5EF4-FFF2-40B4-BE49-F238E27FC236}">
                  <a16:creationId xmlns:a16="http://schemas.microsoft.com/office/drawing/2014/main" id="{63C0BF62-B786-5BC0-9827-D1CA8D8A86AA}"/>
                </a:ext>
              </a:extLst>
            </p:cNvPr>
            <p:cNvSpPr/>
            <p:nvPr/>
          </p:nvSpPr>
          <p:spPr>
            <a:xfrm>
              <a:off x="0" y="0"/>
              <a:ext cx="12161520" cy="475488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</p:sp>
        <p:sp>
          <p:nvSpPr>
            <p:cNvPr id="17" name="Text 1">
              <a:extLst>
                <a:ext uri="{FF2B5EF4-FFF2-40B4-BE49-F238E27FC236}">
                  <a16:creationId xmlns:a16="http://schemas.microsoft.com/office/drawing/2014/main" id="{FF0AEA42-AD4E-8C1E-26D9-01525CEB0445}"/>
                </a:ext>
              </a:extLst>
            </p:cNvPr>
            <p:cNvSpPr/>
            <p:nvPr/>
          </p:nvSpPr>
          <p:spPr>
            <a:xfrm>
              <a:off x="0" y="73152"/>
              <a:ext cx="121615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TRADE EXPLANATION						DATE</a:t>
              </a:r>
              <a:endParaRPr lang="en-US" sz="13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6424F6-2713-0321-66E8-2CC2184813FD}"/>
              </a:ext>
            </a:extLst>
          </p:cNvPr>
          <p:cNvGrpSpPr/>
          <p:nvPr/>
        </p:nvGrpSpPr>
        <p:grpSpPr>
          <a:xfrm>
            <a:off x="164592" y="566928"/>
            <a:ext cx="11832336" cy="329184"/>
            <a:chOff x="164592" y="566928"/>
            <a:chExt cx="11832336" cy="329184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19D66176-8A70-A811-619C-5D6A6ED8199A}"/>
                </a:ext>
              </a:extLst>
            </p:cNvPr>
            <p:cNvSpPr/>
            <p:nvPr/>
          </p:nvSpPr>
          <p:spPr>
            <a:xfrm>
              <a:off x="164592" y="566928"/>
              <a:ext cx="11832336" cy="329184"/>
            </a:xfrm>
            <a:prstGeom prst="rect">
              <a:avLst/>
            </a:prstGeom>
            <a:solidFill>
              <a:srgbClr val="DBEAFE"/>
            </a:solidFill>
            <a:ln w="6350">
              <a:solidFill>
                <a:srgbClr val="BFDBFE"/>
              </a:solidFill>
              <a:prstDash val="solid"/>
            </a:ln>
          </p:spPr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7D1BA260-3B69-B1E5-9877-E01986E0F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456" y="612648"/>
              <a:ext cx="219456" cy="219456"/>
            </a:xfrm>
            <a:prstGeom prst="rect">
              <a:avLst/>
            </a:prstGeom>
          </p:spPr>
        </p:pic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1F2AC2B7-3DC7-9EBD-9015-FDA2F203B81F}"/>
                </a:ext>
              </a:extLst>
            </p:cNvPr>
            <p:cNvSpPr/>
            <p:nvPr/>
          </p:nvSpPr>
          <p:spPr>
            <a:xfrm>
              <a:off x="512064" y="621792"/>
              <a:ext cx="11430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Overall Context</a:t>
              </a:r>
              <a:endParaRPr lang="en-US" sz="800" dirty="0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4DE354-34F7-CAA2-C1BC-B827F3996110}"/>
              </a:ext>
            </a:extLst>
          </p:cNvPr>
          <p:cNvCxnSpPr/>
          <p:nvPr/>
        </p:nvCxnSpPr>
        <p:spPr>
          <a:xfrm flipH="1" flipV="1">
            <a:off x="2480733" y="1219200"/>
            <a:ext cx="3141134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FF8999-A06D-006E-FB1B-CC5E3A323AEA}"/>
              </a:ext>
            </a:extLst>
          </p:cNvPr>
          <p:cNvSpPr txBox="1"/>
          <p:nvPr/>
        </p:nvSpPr>
        <p:spPr>
          <a:xfrm>
            <a:off x="5833533" y="1752600"/>
            <a:ext cx="4250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my inputs</a:t>
            </a:r>
          </a:p>
          <a:p>
            <a:r>
              <a:rPr lang="en-US" dirty="0"/>
              <a:t>So if I enter Long this will be long vice versa</a:t>
            </a:r>
          </a:p>
        </p:txBody>
      </p:sp>
    </p:spTree>
    <p:extLst>
      <p:ext uri="{BB962C8B-B14F-4D97-AF65-F5344CB8AC3E}">
        <p14:creationId xmlns:p14="http://schemas.microsoft.com/office/powerpoint/2010/main" val="66138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A8827-4C02-8082-9CEF-5CDCE377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080080-2FC6-B822-669C-D589F6A33BE2}"/>
              </a:ext>
            </a:extLst>
          </p:cNvPr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42EF68-BB67-F814-5C69-76A75BB32E6A}"/>
              </a:ext>
            </a:extLst>
          </p:cNvPr>
          <p:cNvSpPr/>
          <p:nvPr/>
        </p:nvSpPr>
        <p:spPr>
          <a:xfrm>
            <a:off x="0" y="73152"/>
            <a:ext cx="1216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All 5 Trades  ·  MES 5m  ·  Mar 13, 2026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BE7D30-4C6E-30AB-B562-D2B0B764A9CE}"/>
              </a:ext>
            </a:extLst>
          </p:cNvPr>
          <p:cNvSpPr/>
          <p:nvPr/>
        </p:nvSpPr>
        <p:spPr>
          <a:xfrm>
            <a:off x="164592" y="566928"/>
            <a:ext cx="11832336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CCE5CDC-271B-433F-8222-36F51683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612648"/>
            <a:ext cx="219456" cy="2194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D09187A-C3CD-0EDD-87C2-1CFAD425627A}"/>
              </a:ext>
            </a:extLst>
          </p:cNvPr>
          <p:cNvSpPr/>
          <p:nvPr/>
        </p:nvSpPr>
        <p:spPr>
          <a:xfrm>
            <a:off x="512064" y="6217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IOI pre-market compression · Bar 2 OOO breakout · High 2 structure · VWAP above = bullish bias · Bear Flag Bars 10–14 · Low 1 Bar 12/13 · Bars 23+ overlap = Trading Range</a:t>
            </a:r>
            <a:endParaRPr lang="en-US" sz="8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7FA17A9-CF27-B88F-168F-DBAD4D20D1A8}"/>
              </a:ext>
            </a:extLst>
          </p:cNvPr>
          <p:cNvSpPr/>
          <p:nvPr/>
        </p:nvSpPr>
        <p:spPr>
          <a:xfrm>
            <a:off x="164593" y="987552"/>
            <a:ext cx="161340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BA86BED-B72F-AB58-C3BF-E2AA759F0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051560"/>
            <a:ext cx="237744" cy="237744"/>
          </a:xfrm>
          <a:prstGeom prst="rect">
            <a:avLst/>
          </a:prstGeom>
        </p:spPr>
      </p:pic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F35E296-A207-B49A-1E22-47DF8309CA3D}"/>
              </a:ext>
            </a:extLst>
          </p:cNvPr>
          <p:cNvGrpSpPr/>
          <p:nvPr/>
        </p:nvGrpSpPr>
        <p:grpSpPr>
          <a:xfrm>
            <a:off x="548640" y="1051560"/>
            <a:ext cx="1165860" cy="256032"/>
            <a:chOff x="548640" y="1051560"/>
            <a:chExt cx="1165860" cy="256032"/>
          </a:xfrm>
        </p:grpSpPr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F46D97D3-0451-9342-4CF3-1ECAFE02AA3F}"/>
                </a:ext>
              </a:extLst>
            </p:cNvPr>
            <p:cNvSpPr/>
            <p:nvPr/>
          </p:nvSpPr>
          <p:spPr>
            <a:xfrm>
              <a:off x="548640" y="1051560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13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2BE9868E-2EF2-90F9-1AE8-79942B75484D}"/>
                </a:ext>
              </a:extLst>
            </p:cNvPr>
            <p:cNvSpPr/>
            <p:nvPr/>
          </p:nvSpPr>
          <p:spPr>
            <a:xfrm>
              <a:off x="548640" y="1051560"/>
              <a:ext cx="11658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</a:t>
              </a:r>
              <a:endParaRPr lang="en-US" sz="1000" dirty="0"/>
            </a:p>
          </p:txBody>
        </p:sp>
      </p:grpSp>
      <p:sp>
        <p:nvSpPr>
          <p:cNvPr id="12" name="Text 8">
            <a:extLst>
              <a:ext uri="{FF2B5EF4-FFF2-40B4-BE49-F238E27FC236}">
                <a16:creationId xmlns:a16="http://schemas.microsoft.com/office/drawing/2014/main" id="{4D886CB3-68F1-673A-3AD6-793FC53B268A}"/>
              </a:ext>
            </a:extLst>
          </p:cNvPr>
          <p:cNvSpPr/>
          <p:nvPr/>
        </p:nvSpPr>
        <p:spPr>
          <a:xfrm>
            <a:off x="173736" y="141732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1–3</a:t>
            </a:r>
            <a:endParaRPr lang="en-US" sz="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564AE42-3695-E9C8-78AD-C24EC2B05C5D}"/>
              </a:ext>
            </a:extLst>
          </p:cNvPr>
          <p:cNvSpPr/>
          <p:nvPr/>
        </p:nvSpPr>
        <p:spPr>
          <a:xfrm>
            <a:off x="182881" y="1636776"/>
            <a:ext cx="1645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b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52→1: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bars overlapping (IOI) — high probability reversal zone</a:t>
            </a:r>
          </a:p>
          <a:p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Bar (breakout bar) with long lower wick — buyers in control</a:t>
            </a:r>
          </a:p>
          <a:p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 &amp; 2: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 structure — buying 1 tick above Bar 1 makes sense </a:t>
            </a:r>
            <a:endParaRPr lang="en-US" sz="700" dirty="0"/>
          </a:p>
          <a:p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60/61/62: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pattern — Inside Outside Inside Bars confirming reversal</a:t>
            </a:r>
            <a:endParaRPr lang="en-US" sz="7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6443CF7-B406-42E3-A194-EE93357B2B33}"/>
              </a:ext>
            </a:extLst>
          </p:cNvPr>
          <p:cNvSpPr/>
          <p:nvPr/>
        </p:nvSpPr>
        <p:spPr>
          <a:xfrm>
            <a:off x="219456" y="2047780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2193F44-6D0A-9A0B-217C-0EBE86FBFD09}"/>
              </a:ext>
            </a:extLst>
          </p:cNvPr>
          <p:cNvSpPr/>
          <p:nvPr/>
        </p:nvSpPr>
        <p:spPr>
          <a:xfrm>
            <a:off x="149352" y="2807208"/>
            <a:ext cx="1613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 : </a:t>
            </a:r>
          </a:p>
          <a:p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 · STOP 1 tick below Bar 2</a:t>
            </a:r>
            <a:endParaRPr lang="en-US" sz="7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BEC6FAB-B13C-1048-9EEE-4CF69039C6F6}"/>
              </a:ext>
            </a:extLst>
          </p:cNvPr>
          <p:cNvSpPr/>
          <p:nvPr/>
        </p:nvSpPr>
        <p:spPr>
          <a:xfrm>
            <a:off x="274320" y="308152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A517DE6-29F6-48BE-C15C-049C5D6BC0CB}"/>
              </a:ext>
            </a:extLst>
          </p:cNvPr>
          <p:cNvSpPr/>
          <p:nvPr/>
        </p:nvSpPr>
        <p:spPr>
          <a:xfrm>
            <a:off x="136525" y="3289856"/>
            <a:ext cx="1626235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Bar 3 using Bar 1 as Outside Bar to measure move up</a:t>
            </a:r>
            <a:endParaRPr lang="en-US" sz="7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188B91D-D6BB-05EB-FEC3-61BA9A9CFD85}"/>
              </a:ext>
            </a:extLst>
          </p:cNvPr>
          <p:cNvSpPr/>
          <p:nvPr/>
        </p:nvSpPr>
        <p:spPr>
          <a:xfrm>
            <a:off x="274320" y="335584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3B57381E-73D8-F205-F761-831CEA3ECD42}"/>
              </a:ext>
            </a:extLst>
          </p:cNvPr>
          <p:cNvSpPr/>
          <p:nvPr/>
        </p:nvSpPr>
        <p:spPr>
          <a:xfrm>
            <a:off x="164592" y="3580106"/>
            <a:ext cx="1664209" cy="45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: </a:t>
            </a:r>
            <a:b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from pre-market trading range · Bar 2 = OO expecting 1:1R minimum</a:t>
            </a:r>
            <a:endParaRPr lang="en-US" sz="7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5EA8C6-54E5-625E-B19B-71E2CB0DFC73}"/>
              </a:ext>
            </a:extLst>
          </p:cNvPr>
          <p:cNvGrpSpPr/>
          <p:nvPr/>
        </p:nvGrpSpPr>
        <p:grpSpPr>
          <a:xfrm>
            <a:off x="154686" y="4077716"/>
            <a:ext cx="749808" cy="237744"/>
            <a:chOff x="1545336" y="4233672"/>
            <a:chExt cx="749808" cy="237744"/>
          </a:xfrm>
        </p:grpSpPr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D415F81B-19EE-32E9-C724-9D4E4D406ABB}"/>
                </a:ext>
              </a:extLst>
            </p:cNvPr>
            <p:cNvSpPr/>
            <p:nvPr/>
          </p:nvSpPr>
          <p:spPr>
            <a:xfrm>
              <a:off x="1545336" y="4233672"/>
              <a:ext cx="749808" cy="237744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BBF7D0"/>
              </a:solidFill>
              <a:prstDash val="solid"/>
            </a:ln>
          </p:spPr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B8476400-6975-0CCD-FF5E-31682C21A426}"/>
                </a:ext>
              </a:extLst>
            </p:cNvPr>
            <p:cNvSpPr/>
            <p:nvPr/>
          </p:nvSpPr>
          <p:spPr>
            <a:xfrm>
              <a:off x="1545336" y="4251960"/>
              <a:ext cx="7498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+39 ticks</a:t>
              </a:r>
              <a:endParaRPr lang="en-US" sz="950" dirty="0"/>
            </a:p>
          </p:txBody>
        </p:sp>
      </p:grpSp>
      <p:sp>
        <p:nvSpPr>
          <p:cNvPr id="27" name="Shape 23">
            <a:extLst>
              <a:ext uri="{FF2B5EF4-FFF2-40B4-BE49-F238E27FC236}">
                <a16:creationId xmlns:a16="http://schemas.microsoft.com/office/drawing/2014/main" id="{99E4A69A-CD49-D695-39F8-B93DE0BA54EC}"/>
              </a:ext>
            </a:extLst>
          </p:cNvPr>
          <p:cNvSpPr/>
          <p:nvPr/>
        </p:nvSpPr>
        <p:spPr>
          <a:xfrm>
            <a:off x="151765" y="4396216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F96E853-DE12-82AA-22EA-7397600D5F95}"/>
              </a:ext>
            </a:extLst>
          </p:cNvPr>
          <p:cNvSpPr/>
          <p:nvPr/>
        </p:nvSpPr>
        <p:spPr>
          <a:xfrm>
            <a:off x="182881" y="4521089"/>
            <a:ext cx="1709928" cy="90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Learnt:</a:t>
            </a:r>
            <a:b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pre-market compression followed by a strong Outside Bar breakout is a high-probability setup. The long lower wick on Bar 2 was the key confirmation — buyers were aggressively defending. Wait for Bar 2 close confirmation before entering.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0018F38-A0C1-E06C-CC8E-FC6548AF4EEE}"/>
              </a:ext>
            </a:extLst>
          </p:cNvPr>
          <p:cNvSpPr/>
          <p:nvPr/>
        </p:nvSpPr>
        <p:spPr>
          <a:xfrm>
            <a:off x="310896" y="4664329"/>
            <a:ext cx="20482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CD171D47-1342-A1AB-DA04-A6E0035DCC96}"/>
              </a:ext>
            </a:extLst>
          </p:cNvPr>
          <p:cNvSpPr/>
          <p:nvPr/>
        </p:nvSpPr>
        <p:spPr>
          <a:xfrm>
            <a:off x="2505456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2FE3DCAF-2C0F-06AE-8EE7-6A91151AAED4}"/>
              </a:ext>
            </a:extLst>
          </p:cNvPr>
          <p:cNvSpPr/>
          <p:nvPr/>
        </p:nvSpPr>
        <p:spPr>
          <a:xfrm>
            <a:off x="2505456" y="987552"/>
            <a:ext cx="2249424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E5D23373-91B3-6AAF-3016-E9377810B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051560"/>
            <a:ext cx="237744" cy="237744"/>
          </a:xfrm>
          <a:prstGeom prst="rect">
            <a:avLst/>
          </a:prstGeom>
        </p:spPr>
      </p:pic>
      <p:sp>
        <p:nvSpPr>
          <p:cNvPr id="33" name="Text 28">
            <a:extLst>
              <a:ext uri="{FF2B5EF4-FFF2-40B4-BE49-F238E27FC236}">
                <a16:creationId xmlns:a16="http://schemas.microsoft.com/office/drawing/2014/main" id="{556CA555-5CB2-AF12-B4DC-2449D6BE6CD7}"/>
              </a:ext>
            </a:extLst>
          </p:cNvPr>
          <p:cNvSpPr/>
          <p:nvPr/>
        </p:nvSpPr>
        <p:spPr>
          <a:xfrm>
            <a:off x="2889504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3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C25B92B-9878-D9F5-84A1-F5000C522C14}"/>
              </a:ext>
            </a:extLst>
          </p:cNvPr>
          <p:cNvSpPr/>
          <p:nvPr/>
        </p:nvSpPr>
        <p:spPr>
          <a:xfrm>
            <a:off x="2889504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897B424A-80A7-86F2-E9A1-F4A026F11270}"/>
              </a:ext>
            </a:extLst>
          </p:cNvPr>
          <p:cNvSpPr/>
          <p:nvPr/>
        </p:nvSpPr>
        <p:spPr>
          <a:xfrm>
            <a:off x="2596896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68501277-EEFC-DE91-F1E2-D1B941A7C226}"/>
              </a:ext>
            </a:extLst>
          </p:cNvPr>
          <p:cNvSpPr/>
          <p:nvPr/>
        </p:nvSpPr>
        <p:spPr>
          <a:xfrm>
            <a:off x="2615184" y="15361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EDB99B71-3478-A0B8-7041-99D3A4B9A1C6}"/>
              </a:ext>
            </a:extLst>
          </p:cNvPr>
          <p:cNvSpPr/>
          <p:nvPr/>
        </p:nvSpPr>
        <p:spPr>
          <a:xfrm>
            <a:off x="2615184" y="16916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750" dirty="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6D954C0-0DD6-EBA5-6E87-2B5FA16FB96D}"/>
              </a:ext>
            </a:extLst>
          </p:cNvPr>
          <p:cNvSpPr/>
          <p:nvPr/>
        </p:nvSpPr>
        <p:spPr>
          <a:xfrm>
            <a:off x="2615184" y="20299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E54CCE3F-1D93-8575-4294-7FA16E806836}"/>
              </a:ext>
            </a:extLst>
          </p:cNvPr>
          <p:cNvSpPr/>
          <p:nvPr/>
        </p:nvSpPr>
        <p:spPr>
          <a:xfrm>
            <a:off x="2615184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75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1AF71A58-2A5C-D4E9-3312-170AB49A3EE8}"/>
              </a:ext>
            </a:extLst>
          </p:cNvPr>
          <p:cNvSpPr/>
          <p:nvPr/>
        </p:nvSpPr>
        <p:spPr>
          <a:xfrm>
            <a:off x="2615184" y="25237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A34DFE7D-2790-8649-B6F9-251D7AC783B4}"/>
              </a:ext>
            </a:extLst>
          </p:cNvPr>
          <p:cNvSpPr/>
          <p:nvPr/>
        </p:nvSpPr>
        <p:spPr>
          <a:xfrm>
            <a:off x="2615184" y="26791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75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B52C9F36-5693-026F-4390-7F7295CE1FDC}"/>
              </a:ext>
            </a:extLst>
          </p:cNvPr>
          <p:cNvSpPr/>
          <p:nvPr/>
        </p:nvSpPr>
        <p:spPr>
          <a:xfrm>
            <a:off x="3886200" y="3063240"/>
            <a:ext cx="749808" cy="237744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E4FE0225-CB89-A00D-16BC-A783DB03F382}"/>
              </a:ext>
            </a:extLst>
          </p:cNvPr>
          <p:cNvSpPr/>
          <p:nvPr/>
        </p:nvSpPr>
        <p:spPr>
          <a:xfrm>
            <a:off x="3886200" y="30815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950" dirty="0"/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4DF5031B-7A54-7B10-314D-893EF08B4901}"/>
              </a:ext>
            </a:extLst>
          </p:cNvPr>
          <p:cNvSpPr/>
          <p:nvPr/>
        </p:nvSpPr>
        <p:spPr>
          <a:xfrm>
            <a:off x="2596896" y="34015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922167F9-CF8B-7DCA-88AC-F0B3834A21E3}"/>
              </a:ext>
            </a:extLst>
          </p:cNvPr>
          <p:cNvSpPr/>
          <p:nvPr/>
        </p:nvSpPr>
        <p:spPr>
          <a:xfrm>
            <a:off x="2615184" y="34930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AC13C04-A047-F81E-06B2-90ACE1BFA100}"/>
              </a:ext>
            </a:extLst>
          </p:cNvPr>
          <p:cNvSpPr/>
          <p:nvPr/>
        </p:nvSpPr>
        <p:spPr>
          <a:xfrm>
            <a:off x="2615184" y="3694176"/>
            <a:ext cx="2048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bars at the end of a 2-leg pullback in a trending session are clean scalp entries. Keep risk tight — the inside bar naturally defines the stop.</a:t>
            </a:r>
            <a:endParaRPr lang="en-US" sz="75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46CB84E0-ABF0-3B41-74B8-91C8FB75BC1D}"/>
              </a:ext>
            </a:extLst>
          </p:cNvPr>
          <p:cNvSpPr/>
          <p:nvPr/>
        </p:nvSpPr>
        <p:spPr>
          <a:xfrm>
            <a:off x="4846320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3">
            <a:extLst>
              <a:ext uri="{FF2B5EF4-FFF2-40B4-BE49-F238E27FC236}">
                <a16:creationId xmlns:a16="http://schemas.microsoft.com/office/drawing/2014/main" id="{9DDA9442-9EB7-F6E1-689E-101EA80D68C7}"/>
              </a:ext>
            </a:extLst>
          </p:cNvPr>
          <p:cNvSpPr/>
          <p:nvPr/>
        </p:nvSpPr>
        <p:spPr>
          <a:xfrm>
            <a:off x="4846320" y="987552"/>
            <a:ext cx="2249424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9" name="Image 3" descr="preencoded.png">
            <a:extLst>
              <a:ext uri="{FF2B5EF4-FFF2-40B4-BE49-F238E27FC236}">
                <a16:creationId xmlns:a16="http://schemas.microsoft.com/office/drawing/2014/main" id="{D243890D-B42B-5AC4-2B82-862568042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51560"/>
            <a:ext cx="237744" cy="237744"/>
          </a:xfrm>
          <a:prstGeom prst="rect">
            <a:avLst/>
          </a:prstGeom>
        </p:spPr>
      </p:pic>
      <p:sp>
        <p:nvSpPr>
          <p:cNvPr id="50" name="Text 44">
            <a:extLst>
              <a:ext uri="{FF2B5EF4-FFF2-40B4-BE49-F238E27FC236}">
                <a16:creationId xmlns:a16="http://schemas.microsoft.com/office/drawing/2014/main" id="{1C263471-4C7A-2AF0-5040-212A9E4AC59D}"/>
              </a:ext>
            </a:extLst>
          </p:cNvPr>
          <p:cNvSpPr/>
          <p:nvPr/>
        </p:nvSpPr>
        <p:spPr>
          <a:xfrm>
            <a:off x="5230368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300" dirty="0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EB4545DB-F7F7-03BC-A820-3F557CE62846}"/>
              </a:ext>
            </a:extLst>
          </p:cNvPr>
          <p:cNvSpPr/>
          <p:nvPr/>
        </p:nvSpPr>
        <p:spPr>
          <a:xfrm>
            <a:off x="5230368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DD246D8E-74F1-82AA-1F4B-4B9E93AD0CA1}"/>
              </a:ext>
            </a:extLst>
          </p:cNvPr>
          <p:cNvSpPr/>
          <p:nvPr/>
        </p:nvSpPr>
        <p:spPr>
          <a:xfrm>
            <a:off x="4937760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115A256B-1CA8-1B13-55C1-1CCD8AF663EA}"/>
              </a:ext>
            </a:extLst>
          </p:cNvPr>
          <p:cNvSpPr/>
          <p:nvPr/>
        </p:nvSpPr>
        <p:spPr>
          <a:xfrm>
            <a:off x="4937760" y="1536192"/>
            <a:ext cx="2066544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2CF6BBA9-FB95-D8BE-C46C-6ED03D9C3C5E}"/>
              </a:ext>
            </a:extLst>
          </p:cNvPr>
          <p:cNvSpPr/>
          <p:nvPr/>
        </p:nvSpPr>
        <p:spPr>
          <a:xfrm>
            <a:off x="4992624" y="158191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00" dirty="0"/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0D403BBE-1EA6-C007-0A6E-5D994DC0E716}"/>
              </a:ext>
            </a:extLst>
          </p:cNvPr>
          <p:cNvSpPr/>
          <p:nvPr/>
        </p:nvSpPr>
        <p:spPr>
          <a:xfrm>
            <a:off x="4992624" y="1755648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700" dirty="0"/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367CD53A-AEE4-E643-4F2F-FE434C7F7661}"/>
              </a:ext>
            </a:extLst>
          </p:cNvPr>
          <p:cNvSpPr/>
          <p:nvPr/>
        </p:nvSpPr>
        <p:spPr>
          <a:xfrm>
            <a:off x="4992624" y="1956816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700" dirty="0"/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5EF5BB35-F963-5949-01B8-22D2B61FA8E0}"/>
              </a:ext>
            </a:extLst>
          </p:cNvPr>
          <p:cNvSpPr/>
          <p:nvPr/>
        </p:nvSpPr>
        <p:spPr>
          <a:xfrm>
            <a:off x="4992624" y="2157984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from bulls — momentum was fake</a:t>
            </a:r>
            <a:endParaRPr lang="en-US" sz="7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03F245D8-C6D5-290B-985D-EA2E44F8BB23}"/>
              </a:ext>
            </a:extLst>
          </p:cNvPr>
          <p:cNvSpPr/>
          <p:nvPr/>
        </p:nvSpPr>
        <p:spPr>
          <a:xfrm>
            <a:off x="4992624" y="2359152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rejecting highs — sellers actively in control</a:t>
            </a:r>
            <a:endParaRPr lang="en-US" sz="700" dirty="0"/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70EEC578-760F-B857-8912-A1441C78D4D8}"/>
              </a:ext>
            </a:extLst>
          </p:cNvPr>
          <p:cNvSpPr/>
          <p:nvPr/>
        </p:nvSpPr>
        <p:spPr>
          <a:xfrm>
            <a:off x="4992624" y="2560320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vs EMA: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closes above EMA — essentially a false break</a:t>
            </a:r>
            <a:endParaRPr lang="en-US" sz="700" dirty="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6A1F9308-CF67-F477-3701-1314DBF8F66E}"/>
              </a:ext>
            </a:extLst>
          </p:cNvPr>
          <p:cNvSpPr/>
          <p:nvPr/>
        </p:nvSpPr>
        <p:spPr>
          <a:xfrm>
            <a:off x="4956048" y="29077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D6B43419-BBD3-8742-BB7D-986E516686EF}"/>
              </a:ext>
            </a:extLst>
          </p:cNvPr>
          <p:cNvSpPr/>
          <p:nvPr/>
        </p:nvSpPr>
        <p:spPr>
          <a:xfrm>
            <a:off x="4956048" y="30632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750" dirty="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58E4DA72-984A-5250-F442-1961619ED15F}"/>
              </a:ext>
            </a:extLst>
          </p:cNvPr>
          <p:cNvSpPr/>
          <p:nvPr/>
        </p:nvSpPr>
        <p:spPr>
          <a:xfrm>
            <a:off x="4956048" y="34015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B03E7DC3-73B1-80F5-D1CD-EA5CE0368E94}"/>
              </a:ext>
            </a:extLst>
          </p:cNvPr>
          <p:cNvSpPr/>
          <p:nvPr/>
        </p:nvSpPr>
        <p:spPr>
          <a:xfrm>
            <a:off x="4956048" y="35570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750" dirty="0"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01B714E4-394E-476F-6FE3-70CDF3C6DFEB}"/>
              </a:ext>
            </a:extLst>
          </p:cNvPr>
          <p:cNvSpPr/>
          <p:nvPr/>
        </p:nvSpPr>
        <p:spPr>
          <a:xfrm>
            <a:off x="4956048" y="38953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81E91078-C331-60FC-A97D-3858814AE16F}"/>
              </a:ext>
            </a:extLst>
          </p:cNvPr>
          <p:cNvSpPr/>
          <p:nvPr/>
        </p:nvSpPr>
        <p:spPr>
          <a:xfrm>
            <a:off x="4956048" y="40507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Low 1 confirmation</a:t>
            </a:r>
            <a:endParaRPr lang="en-US" sz="750" dirty="0"/>
          </a:p>
        </p:txBody>
      </p:sp>
      <p:sp>
        <p:nvSpPr>
          <p:cNvPr id="66" name="Shape 60">
            <a:extLst>
              <a:ext uri="{FF2B5EF4-FFF2-40B4-BE49-F238E27FC236}">
                <a16:creationId xmlns:a16="http://schemas.microsoft.com/office/drawing/2014/main" id="{3A4E218D-BC28-A36F-DBB2-DB01AA2E367B}"/>
              </a:ext>
            </a:extLst>
          </p:cNvPr>
          <p:cNvSpPr/>
          <p:nvPr/>
        </p:nvSpPr>
        <p:spPr>
          <a:xfrm>
            <a:off x="6227064" y="4434840"/>
            <a:ext cx="749808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B1BD9A07-14D7-FCFC-3CEE-14B5D8CEC128}"/>
              </a:ext>
            </a:extLst>
          </p:cNvPr>
          <p:cNvSpPr/>
          <p:nvPr/>
        </p:nvSpPr>
        <p:spPr>
          <a:xfrm>
            <a:off x="6227064" y="44531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950" dirty="0"/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EC851978-CC62-DA78-118A-6BFCE0D357D9}"/>
              </a:ext>
            </a:extLst>
          </p:cNvPr>
          <p:cNvSpPr/>
          <p:nvPr/>
        </p:nvSpPr>
        <p:spPr>
          <a:xfrm>
            <a:off x="4937760" y="47731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CD22A986-5567-1E9A-266C-C82667D49C34}"/>
              </a:ext>
            </a:extLst>
          </p:cNvPr>
          <p:cNvSpPr/>
          <p:nvPr/>
        </p:nvSpPr>
        <p:spPr>
          <a:xfrm>
            <a:off x="4956048" y="48646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E5B11E40-E29C-DAE1-FF28-65C2A0CC7AFF}"/>
              </a:ext>
            </a:extLst>
          </p:cNvPr>
          <p:cNvSpPr/>
          <p:nvPr/>
        </p:nvSpPr>
        <p:spPr>
          <a:xfrm>
            <a:off x="4956048" y="5065776"/>
            <a:ext cx="20482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Flags with a Low 1 at the flag top are highest conviction short setups. Fake EMA breakout on Bar 13 with no follow-through was the final signal. When wick rejection and false EMA breakout align — high conviction entry.</a:t>
            </a:r>
            <a:endParaRPr lang="en-US" sz="750" dirty="0"/>
          </a:p>
        </p:txBody>
      </p:sp>
      <p:sp>
        <p:nvSpPr>
          <p:cNvPr id="71" name="Shape 65">
            <a:extLst>
              <a:ext uri="{FF2B5EF4-FFF2-40B4-BE49-F238E27FC236}">
                <a16:creationId xmlns:a16="http://schemas.microsoft.com/office/drawing/2014/main" id="{8A41618E-5CC3-7A42-FAE4-C5450A2973A2}"/>
              </a:ext>
            </a:extLst>
          </p:cNvPr>
          <p:cNvSpPr/>
          <p:nvPr/>
        </p:nvSpPr>
        <p:spPr>
          <a:xfrm>
            <a:off x="7187184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Shape 66">
            <a:extLst>
              <a:ext uri="{FF2B5EF4-FFF2-40B4-BE49-F238E27FC236}">
                <a16:creationId xmlns:a16="http://schemas.microsoft.com/office/drawing/2014/main" id="{3E06530E-0852-978A-9CA9-AF3D8DE44CBD}"/>
              </a:ext>
            </a:extLst>
          </p:cNvPr>
          <p:cNvSpPr/>
          <p:nvPr/>
        </p:nvSpPr>
        <p:spPr>
          <a:xfrm>
            <a:off x="7187184" y="987552"/>
            <a:ext cx="2249424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04E91252-09F1-A4D4-DCE0-48CA69C47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1051560"/>
            <a:ext cx="237744" cy="237744"/>
          </a:xfrm>
          <a:prstGeom prst="rect">
            <a:avLst/>
          </a:prstGeom>
        </p:spPr>
      </p:pic>
      <p:sp>
        <p:nvSpPr>
          <p:cNvPr id="74" name="Text 67">
            <a:extLst>
              <a:ext uri="{FF2B5EF4-FFF2-40B4-BE49-F238E27FC236}">
                <a16:creationId xmlns:a16="http://schemas.microsoft.com/office/drawing/2014/main" id="{AD18FF29-ADA4-DC7E-88A7-09EF3F4048D8}"/>
              </a:ext>
            </a:extLst>
          </p:cNvPr>
          <p:cNvSpPr/>
          <p:nvPr/>
        </p:nvSpPr>
        <p:spPr>
          <a:xfrm>
            <a:off x="7571232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300" dirty="0"/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5FA6811C-DD33-935D-0C6B-7527A2962A67}"/>
              </a:ext>
            </a:extLst>
          </p:cNvPr>
          <p:cNvSpPr/>
          <p:nvPr/>
        </p:nvSpPr>
        <p:spPr>
          <a:xfrm>
            <a:off x="7571232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76" name="Text 69">
            <a:extLst>
              <a:ext uri="{FF2B5EF4-FFF2-40B4-BE49-F238E27FC236}">
                <a16:creationId xmlns:a16="http://schemas.microsoft.com/office/drawing/2014/main" id="{9B788BFC-D7AE-B28B-8FD7-3620CA230917}"/>
              </a:ext>
            </a:extLst>
          </p:cNvPr>
          <p:cNvSpPr/>
          <p:nvPr/>
        </p:nvSpPr>
        <p:spPr>
          <a:xfrm>
            <a:off x="7278624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77" name="Text 70">
            <a:extLst>
              <a:ext uri="{FF2B5EF4-FFF2-40B4-BE49-F238E27FC236}">
                <a16:creationId xmlns:a16="http://schemas.microsoft.com/office/drawing/2014/main" id="{5BF60B58-ABB6-3C6A-B96F-BD68609AF949}"/>
              </a:ext>
            </a:extLst>
          </p:cNvPr>
          <p:cNvSpPr/>
          <p:nvPr/>
        </p:nvSpPr>
        <p:spPr>
          <a:xfrm>
            <a:off x="7296912" y="1536192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8" name="Text 71">
            <a:extLst>
              <a:ext uri="{FF2B5EF4-FFF2-40B4-BE49-F238E27FC236}">
                <a16:creationId xmlns:a16="http://schemas.microsoft.com/office/drawing/2014/main" id="{D976678F-E5B6-CF29-DC4E-952132576959}"/>
              </a:ext>
            </a:extLst>
          </p:cNvPr>
          <p:cNvSpPr/>
          <p:nvPr/>
        </p:nvSpPr>
        <p:spPr>
          <a:xfrm>
            <a:off x="7296912" y="16916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750" dirty="0"/>
          </a:p>
        </p:txBody>
      </p:sp>
      <p:sp>
        <p:nvSpPr>
          <p:cNvPr id="79" name="Text 72">
            <a:extLst>
              <a:ext uri="{FF2B5EF4-FFF2-40B4-BE49-F238E27FC236}">
                <a16:creationId xmlns:a16="http://schemas.microsoft.com/office/drawing/2014/main" id="{2F92B0D8-5487-0131-742F-45FD5E7BB6AA}"/>
              </a:ext>
            </a:extLst>
          </p:cNvPr>
          <p:cNvSpPr/>
          <p:nvPr/>
        </p:nvSpPr>
        <p:spPr>
          <a:xfrm>
            <a:off x="7296912" y="2029968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80" name="Text 73">
            <a:extLst>
              <a:ext uri="{FF2B5EF4-FFF2-40B4-BE49-F238E27FC236}">
                <a16:creationId xmlns:a16="http://schemas.microsoft.com/office/drawing/2014/main" id="{57C8693A-5DA8-BA32-095B-58E40BAE73D0}"/>
              </a:ext>
            </a:extLst>
          </p:cNvPr>
          <p:cNvSpPr/>
          <p:nvPr/>
        </p:nvSpPr>
        <p:spPr>
          <a:xfrm>
            <a:off x="7296912" y="218541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750" dirty="0"/>
          </a:p>
        </p:txBody>
      </p:sp>
      <p:sp>
        <p:nvSpPr>
          <p:cNvPr id="81" name="Text 74">
            <a:extLst>
              <a:ext uri="{FF2B5EF4-FFF2-40B4-BE49-F238E27FC236}">
                <a16:creationId xmlns:a16="http://schemas.microsoft.com/office/drawing/2014/main" id="{3A6EB73C-3EE2-9F50-464C-4E4BE0EA966A}"/>
              </a:ext>
            </a:extLst>
          </p:cNvPr>
          <p:cNvSpPr/>
          <p:nvPr/>
        </p:nvSpPr>
        <p:spPr>
          <a:xfrm>
            <a:off x="7296912" y="252374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3DA6FCB3-821A-724C-D4ED-91393C7AE79A}"/>
              </a:ext>
            </a:extLst>
          </p:cNvPr>
          <p:cNvSpPr/>
          <p:nvPr/>
        </p:nvSpPr>
        <p:spPr>
          <a:xfrm>
            <a:off x="7296912" y="26791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20EMA with gap · Downtrend context</a:t>
            </a:r>
            <a:endParaRPr lang="en-US" sz="750" dirty="0"/>
          </a:p>
        </p:txBody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0B7873F4-EB2A-C34F-60C5-B7D9ADF33B19}"/>
              </a:ext>
            </a:extLst>
          </p:cNvPr>
          <p:cNvSpPr/>
          <p:nvPr/>
        </p:nvSpPr>
        <p:spPr>
          <a:xfrm>
            <a:off x="8567928" y="3063240"/>
            <a:ext cx="749808" cy="237744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6E4563E8-02E2-15DC-71ED-1F78C777D108}"/>
              </a:ext>
            </a:extLst>
          </p:cNvPr>
          <p:cNvSpPr/>
          <p:nvPr/>
        </p:nvSpPr>
        <p:spPr>
          <a:xfrm>
            <a:off x="8567928" y="30815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950" dirty="0"/>
          </a:p>
        </p:txBody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0462BADA-504D-DA72-9387-B85F2BB06D62}"/>
              </a:ext>
            </a:extLst>
          </p:cNvPr>
          <p:cNvSpPr/>
          <p:nvPr/>
        </p:nvSpPr>
        <p:spPr>
          <a:xfrm>
            <a:off x="7278624" y="3401568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86" name="Text 79">
            <a:extLst>
              <a:ext uri="{FF2B5EF4-FFF2-40B4-BE49-F238E27FC236}">
                <a16:creationId xmlns:a16="http://schemas.microsoft.com/office/drawing/2014/main" id="{70F7FF13-88FC-68D5-1499-9AE2AE551F2E}"/>
              </a:ext>
            </a:extLst>
          </p:cNvPr>
          <p:cNvSpPr/>
          <p:nvPr/>
        </p:nvSpPr>
        <p:spPr>
          <a:xfrm>
            <a:off x="7296912" y="34930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87" name="Text 80">
            <a:extLst>
              <a:ext uri="{FF2B5EF4-FFF2-40B4-BE49-F238E27FC236}">
                <a16:creationId xmlns:a16="http://schemas.microsoft.com/office/drawing/2014/main" id="{331F6325-BCCE-6B64-22E3-EA8F72A8E8C7}"/>
              </a:ext>
            </a:extLst>
          </p:cNvPr>
          <p:cNvSpPr/>
          <p:nvPr/>
        </p:nvSpPr>
        <p:spPr>
          <a:xfrm>
            <a:off x="7296912" y="3694176"/>
            <a:ext cx="2048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bars below EMA with a visible gap are textbook downtrend continuation entries. EMA gap = trend momentum. Low 2 adds structural confluence. Core SIMPAN setup.</a:t>
            </a:r>
            <a:endParaRPr lang="en-US" sz="750" dirty="0"/>
          </a:p>
        </p:txBody>
      </p:sp>
      <p:sp>
        <p:nvSpPr>
          <p:cNvPr id="88" name="Shape 81">
            <a:extLst>
              <a:ext uri="{FF2B5EF4-FFF2-40B4-BE49-F238E27FC236}">
                <a16:creationId xmlns:a16="http://schemas.microsoft.com/office/drawing/2014/main" id="{5B3CBBE3-CCB0-6B0A-679C-B88EFA8D204E}"/>
              </a:ext>
            </a:extLst>
          </p:cNvPr>
          <p:cNvSpPr/>
          <p:nvPr/>
        </p:nvSpPr>
        <p:spPr>
          <a:xfrm>
            <a:off x="9528048" y="987552"/>
            <a:ext cx="224942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9" name="Shape 82">
            <a:extLst>
              <a:ext uri="{FF2B5EF4-FFF2-40B4-BE49-F238E27FC236}">
                <a16:creationId xmlns:a16="http://schemas.microsoft.com/office/drawing/2014/main" id="{7A7190E0-AAE5-0E57-4E0A-40166D1E1C2C}"/>
              </a:ext>
            </a:extLst>
          </p:cNvPr>
          <p:cNvSpPr/>
          <p:nvPr/>
        </p:nvSpPr>
        <p:spPr>
          <a:xfrm>
            <a:off x="9528048" y="987552"/>
            <a:ext cx="2249424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90" name="Image 5" descr="preencoded.png">
            <a:extLst>
              <a:ext uri="{FF2B5EF4-FFF2-40B4-BE49-F238E27FC236}">
                <a16:creationId xmlns:a16="http://schemas.microsoft.com/office/drawing/2014/main" id="{04E45BA2-8062-EAB1-9039-6B0DA7F5F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1051560"/>
            <a:ext cx="237744" cy="237744"/>
          </a:xfrm>
          <a:prstGeom prst="rect">
            <a:avLst/>
          </a:prstGeom>
        </p:spPr>
      </p:pic>
      <p:sp>
        <p:nvSpPr>
          <p:cNvPr id="91" name="Text 83">
            <a:extLst>
              <a:ext uri="{FF2B5EF4-FFF2-40B4-BE49-F238E27FC236}">
                <a16:creationId xmlns:a16="http://schemas.microsoft.com/office/drawing/2014/main" id="{67542E64-DA2C-89F8-F1DD-2C649EE3194F}"/>
              </a:ext>
            </a:extLst>
          </p:cNvPr>
          <p:cNvSpPr/>
          <p:nvPr/>
        </p:nvSpPr>
        <p:spPr>
          <a:xfrm>
            <a:off x="9912096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300" dirty="0"/>
          </a:p>
        </p:txBody>
      </p:sp>
      <p:sp>
        <p:nvSpPr>
          <p:cNvPr id="92" name="Text 84">
            <a:extLst>
              <a:ext uri="{FF2B5EF4-FFF2-40B4-BE49-F238E27FC236}">
                <a16:creationId xmlns:a16="http://schemas.microsoft.com/office/drawing/2014/main" id="{3AB48C44-4F75-381C-425A-2633AD1E942E}"/>
              </a:ext>
            </a:extLst>
          </p:cNvPr>
          <p:cNvSpPr/>
          <p:nvPr/>
        </p:nvSpPr>
        <p:spPr>
          <a:xfrm>
            <a:off x="9912096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93" name="Text 85">
            <a:extLst>
              <a:ext uri="{FF2B5EF4-FFF2-40B4-BE49-F238E27FC236}">
                <a16:creationId xmlns:a16="http://schemas.microsoft.com/office/drawing/2014/main" id="{D1E885B6-9F6E-8371-A47B-92520801EC91}"/>
              </a:ext>
            </a:extLst>
          </p:cNvPr>
          <p:cNvSpPr/>
          <p:nvPr/>
        </p:nvSpPr>
        <p:spPr>
          <a:xfrm>
            <a:off x="9619488" y="1335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94" name="Shape 86">
            <a:extLst>
              <a:ext uri="{FF2B5EF4-FFF2-40B4-BE49-F238E27FC236}">
                <a16:creationId xmlns:a16="http://schemas.microsoft.com/office/drawing/2014/main" id="{0E8F9CDB-B01D-CD3E-9353-0F1F7F45899E}"/>
              </a:ext>
            </a:extLst>
          </p:cNvPr>
          <p:cNvSpPr/>
          <p:nvPr/>
        </p:nvSpPr>
        <p:spPr>
          <a:xfrm>
            <a:off x="9619488" y="1536192"/>
            <a:ext cx="2066544" cy="107899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5" name="Text 87">
            <a:extLst>
              <a:ext uri="{FF2B5EF4-FFF2-40B4-BE49-F238E27FC236}">
                <a16:creationId xmlns:a16="http://schemas.microsoft.com/office/drawing/2014/main" id="{4F78ABCA-0F58-189A-0328-B940983C32F5}"/>
              </a:ext>
            </a:extLst>
          </p:cNvPr>
          <p:cNvSpPr/>
          <p:nvPr/>
        </p:nvSpPr>
        <p:spPr>
          <a:xfrm>
            <a:off x="9674352" y="158191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00" dirty="0"/>
          </a:p>
        </p:txBody>
      </p:sp>
      <p:sp>
        <p:nvSpPr>
          <p:cNvPr id="96" name="Text 88">
            <a:extLst>
              <a:ext uri="{FF2B5EF4-FFF2-40B4-BE49-F238E27FC236}">
                <a16:creationId xmlns:a16="http://schemas.microsoft.com/office/drawing/2014/main" id="{FB53FF20-F62B-02C6-F762-414EDFC45A65}"/>
              </a:ext>
            </a:extLst>
          </p:cNvPr>
          <p:cNvSpPr/>
          <p:nvPr/>
        </p:nvSpPr>
        <p:spPr>
          <a:xfrm>
            <a:off x="9674352" y="1755648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downside</a:t>
            </a:r>
            <a:endParaRPr lang="en-US" sz="700" dirty="0"/>
          </a:p>
        </p:txBody>
      </p:sp>
      <p:sp>
        <p:nvSpPr>
          <p:cNvPr id="97" name="Text 89">
            <a:extLst>
              <a:ext uri="{FF2B5EF4-FFF2-40B4-BE49-F238E27FC236}">
                <a16:creationId xmlns:a16="http://schemas.microsoft.com/office/drawing/2014/main" id="{10B789E7-372E-CCC0-ED83-74180D76DC5E}"/>
              </a:ext>
            </a:extLst>
          </p:cNvPr>
          <p:cNvSpPr/>
          <p:nvPr/>
        </p:nvSpPr>
        <p:spPr>
          <a:xfrm>
            <a:off x="9674352" y="1956816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— no follow-up bear bar after Bar 52</a:t>
            </a:r>
            <a:endParaRPr lang="en-US" sz="700" dirty="0"/>
          </a:p>
        </p:txBody>
      </p:sp>
      <p:sp>
        <p:nvSpPr>
          <p:cNvPr id="98" name="Text 90">
            <a:extLst>
              <a:ext uri="{FF2B5EF4-FFF2-40B4-BE49-F238E27FC236}">
                <a16:creationId xmlns:a16="http://schemas.microsoft.com/office/drawing/2014/main" id="{63B1BBB0-4D35-4EB7-9778-818F42461D28}"/>
              </a:ext>
            </a:extLst>
          </p:cNvPr>
          <p:cNvSpPr/>
          <p:nvPr/>
        </p:nvSpPr>
        <p:spPr>
          <a:xfrm>
            <a:off x="9674352" y="2157984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42 pattern: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earlier in session had no follow-through — same setup repeating</a:t>
            </a:r>
            <a:endParaRPr lang="en-US" sz="700" dirty="0"/>
          </a:p>
        </p:txBody>
      </p:sp>
      <p:sp>
        <p:nvSpPr>
          <p:cNvPr id="99" name="Text 91">
            <a:extLst>
              <a:ext uri="{FF2B5EF4-FFF2-40B4-BE49-F238E27FC236}">
                <a16:creationId xmlns:a16="http://schemas.microsoft.com/office/drawing/2014/main" id="{871CF72D-426F-195B-447A-0D07622ED508}"/>
              </a:ext>
            </a:extLst>
          </p:cNvPr>
          <p:cNvSpPr/>
          <p:nvPr/>
        </p:nvSpPr>
        <p:spPr>
          <a:xfrm>
            <a:off x="9674352" y="2359152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~30 ticks — very small if trade failed</a:t>
            </a:r>
            <a:endParaRPr lang="en-US" sz="700" dirty="0"/>
          </a:p>
        </p:txBody>
      </p:sp>
      <p:sp>
        <p:nvSpPr>
          <p:cNvPr id="100" name="Text 92">
            <a:extLst>
              <a:ext uri="{FF2B5EF4-FFF2-40B4-BE49-F238E27FC236}">
                <a16:creationId xmlns:a16="http://schemas.microsoft.com/office/drawing/2014/main" id="{4D356107-57F2-E9DA-29A5-27A1F0893D16}"/>
              </a:ext>
            </a:extLst>
          </p:cNvPr>
          <p:cNvSpPr/>
          <p:nvPr/>
        </p:nvSpPr>
        <p:spPr>
          <a:xfrm>
            <a:off x="9637776" y="2706624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101" name="Text 93">
            <a:extLst>
              <a:ext uri="{FF2B5EF4-FFF2-40B4-BE49-F238E27FC236}">
                <a16:creationId xmlns:a16="http://schemas.microsoft.com/office/drawing/2014/main" id="{D7E13FF7-1FDE-F0E2-071E-9721BCBFB660}"/>
              </a:ext>
            </a:extLst>
          </p:cNvPr>
          <p:cNvSpPr/>
          <p:nvPr/>
        </p:nvSpPr>
        <p:spPr>
          <a:xfrm>
            <a:off x="9637776" y="28620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750" dirty="0"/>
          </a:p>
        </p:txBody>
      </p:sp>
      <p:sp>
        <p:nvSpPr>
          <p:cNvPr id="102" name="Text 94">
            <a:extLst>
              <a:ext uri="{FF2B5EF4-FFF2-40B4-BE49-F238E27FC236}">
                <a16:creationId xmlns:a16="http://schemas.microsoft.com/office/drawing/2014/main" id="{118BC8BA-7F29-8D8D-7DE2-842C7F4528FD}"/>
              </a:ext>
            </a:extLst>
          </p:cNvPr>
          <p:cNvSpPr/>
          <p:nvPr/>
        </p:nvSpPr>
        <p:spPr>
          <a:xfrm>
            <a:off x="9637776" y="3200400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103" name="Text 95">
            <a:extLst>
              <a:ext uri="{FF2B5EF4-FFF2-40B4-BE49-F238E27FC236}">
                <a16:creationId xmlns:a16="http://schemas.microsoft.com/office/drawing/2014/main" id="{B3DE905D-38F3-2246-5E82-DEE5E7C18AD6}"/>
              </a:ext>
            </a:extLst>
          </p:cNvPr>
          <p:cNvSpPr/>
          <p:nvPr/>
        </p:nvSpPr>
        <p:spPr>
          <a:xfrm>
            <a:off x="9637776" y="335584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750" dirty="0"/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349BF4D4-B6BF-485B-5D75-D22FC637F5EC}"/>
              </a:ext>
            </a:extLst>
          </p:cNvPr>
          <p:cNvSpPr/>
          <p:nvPr/>
        </p:nvSpPr>
        <p:spPr>
          <a:xfrm>
            <a:off x="9637776" y="3694176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105" name="Text 97">
            <a:extLst>
              <a:ext uri="{FF2B5EF4-FFF2-40B4-BE49-F238E27FC236}">
                <a16:creationId xmlns:a16="http://schemas.microsoft.com/office/drawing/2014/main" id="{71930783-A9AE-9317-F2DB-A59D6ECD0C7E}"/>
              </a:ext>
            </a:extLst>
          </p:cNvPr>
          <p:cNvSpPr/>
          <p:nvPr/>
        </p:nvSpPr>
        <p:spPr>
          <a:xfrm>
            <a:off x="9637776" y="384962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strong BO bar with no follow-through · PA repeating Bar 42 pattern</a:t>
            </a:r>
            <a:endParaRPr lang="en-US" sz="750" dirty="0"/>
          </a:p>
        </p:txBody>
      </p:sp>
      <p:sp>
        <p:nvSpPr>
          <p:cNvPr id="106" name="Shape 98">
            <a:extLst>
              <a:ext uri="{FF2B5EF4-FFF2-40B4-BE49-F238E27FC236}">
                <a16:creationId xmlns:a16="http://schemas.microsoft.com/office/drawing/2014/main" id="{F7B1624B-3FEF-F594-6F04-4F862F954933}"/>
              </a:ext>
            </a:extLst>
          </p:cNvPr>
          <p:cNvSpPr/>
          <p:nvPr/>
        </p:nvSpPr>
        <p:spPr>
          <a:xfrm>
            <a:off x="10908792" y="4233672"/>
            <a:ext cx="749808" cy="237744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7" name="Text 99">
            <a:extLst>
              <a:ext uri="{FF2B5EF4-FFF2-40B4-BE49-F238E27FC236}">
                <a16:creationId xmlns:a16="http://schemas.microsoft.com/office/drawing/2014/main" id="{56658036-FB70-369C-031C-F0592B91BDAD}"/>
              </a:ext>
            </a:extLst>
          </p:cNvPr>
          <p:cNvSpPr/>
          <p:nvPr/>
        </p:nvSpPr>
        <p:spPr>
          <a:xfrm>
            <a:off x="10908792" y="4251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950" dirty="0"/>
          </a:p>
        </p:txBody>
      </p:sp>
      <p:sp>
        <p:nvSpPr>
          <p:cNvPr id="108" name="Shape 100">
            <a:extLst>
              <a:ext uri="{FF2B5EF4-FFF2-40B4-BE49-F238E27FC236}">
                <a16:creationId xmlns:a16="http://schemas.microsoft.com/office/drawing/2014/main" id="{14503320-BFE8-9CB5-B14A-912E38CE200D}"/>
              </a:ext>
            </a:extLst>
          </p:cNvPr>
          <p:cNvSpPr/>
          <p:nvPr/>
        </p:nvSpPr>
        <p:spPr>
          <a:xfrm>
            <a:off x="9619488" y="4572000"/>
            <a:ext cx="2066544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9" name="Text 101">
            <a:extLst>
              <a:ext uri="{FF2B5EF4-FFF2-40B4-BE49-F238E27FC236}">
                <a16:creationId xmlns:a16="http://schemas.microsoft.com/office/drawing/2014/main" id="{78DF3FD1-645B-4566-C9F2-6A0E14C871ED}"/>
              </a:ext>
            </a:extLst>
          </p:cNvPr>
          <p:cNvSpPr/>
          <p:nvPr/>
        </p:nvSpPr>
        <p:spPr>
          <a:xfrm>
            <a:off x="9637776" y="46634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800" dirty="0"/>
          </a:p>
        </p:txBody>
      </p:sp>
      <p:sp>
        <p:nvSpPr>
          <p:cNvPr id="110" name="Text 102">
            <a:extLst>
              <a:ext uri="{FF2B5EF4-FFF2-40B4-BE49-F238E27FC236}">
                <a16:creationId xmlns:a16="http://schemas.microsoft.com/office/drawing/2014/main" id="{ACA7C782-0930-1988-444A-9F13EF0CF08C}"/>
              </a:ext>
            </a:extLst>
          </p:cNvPr>
          <p:cNvSpPr/>
          <p:nvPr/>
        </p:nvSpPr>
        <p:spPr>
          <a:xfrm>
            <a:off x="9637776" y="4864608"/>
            <a:ext cx="20482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strong BO bar has no follow-through, the move may be exhausted. Pattern recognition within the same session is a valid edge — if Bar 42 showed the same setup and worked, Bar 53 deserves the trade at minimal risk.</a:t>
            </a:r>
            <a:endParaRPr lang="en-US" sz="750" dirty="0"/>
          </a:p>
        </p:txBody>
      </p:sp>
      <p:sp>
        <p:nvSpPr>
          <p:cNvPr id="111" name="Shape 103">
            <a:extLst>
              <a:ext uri="{FF2B5EF4-FFF2-40B4-BE49-F238E27FC236}">
                <a16:creationId xmlns:a16="http://schemas.microsoft.com/office/drawing/2014/main" id="{271FA413-4C07-11B7-90AD-4507EA65A758}"/>
              </a:ext>
            </a:extLst>
          </p:cNvPr>
          <p:cNvSpPr/>
          <p:nvPr/>
        </p:nvSpPr>
        <p:spPr>
          <a:xfrm>
            <a:off x="164592" y="6583680"/>
            <a:ext cx="11832336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2" name="Text 104">
            <a:extLst>
              <a:ext uri="{FF2B5EF4-FFF2-40B4-BE49-F238E27FC236}">
                <a16:creationId xmlns:a16="http://schemas.microsoft.com/office/drawing/2014/main" id="{BE9B74A5-7404-5680-0F76-E8E34DBBE292}"/>
              </a:ext>
            </a:extLst>
          </p:cNvPr>
          <p:cNvSpPr/>
          <p:nvPr/>
        </p:nvSpPr>
        <p:spPr>
          <a:xfrm>
            <a:off x="164592" y="6601968"/>
            <a:ext cx="1183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TOTAL  ·  T01 +39  ·  T02 +39  ·  T03 +80  ·  T04 +49  ·  T05 +30  ·  +237 TICKS</a:t>
            </a:r>
            <a:endParaRPr lang="en-US" sz="900" dirty="0"/>
          </a:p>
        </p:txBody>
      </p:sp>
      <p:sp>
        <p:nvSpPr>
          <p:cNvPr id="114" name="Text 13">
            <a:extLst>
              <a:ext uri="{FF2B5EF4-FFF2-40B4-BE49-F238E27FC236}">
                <a16:creationId xmlns:a16="http://schemas.microsoft.com/office/drawing/2014/main" id="{9FD9A25A-BD0B-DCD5-2AFD-D801AE6E6161}"/>
              </a:ext>
            </a:extLst>
          </p:cNvPr>
          <p:cNvSpPr/>
          <p:nvPr/>
        </p:nvSpPr>
        <p:spPr>
          <a:xfrm>
            <a:off x="548640" y="2185416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9840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2079</Words>
  <Application>Microsoft Office PowerPoint</Application>
  <PresentationFormat>Widescreen</PresentationFormat>
  <Paragraphs>247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EOD Review — Mar 13 2026 — MES 5m</dc:title>
  <dc:subject>PptxGenJS Presentation</dc:subject>
  <dc:creator>PptxGenJS</dc:creator>
  <cp:lastModifiedBy>Sire Mammat</cp:lastModifiedBy>
  <cp:revision>4</cp:revision>
  <dcterms:created xsi:type="dcterms:W3CDTF">2026-03-14T17:43:05Z</dcterms:created>
  <dcterms:modified xsi:type="dcterms:W3CDTF">2026-03-19T23:17:05Z</dcterms:modified>
</cp:coreProperties>
</file>