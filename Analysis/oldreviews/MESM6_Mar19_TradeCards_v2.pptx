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0F1F3D"/>
          </a:solidFill>
          <a:ln w="12700">
            <a:solidFill>
              <a:srgbClr val="0F1F3D"/>
            </a:solidFill>
            <a:prstDash val="solid"/>
          </a:ln>
        </p:spPr>
      </p:sp>
      <p:sp>
        <p:nvSpPr>
          <p:cNvPr id="3" name="Text 1"/>
          <p:cNvSpPr/>
          <p:nvPr/>
        </p:nvSpPr>
        <p:spPr>
          <a:xfrm>
            <a:off x="228600" y="109728"/>
            <a:ext cx="6400800" cy="34747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MESM6  ·  5-Minute Bars  ·  March 19, 2026</a:t>
            </a:r>
            <a:endParaRPr lang="en-US" sz="1100" dirty="0"/>
          </a:p>
        </p:txBody>
      </p:sp>
      <p:sp>
        <p:nvSpPr>
          <p:cNvPr id="4" name="Text 2"/>
          <p:cNvSpPr/>
          <p:nvPr/>
        </p:nvSpPr>
        <p:spPr>
          <a:xfrm>
            <a:off x="6400800" y="109728"/>
            <a:ext cx="5532120" cy="347472"/>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MightyOx Ventures  ·  EOD Trade Cards</a:t>
            </a:r>
            <a:endParaRPr lang="en-US" sz="900" dirty="0"/>
          </a:p>
        </p:txBody>
      </p:sp>
      <p:sp>
        <p:nvSpPr>
          <p:cNvPr id="5" name="Text 3"/>
          <p:cNvSpPr/>
          <p:nvPr/>
        </p:nvSpPr>
        <p:spPr>
          <a:xfrm>
            <a:off x="274320" y="777240"/>
            <a:ext cx="109728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Session Trade Review</a:t>
            </a:r>
            <a:endParaRPr lang="en-US" sz="2200" dirty="0"/>
          </a:p>
        </p:txBody>
      </p:sp>
      <p:sp>
        <p:nvSpPr>
          <p:cNvPr id="6" name="Text 4"/>
          <p:cNvSpPr/>
          <p:nvPr/>
        </p:nvSpPr>
        <p:spPr>
          <a:xfrm>
            <a:off x="274320" y="1298448"/>
            <a:ext cx="10972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RTH  9:00 AM – 4:45 PM EST  ·  4 Trades  ·  All Winners  ·  SIMPAN / GreenLight Pro System</a:t>
            </a:r>
            <a:endParaRPr lang="en-US" sz="1000" dirty="0"/>
          </a:p>
        </p:txBody>
      </p:sp>
      <p:sp>
        <p:nvSpPr>
          <p:cNvPr id="7" name="Shape 5"/>
          <p:cNvSpPr/>
          <p:nvPr/>
        </p:nvSpPr>
        <p:spPr>
          <a:xfrm>
            <a:off x="274320" y="1719072"/>
            <a:ext cx="2148840" cy="93268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8" name="Text 6"/>
          <p:cNvSpPr/>
          <p:nvPr/>
        </p:nvSpPr>
        <p:spPr>
          <a:xfrm>
            <a:off x="384048" y="1810512"/>
            <a:ext cx="192024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Total Trades</a:t>
            </a:r>
            <a:endParaRPr lang="en-US" sz="800" dirty="0"/>
          </a:p>
        </p:txBody>
      </p:sp>
      <p:sp>
        <p:nvSpPr>
          <p:cNvPr id="9" name="Text 7"/>
          <p:cNvSpPr/>
          <p:nvPr/>
        </p:nvSpPr>
        <p:spPr>
          <a:xfrm>
            <a:off x="365760" y="1993392"/>
            <a:ext cx="196596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0" name="Text 8"/>
          <p:cNvSpPr/>
          <p:nvPr/>
        </p:nvSpPr>
        <p:spPr>
          <a:xfrm>
            <a:off x="384048" y="2340864"/>
            <a:ext cx="192024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All closed</a:t>
            </a:r>
            <a:endParaRPr lang="en-US" sz="800" dirty="0"/>
          </a:p>
        </p:txBody>
      </p:sp>
      <p:sp>
        <p:nvSpPr>
          <p:cNvPr id="11" name="Shape 9"/>
          <p:cNvSpPr/>
          <p:nvPr/>
        </p:nvSpPr>
        <p:spPr>
          <a:xfrm>
            <a:off x="2606040" y="1719072"/>
            <a:ext cx="2148840" cy="93268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12" name="Text 10"/>
          <p:cNvSpPr/>
          <p:nvPr/>
        </p:nvSpPr>
        <p:spPr>
          <a:xfrm>
            <a:off x="2715768" y="1810512"/>
            <a:ext cx="192024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Total Ticks</a:t>
            </a:r>
            <a:endParaRPr lang="en-US" sz="800" dirty="0"/>
          </a:p>
        </p:txBody>
      </p:sp>
      <p:sp>
        <p:nvSpPr>
          <p:cNvPr id="13" name="Text 11"/>
          <p:cNvSpPr/>
          <p:nvPr/>
        </p:nvSpPr>
        <p:spPr>
          <a:xfrm>
            <a:off x="2697480" y="1993392"/>
            <a:ext cx="1965960" cy="329184"/>
          </a:xfrm>
          <a:prstGeom prst="rect">
            <a:avLst/>
          </a:prstGeom>
          <a:noFill/>
          <a:ln/>
        </p:spPr>
        <p:txBody>
          <a:bodyPr wrap="square" lIns="0" tIns="0" rIns="0" bIns="0" rtlCol="0" anchor="ctr"/>
          <a:lstStyle/>
          <a:p>
            <a:pPr indent="0" marL="0">
              <a:buNone/>
            </a:pPr>
            <a:r>
              <a:rPr lang="en-US" sz="1600" b="1" dirty="0">
                <a:solidFill>
                  <a:srgbClr val="22C55E"/>
                </a:solidFill>
                <a:latin typeface="Calibri" pitchFamily="34" charset="0"/>
                <a:ea typeface="Calibri" pitchFamily="34" charset="-122"/>
                <a:cs typeface="Calibri" pitchFamily="34" charset="-120"/>
              </a:rPr>
              <a:t>+284</a:t>
            </a:r>
            <a:endParaRPr lang="en-US" sz="1600" dirty="0"/>
          </a:p>
        </p:txBody>
      </p:sp>
      <p:sp>
        <p:nvSpPr>
          <p:cNvPr id="14" name="Text 12"/>
          <p:cNvSpPr/>
          <p:nvPr/>
        </p:nvSpPr>
        <p:spPr>
          <a:xfrm>
            <a:off x="2715768" y="2340864"/>
            <a:ext cx="192024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All winners</a:t>
            </a:r>
            <a:endParaRPr lang="en-US" sz="800" dirty="0"/>
          </a:p>
        </p:txBody>
      </p:sp>
      <p:sp>
        <p:nvSpPr>
          <p:cNvPr id="15" name="Shape 13"/>
          <p:cNvSpPr/>
          <p:nvPr/>
        </p:nvSpPr>
        <p:spPr>
          <a:xfrm>
            <a:off x="4937760" y="1719072"/>
            <a:ext cx="2148840" cy="93268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16" name="Text 14"/>
          <p:cNvSpPr/>
          <p:nvPr/>
        </p:nvSpPr>
        <p:spPr>
          <a:xfrm>
            <a:off x="5047488" y="1810512"/>
            <a:ext cx="192024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PnL / lot</a:t>
            </a:r>
            <a:endParaRPr lang="en-US" sz="800" dirty="0"/>
          </a:p>
        </p:txBody>
      </p:sp>
      <p:sp>
        <p:nvSpPr>
          <p:cNvPr id="17" name="Text 15"/>
          <p:cNvSpPr/>
          <p:nvPr/>
        </p:nvSpPr>
        <p:spPr>
          <a:xfrm>
            <a:off x="5029200" y="1993392"/>
            <a:ext cx="1965960" cy="329184"/>
          </a:xfrm>
          <a:prstGeom prst="rect">
            <a:avLst/>
          </a:prstGeom>
          <a:noFill/>
          <a:ln/>
        </p:spPr>
        <p:txBody>
          <a:bodyPr wrap="square" lIns="0" tIns="0" rIns="0" bIns="0" rtlCol="0" anchor="ctr"/>
          <a:lstStyle/>
          <a:p>
            <a:pPr indent="0" marL="0">
              <a:buNone/>
            </a:pPr>
            <a:r>
              <a:rPr lang="en-US" sz="1600" b="1" dirty="0">
                <a:solidFill>
                  <a:srgbClr val="22C55E"/>
                </a:solidFill>
                <a:latin typeface="Calibri" pitchFamily="34" charset="0"/>
                <a:ea typeface="Calibri" pitchFamily="34" charset="-122"/>
                <a:cs typeface="Calibri" pitchFamily="34" charset="-120"/>
              </a:rPr>
              <a:t>+$355.00</a:t>
            </a:r>
            <a:endParaRPr lang="en-US" sz="1600" dirty="0"/>
          </a:p>
        </p:txBody>
      </p:sp>
      <p:sp>
        <p:nvSpPr>
          <p:cNvPr id="18" name="Text 16"/>
          <p:cNvSpPr/>
          <p:nvPr/>
        </p:nvSpPr>
        <p:spPr>
          <a:xfrm>
            <a:off x="5047488" y="2340864"/>
            <a:ext cx="192024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USD</a:t>
            </a:r>
            <a:endParaRPr lang="en-US" sz="800" dirty="0"/>
          </a:p>
        </p:txBody>
      </p:sp>
      <p:sp>
        <p:nvSpPr>
          <p:cNvPr id="19" name="Shape 17"/>
          <p:cNvSpPr/>
          <p:nvPr/>
        </p:nvSpPr>
        <p:spPr>
          <a:xfrm>
            <a:off x="7269480" y="1719072"/>
            <a:ext cx="2148840" cy="93268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20" name="Text 18"/>
          <p:cNvSpPr/>
          <p:nvPr/>
        </p:nvSpPr>
        <p:spPr>
          <a:xfrm>
            <a:off x="7379208" y="1810512"/>
            <a:ext cx="192024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Avg per trade</a:t>
            </a:r>
            <a:endParaRPr lang="en-US" sz="800" dirty="0"/>
          </a:p>
        </p:txBody>
      </p:sp>
      <p:sp>
        <p:nvSpPr>
          <p:cNvPr id="21" name="Text 19"/>
          <p:cNvSpPr/>
          <p:nvPr/>
        </p:nvSpPr>
        <p:spPr>
          <a:xfrm>
            <a:off x="7360920" y="1993392"/>
            <a:ext cx="196596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+71 ticks</a:t>
            </a:r>
            <a:endParaRPr lang="en-US" sz="1600" dirty="0"/>
          </a:p>
        </p:txBody>
      </p:sp>
      <p:sp>
        <p:nvSpPr>
          <p:cNvPr id="22" name="Text 20"/>
          <p:cNvSpPr/>
          <p:nvPr/>
        </p:nvSpPr>
        <p:spPr>
          <a:xfrm>
            <a:off x="7379208" y="2340864"/>
            <a:ext cx="192024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+$88.75 / lot</a:t>
            </a:r>
            <a:endParaRPr lang="en-US" sz="800" dirty="0"/>
          </a:p>
        </p:txBody>
      </p:sp>
      <p:sp>
        <p:nvSpPr>
          <p:cNvPr id="23" name="Shape 21"/>
          <p:cNvSpPr/>
          <p:nvPr/>
        </p:nvSpPr>
        <p:spPr>
          <a:xfrm>
            <a:off x="9601200" y="1719072"/>
            <a:ext cx="2148840" cy="93268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24" name="Text 22"/>
          <p:cNvSpPr/>
          <p:nvPr/>
        </p:nvSpPr>
        <p:spPr>
          <a:xfrm>
            <a:off x="9710928" y="1810512"/>
            <a:ext cx="192024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Session structure</a:t>
            </a:r>
            <a:endParaRPr lang="en-US" sz="800" dirty="0"/>
          </a:p>
        </p:txBody>
      </p:sp>
      <p:sp>
        <p:nvSpPr>
          <p:cNvPr id="25" name="Text 23"/>
          <p:cNvSpPr/>
          <p:nvPr/>
        </p:nvSpPr>
        <p:spPr>
          <a:xfrm>
            <a:off x="9692640" y="1993392"/>
            <a:ext cx="196596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Range → BO</a:t>
            </a:r>
            <a:endParaRPr lang="en-US" sz="1600" dirty="0"/>
          </a:p>
        </p:txBody>
      </p:sp>
      <p:sp>
        <p:nvSpPr>
          <p:cNvPr id="26" name="Text 24"/>
          <p:cNvSpPr/>
          <p:nvPr/>
        </p:nvSpPr>
        <p:spPr>
          <a:xfrm>
            <a:off x="9710928" y="2340864"/>
            <a:ext cx="192024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Coil + expansion</a:t>
            </a:r>
            <a:endParaRPr lang="en-US" sz="800" dirty="0"/>
          </a:p>
        </p:txBody>
      </p:sp>
      <p:sp>
        <p:nvSpPr>
          <p:cNvPr id="27" name="Shape 25"/>
          <p:cNvSpPr/>
          <p:nvPr/>
        </p:nvSpPr>
        <p:spPr>
          <a:xfrm>
            <a:off x="274320" y="2816352"/>
            <a:ext cx="11612880" cy="320040"/>
          </a:xfrm>
          <a:prstGeom prst="rect">
            <a:avLst/>
          </a:prstGeom>
          <a:solidFill>
            <a:srgbClr val="1E293B"/>
          </a:solidFill>
          <a:ln w="12700">
            <a:solidFill>
              <a:srgbClr val="334155"/>
            </a:solidFill>
            <a:prstDash val="solid"/>
          </a:ln>
        </p:spPr>
      </p:sp>
      <p:sp>
        <p:nvSpPr>
          <p:cNvPr id="28" name="Text 26"/>
          <p:cNvSpPr/>
          <p:nvPr/>
        </p:nvSpPr>
        <p:spPr>
          <a:xfrm>
            <a:off x="384048" y="2871216"/>
            <a:ext cx="1920240" cy="201168"/>
          </a:xfrm>
          <a:prstGeom prst="rect">
            <a:avLst/>
          </a:prstGeom>
          <a:noFill/>
          <a:ln/>
        </p:spPr>
        <p:txBody>
          <a:bodyPr wrap="square" lIns="0" tIns="0" rIns="0" bIns="0" rtlCol="0" anchor="ctr"/>
          <a:lstStyle/>
          <a:p>
            <a:pPr indent="0" marL="0">
              <a:buNone/>
            </a:pPr>
            <a:r>
              <a:rPr lang="en-US" sz="800" b="1" spc="150" kern="0" dirty="0">
                <a:solidFill>
                  <a:srgbClr val="2DD4BF"/>
                </a:solidFill>
                <a:latin typeface="Calibri" pitchFamily="34" charset="0"/>
                <a:ea typeface="Calibri" pitchFamily="34" charset="-122"/>
                <a:cs typeface="Calibri" pitchFamily="34" charset="-120"/>
              </a:rPr>
              <a:t>SESSION CONTEXT</a:t>
            </a:r>
            <a:endParaRPr lang="en-US" sz="800" dirty="0"/>
          </a:p>
        </p:txBody>
      </p:sp>
      <p:sp>
        <p:nvSpPr>
          <p:cNvPr id="29" name="Text 27"/>
          <p:cNvSpPr/>
          <p:nvPr/>
        </p:nvSpPr>
        <p:spPr>
          <a:xfrm>
            <a:off x="2377440" y="2871216"/>
            <a:ext cx="932688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18-Bar RTH Box breach at open → Mean Reversion to EMA → Range Rotation on EMA floor → Trap &amp; Flush on failed breakout → Momentum Expansion above yellow resistance</a:t>
            </a:r>
            <a:endParaRPr lang="en-US" sz="850" dirty="0"/>
          </a:p>
        </p:txBody>
      </p:sp>
      <p:sp>
        <p:nvSpPr>
          <p:cNvPr id="30" name="Shape 28"/>
          <p:cNvSpPr/>
          <p:nvPr/>
        </p:nvSpPr>
        <p:spPr>
          <a:xfrm>
            <a:off x="274320" y="3273552"/>
            <a:ext cx="11612880" cy="274320"/>
          </a:xfrm>
          <a:prstGeom prst="rect">
            <a:avLst/>
          </a:prstGeom>
          <a:solidFill>
            <a:srgbClr val="0F1F3D"/>
          </a:solidFill>
          <a:ln w="12700">
            <a:solidFill>
              <a:srgbClr val="0F1F3D"/>
            </a:solidFill>
            <a:prstDash val="solid"/>
          </a:ln>
        </p:spPr>
      </p:sp>
      <p:sp>
        <p:nvSpPr>
          <p:cNvPr id="31" name="Text 29"/>
          <p:cNvSpPr/>
          <p:nvPr/>
        </p:nvSpPr>
        <p:spPr>
          <a:xfrm>
            <a:off x="329184" y="3328416"/>
            <a:ext cx="44805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Trade</a:t>
            </a:r>
            <a:endParaRPr lang="en-US" sz="800" dirty="0"/>
          </a:p>
        </p:txBody>
      </p:sp>
      <p:sp>
        <p:nvSpPr>
          <p:cNvPr id="32" name="Text 30"/>
          <p:cNvSpPr/>
          <p:nvPr/>
        </p:nvSpPr>
        <p:spPr>
          <a:xfrm>
            <a:off x="832104" y="3328416"/>
            <a:ext cx="223113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Setup</a:t>
            </a:r>
            <a:endParaRPr lang="en-US" sz="800" dirty="0"/>
          </a:p>
        </p:txBody>
      </p:sp>
      <p:sp>
        <p:nvSpPr>
          <p:cNvPr id="33" name="Text 31"/>
          <p:cNvSpPr/>
          <p:nvPr/>
        </p:nvSpPr>
        <p:spPr>
          <a:xfrm>
            <a:off x="3118104" y="3328416"/>
            <a:ext cx="72237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Dir</a:t>
            </a:r>
            <a:endParaRPr lang="en-US" sz="800" dirty="0"/>
          </a:p>
        </p:txBody>
      </p:sp>
      <p:sp>
        <p:nvSpPr>
          <p:cNvPr id="34" name="Text 32"/>
          <p:cNvSpPr/>
          <p:nvPr/>
        </p:nvSpPr>
        <p:spPr>
          <a:xfrm>
            <a:off x="3895344" y="3328416"/>
            <a:ext cx="104241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Time</a:t>
            </a:r>
            <a:endParaRPr lang="en-US" sz="800" dirty="0"/>
          </a:p>
        </p:txBody>
      </p:sp>
      <p:sp>
        <p:nvSpPr>
          <p:cNvPr id="35" name="Text 33"/>
          <p:cNvSpPr/>
          <p:nvPr/>
        </p:nvSpPr>
        <p:spPr>
          <a:xfrm>
            <a:off x="4992624" y="3328416"/>
            <a:ext cx="95097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Entry</a:t>
            </a:r>
            <a:endParaRPr lang="en-US" sz="800" dirty="0"/>
          </a:p>
        </p:txBody>
      </p:sp>
      <p:sp>
        <p:nvSpPr>
          <p:cNvPr id="36" name="Text 34"/>
          <p:cNvSpPr/>
          <p:nvPr/>
        </p:nvSpPr>
        <p:spPr>
          <a:xfrm>
            <a:off x="5998464" y="3328416"/>
            <a:ext cx="95097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Exit</a:t>
            </a:r>
            <a:endParaRPr lang="en-US" sz="800" dirty="0"/>
          </a:p>
        </p:txBody>
      </p:sp>
      <p:sp>
        <p:nvSpPr>
          <p:cNvPr id="37" name="Text 35"/>
          <p:cNvSpPr/>
          <p:nvPr/>
        </p:nvSpPr>
        <p:spPr>
          <a:xfrm>
            <a:off x="7004304" y="3328416"/>
            <a:ext cx="63093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Ticks</a:t>
            </a:r>
            <a:endParaRPr lang="en-US" sz="800" dirty="0"/>
          </a:p>
        </p:txBody>
      </p:sp>
      <p:sp>
        <p:nvSpPr>
          <p:cNvPr id="38" name="Text 36"/>
          <p:cNvSpPr/>
          <p:nvPr/>
        </p:nvSpPr>
        <p:spPr>
          <a:xfrm>
            <a:off x="7690104" y="3328416"/>
            <a:ext cx="81381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PnL / lot</a:t>
            </a:r>
            <a:endParaRPr lang="en-US" sz="800" dirty="0"/>
          </a:p>
        </p:txBody>
      </p:sp>
      <p:sp>
        <p:nvSpPr>
          <p:cNvPr id="39" name="Shape 37"/>
          <p:cNvSpPr/>
          <p:nvPr/>
        </p:nvSpPr>
        <p:spPr>
          <a:xfrm>
            <a:off x="274320" y="3547872"/>
            <a:ext cx="11612880" cy="310896"/>
          </a:xfrm>
          <a:prstGeom prst="rect">
            <a:avLst/>
          </a:prstGeom>
          <a:solidFill>
            <a:srgbClr val="172033"/>
          </a:solidFill>
          <a:ln w="3810">
            <a:solidFill>
              <a:srgbClr val="334155"/>
            </a:solidFill>
            <a:prstDash val="solid"/>
          </a:ln>
        </p:spPr>
      </p:sp>
      <p:sp>
        <p:nvSpPr>
          <p:cNvPr id="40" name="Text 38"/>
          <p:cNvSpPr/>
          <p:nvPr/>
        </p:nvSpPr>
        <p:spPr>
          <a:xfrm>
            <a:off x="329184" y="3621024"/>
            <a:ext cx="429768" cy="182880"/>
          </a:xfrm>
          <a:prstGeom prst="rect">
            <a:avLst/>
          </a:prstGeom>
          <a:noFill/>
          <a:ln/>
        </p:spPr>
        <p:txBody>
          <a:bodyPr wrap="square" lIns="0" tIns="0" rIns="0" bIns="0" rtlCol="0" anchor="ctr"/>
          <a:lstStyle/>
          <a:p>
            <a:pPr indent="0" marL="0">
              <a:buNone/>
            </a:pPr>
            <a:r>
              <a:rPr lang="en-US" sz="850" b="1" dirty="0">
                <a:solidFill>
                  <a:srgbClr val="FCA535"/>
                </a:solidFill>
                <a:latin typeface="Calibri" pitchFamily="34" charset="0"/>
                <a:ea typeface="Calibri" pitchFamily="34" charset="-122"/>
                <a:cs typeface="Calibri" pitchFamily="34" charset="-120"/>
              </a:rPr>
              <a:t>T01</a:t>
            </a:r>
            <a:endParaRPr lang="en-US" sz="850" dirty="0"/>
          </a:p>
        </p:txBody>
      </p:sp>
      <p:sp>
        <p:nvSpPr>
          <p:cNvPr id="41" name="Text 39"/>
          <p:cNvSpPr/>
          <p:nvPr/>
        </p:nvSpPr>
        <p:spPr>
          <a:xfrm>
            <a:off x="832104" y="3621024"/>
            <a:ext cx="2212848" cy="182880"/>
          </a:xfrm>
          <a:prstGeom prst="rect">
            <a:avLst/>
          </a:prstGeom>
          <a:noFill/>
          <a:ln/>
        </p:spPr>
        <p:txBody>
          <a:bodyPr wrap="square" lIns="0" tIns="0" rIns="0" bIns="0" rtlCol="0" anchor="ctr"/>
          <a:lstStyle/>
          <a:p>
            <a:pPr indent="0" marL="0">
              <a:buNone/>
            </a:pPr>
            <a:r>
              <a:rPr lang="en-US" sz="850" b="1" dirty="0">
                <a:solidFill>
                  <a:srgbClr val="94A3B8"/>
                </a:solidFill>
                <a:latin typeface="Calibri" pitchFamily="34" charset="0"/>
                <a:ea typeface="Calibri" pitchFamily="34" charset="-122"/>
                <a:cs typeface="Calibri" pitchFamily="34" charset="-120"/>
              </a:rPr>
              <a:t>Mean Reversion</a:t>
            </a:r>
            <a:endParaRPr lang="en-US" sz="850" dirty="0"/>
          </a:p>
        </p:txBody>
      </p:sp>
      <p:sp>
        <p:nvSpPr>
          <p:cNvPr id="42" name="Text 40"/>
          <p:cNvSpPr/>
          <p:nvPr/>
        </p:nvSpPr>
        <p:spPr>
          <a:xfrm>
            <a:off x="3118104" y="3621024"/>
            <a:ext cx="70408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LONG</a:t>
            </a:r>
            <a:endParaRPr lang="en-US" sz="850" dirty="0"/>
          </a:p>
        </p:txBody>
      </p:sp>
      <p:sp>
        <p:nvSpPr>
          <p:cNvPr id="43" name="Text 41"/>
          <p:cNvSpPr/>
          <p:nvPr/>
        </p:nvSpPr>
        <p:spPr>
          <a:xfrm>
            <a:off x="3895344" y="3621024"/>
            <a:ext cx="102412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9:00–9:30</a:t>
            </a:r>
            <a:endParaRPr lang="en-US" sz="850" dirty="0"/>
          </a:p>
        </p:txBody>
      </p:sp>
      <p:sp>
        <p:nvSpPr>
          <p:cNvPr id="44" name="Text 42"/>
          <p:cNvSpPr/>
          <p:nvPr/>
        </p:nvSpPr>
        <p:spPr>
          <a:xfrm>
            <a:off x="4992624" y="3621024"/>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6,629.25</a:t>
            </a:r>
            <a:endParaRPr lang="en-US" sz="850" dirty="0"/>
          </a:p>
        </p:txBody>
      </p:sp>
      <p:sp>
        <p:nvSpPr>
          <p:cNvPr id="45" name="Text 43"/>
          <p:cNvSpPr/>
          <p:nvPr/>
        </p:nvSpPr>
        <p:spPr>
          <a:xfrm>
            <a:off x="5998464" y="3621024"/>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6,643.75</a:t>
            </a:r>
            <a:endParaRPr lang="en-US" sz="850" dirty="0"/>
          </a:p>
        </p:txBody>
      </p:sp>
      <p:sp>
        <p:nvSpPr>
          <p:cNvPr id="46" name="Text 44"/>
          <p:cNvSpPr/>
          <p:nvPr/>
        </p:nvSpPr>
        <p:spPr>
          <a:xfrm>
            <a:off x="7004304" y="3621024"/>
            <a:ext cx="61264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+58</a:t>
            </a:r>
            <a:endParaRPr lang="en-US" sz="850" dirty="0"/>
          </a:p>
        </p:txBody>
      </p:sp>
      <p:sp>
        <p:nvSpPr>
          <p:cNvPr id="47" name="Text 45"/>
          <p:cNvSpPr/>
          <p:nvPr/>
        </p:nvSpPr>
        <p:spPr>
          <a:xfrm>
            <a:off x="7690104" y="3621024"/>
            <a:ext cx="79552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+$72.50</a:t>
            </a:r>
            <a:endParaRPr lang="en-US" sz="850" dirty="0"/>
          </a:p>
        </p:txBody>
      </p:sp>
      <p:sp>
        <p:nvSpPr>
          <p:cNvPr id="48" name="Shape 46"/>
          <p:cNvSpPr/>
          <p:nvPr/>
        </p:nvSpPr>
        <p:spPr>
          <a:xfrm>
            <a:off x="274320" y="3877056"/>
            <a:ext cx="11612880" cy="310896"/>
          </a:xfrm>
          <a:prstGeom prst="rect">
            <a:avLst/>
          </a:prstGeom>
          <a:solidFill>
            <a:srgbClr val="1E293B"/>
          </a:solidFill>
          <a:ln w="3810">
            <a:solidFill>
              <a:srgbClr val="334155"/>
            </a:solidFill>
            <a:prstDash val="solid"/>
          </a:ln>
        </p:spPr>
      </p:sp>
      <p:sp>
        <p:nvSpPr>
          <p:cNvPr id="49" name="Text 47"/>
          <p:cNvSpPr/>
          <p:nvPr/>
        </p:nvSpPr>
        <p:spPr>
          <a:xfrm>
            <a:off x="329184" y="3950208"/>
            <a:ext cx="429768" cy="182880"/>
          </a:xfrm>
          <a:prstGeom prst="rect">
            <a:avLst/>
          </a:prstGeom>
          <a:noFill/>
          <a:ln/>
        </p:spPr>
        <p:txBody>
          <a:bodyPr wrap="square" lIns="0" tIns="0" rIns="0" bIns="0" rtlCol="0" anchor="ctr"/>
          <a:lstStyle/>
          <a:p>
            <a:pPr indent="0" marL="0">
              <a:buNone/>
            </a:pPr>
            <a:r>
              <a:rPr lang="en-US" sz="850" b="1" dirty="0">
                <a:solidFill>
                  <a:srgbClr val="FCA535"/>
                </a:solidFill>
                <a:latin typeface="Calibri" pitchFamily="34" charset="0"/>
                <a:ea typeface="Calibri" pitchFamily="34" charset="-122"/>
                <a:cs typeface="Calibri" pitchFamily="34" charset="-120"/>
              </a:rPr>
              <a:t>T02</a:t>
            </a:r>
            <a:endParaRPr lang="en-US" sz="850" dirty="0"/>
          </a:p>
        </p:txBody>
      </p:sp>
      <p:sp>
        <p:nvSpPr>
          <p:cNvPr id="50" name="Text 48"/>
          <p:cNvSpPr/>
          <p:nvPr/>
        </p:nvSpPr>
        <p:spPr>
          <a:xfrm>
            <a:off x="832104" y="3950208"/>
            <a:ext cx="2212848" cy="182880"/>
          </a:xfrm>
          <a:prstGeom prst="rect">
            <a:avLst/>
          </a:prstGeom>
          <a:noFill/>
          <a:ln/>
        </p:spPr>
        <p:txBody>
          <a:bodyPr wrap="square" lIns="0" tIns="0" rIns="0" bIns="0" rtlCol="0" anchor="ctr"/>
          <a:lstStyle/>
          <a:p>
            <a:pPr indent="0" marL="0">
              <a:buNone/>
            </a:pPr>
            <a:r>
              <a:rPr lang="en-US" sz="850" b="1" dirty="0">
                <a:solidFill>
                  <a:srgbClr val="94A3B8"/>
                </a:solidFill>
                <a:latin typeface="Calibri" pitchFamily="34" charset="0"/>
                <a:ea typeface="Calibri" pitchFamily="34" charset="-122"/>
                <a:cs typeface="Calibri" pitchFamily="34" charset="-120"/>
              </a:rPr>
              <a:t>Range Rotation</a:t>
            </a:r>
            <a:endParaRPr lang="en-US" sz="850" dirty="0"/>
          </a:p>
        </p:txBody>
      </p:sp>
      <p:sp>
        <p:nvSpPr>
          <p:cNvPr id="51" name="Text 49"/>
          <p:cNvSpPr/>
          <p:nvPr/>
        </p:nvSpPr>
        <p:spPr>
          <a:xfrm>
            <a:off x="3118104" y="3950208"/>
            <a:ext cx="70408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LONG</a:t>
            </a:r>
            <a:endParaRPr lang="en-US" sz="850" dirty="0"/>
          </a:p>
        </p:txBody>
      </p:sp>
      <p:sp>
        <p:nvSpPr>
          <p:cNvPr id="52" name="Text 50"/>
          <p:cNvSpPr/>
          <p:nvPr/>
        </p:nvSpPr>
        <p:spPr>
          <a:xfrm>
            <a:off x="3895344" y="3950208"/>
            <a:ext cx="102412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11:30–1:00</a:t>
            </a:r>
            <a:endParaRPr lang="en-US" sz="850" dirty="0"/>
          </a:p>
        </p:txBody>
      </p:sp>
      <p:sp>
        <p:nvSpPr>
          <p:cNvPr id="53" name="Text 51"/>
          <p:cNvSpPr/>
          <p:nvPr/>
        </p:nvSpPr>
        <p:spPr>
          <a:xfrm>
            <a:off x="4992624" y="3950208"/>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6,624.25</a:t>
            </a:r>
            <a:endParaRPr lang="en-US" sz="850" dirty="0"/>
          </a:p>
        </p:txBody>
      </p:sp>
      <p:sp>
        <p:nvSpPr>
          <p:cNvPr id="54" name="Text 52"/>
          <p:cNvSpPr/>
          <p:nvPr/>
        </p:nvSpPr>
        <p:spPr>
          <a:xfrm>
            <a:off x="5998464" y="3950208"/>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6,643.75</a:t>
            </a:r>
            <a:endParaRPr lang="en-US" sz="850" dirty="0"/>
          </a:p>
        </p:txBody>
      </p:sp>
      <p:sp>
        <p:nvSpPr>
          <p:cNvPr id="55" name="Text 53"/>
          <p:cNvSpPr/>
          <p:nvPr/>
        </p:nvSpPr>
        <p:spPr>
          <a:xfrm>
            <a:off x="7004304" y="3950208"/>
            <a:ext cx="61264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+78</a:t>
            </a:r>
            <a:endParaRPr lang="en-US" sz="850" dirty="0"/>
          </a:p>
        </p:txBody>
      </p:sp>
      <p:sp>
        <p:nvSpPr>
          <p:cNvPr id="56" name="Text 54"/>
          <p:cNvSpPr/>
          <p:nvPr/>
        </p:nvSpPr>
        <p:spPr>
          <a:xfrm>
            <a:off x="7690104" y="3950208"/>
            <a:ext cx="79552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+$97.50</a:t>
            </a:r>
            <a:endParaRPr lang="en-US" sz="850" dirty="0"/>
          </a:p>
        </p:txBody>
      </p:sp>
      <p:sp>
        <p:nvSpPr>
          <p:cNvPr id="57" name="Shape 55"/>
          <p:cNvSpPr/>
          <p:nvPr/>
        </p:nvSpPr>
        <p:spPr>
          <a:xfrm>
            <a:off x="274320" y="4206240"/>
            <a:ext cx="11612880" cy="310896"/>
          </a:xfrm>
          <a:prstGeom prst="rect">
            <a:avLst/>
          </a:prstGeom>
          <a:solidFill>
            <a:srgbClr val="172033"/>
          </a:solidFill>
          <a:ln w="3810">
            <a:solidFill>
              <a:srgbClr val="334155"/>
            </a:solidFill>
            <a:prstDash val="solid"/>
          </a:ln>
        </p:spPr>
      </p:sp>
      <p:sp>
        <p:nvSpPr>
          <p:cNvPr id="58" name="Text 56"/>
          <p:cNvSpPr/>
          <p:nvPr/>
        </p:nvSpPr>
        <p:spPr>
          <a:xfrm>
            <a:off x="329184" y="4279392"/>
            <a:ext cx="429768" cy="182880"/>
          </a:xfrm>
          <a:prstGeom prst="rect">
            <a:avLst/>
          </a:prstGeom>
          <a:noFill/>
          <a:ln/>
        </p:spPr>
        <p:txBody>
          <a:bodyPr wrap="square" lIns="0" tIns="0" rIns="0" bIns="0" rtlCol="0" anchor="ctr"/>
          <a:lstStyle/>
          <a:p>
            <a:pPr indent="0" marL="0">
              <a:buNone/>
            </a:pPr>
            <a:r>
              <a:rPr lang="en-US" sz="850" b="1" dirty="0">
                <a:solidFill>
                  <a:srgbClr val="FCA535"/>
                </a:solidFill>
                <a:latin typeface="Calibri" pitchFamily="34" charset="0"/>
                <a:ea typeface="Calibri" pitchFamily="34" charset="-122"/>
                <a:cs typeface="Calibri" pitchFamily="34" charset="-120"/>
              </a:rPr>
              <a:t>T03</a:t>
            </a:r>
            <a:endParaRPr lang="en-US" sz="850" dirty="0"/>
          </a:p>
        </p:txBody>
      </p:sp>
      <p:sp>
        <p:nvSpPr>
          <p:cNvPr id="59" name="Text 57"/>
          <p:cNvSpPr/>
          <p:nvPr/>
        </p:nvSpPr>
        <p:spPr>
          <a:xfrm>
            <a:off x="832104" y="4279392"/>
            <a:ext cx="2212848" cy="182880"/>
          </a:xfrm>
          <a:prstGeom prst="rect">
            <a:avLst/>
          </a:prstGeom>
          <a:noFill/>
          <a:ln/>
        </p:spPr>
        <p:txBody>
          <a:bodyPr wrap="square" lIns="0" tIns="0" rIns="0" bIns="0" rtlCol="0" anchor="ctr"/>
          <a:lstStyle/>
          <a:p>
            <a:pPr indent="0" marL="0">
              <a:buNone/>
            </a:pPr>
            <a:r>
              <a:rPr lang="en-US" sz="850" b="1" dirty="0">
                <a:solidFill>
                  <a:srgbClr val="94A3B8"/>
                </a:solidFill>
                <a:latin typeface="Calibri" pitchFamily="34" charset="0"/>
                <a:ea typeface="Calibri" pitchFamily="34" charset="-122"/>
                <a:cs typeface="Calibri" pitchFamily="34" charset="-120"/>
              </a:rPr>
              <a:t>Trap &amp; Flush</a:t>
            </a:r>
            <a:endParaRPr lang="en-US" sz="850" dirty="0"/>
          </a:p>
        </p:txBody>
      </p:sp>
      <p:sp>
        <p:nvSpPr>
          <p:cNvPr id="60" name="Text 58"/>
          <p:cNvSpPr/>
          <p:nvPr/>
        </p:nvSpPr>
        <p:spPr>
          <a:xfrm>
            <a:off x="3118104" y="4279392"/>
            <a:ext cx="704088" cy="182880"/>
          </a:xfrm>
          <a:prstGeom prst="rect">
            <a:avLst/>
          </a:prstGeom>
          <a:noFill/>
          <a:ln/>
        </p:spPr>
        <p:txBody>
          <a:bodyPr wrap="square" lIns="0" tIns="0" rIns="0" bIns="0" rtlCol="0" anchor="ctr"/>
          <a:lstStyle/>
          <a:p>
            <a:pPr indent="0" marL="0">
              <a:buNone/>
            </a:pPr>
            <a:r>
              <a:rPr lang="en-US" sz="850" dirty="0">
                <a:solidFill>
                  <a:srgbClr val="EF4444"/>
                </a:solidFill>
                <a:latin typeface="Calibri" pitchFamily="34" charset="0"/>
                <a:ea typeface="Calibri" pitchFamily="34" charset="-122"/>
                <a:cs typeface="Calibri" pitchFamily="34" charset="-120"/>
              </a:rPr>
              <a:t>SHORT</a:t>
            </a:r>
            <a:endParaRPr lang="en-US" sz="850" dirty="0"/>
          </a:p>
        </p:txBody>
      </p:sp>
      <p:sp>
        <p:nvSpPr>
          <p:cNvPr id="61" name="Text 59"/>
          <p:cNvSpPr/>
          <p:nvPr/>
        </p:nvSpPr>
        <p:spPr>
          <a:xfrm>
            <a:off x="3895344" y="4279392"/>
            <a:ext cx="102412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1:00–1:45</a:t>
            </a:r>
            <a:endParaRPr lang="en-US" sz="850" dirty="0"/>
          </a:p>
        </p:txBody>
      </p:sp>
      <p:sp>
        <p:nvSpPr>
          <p:cNvPr id="62" name="Text 60"/>
          <p:cNvSpPr/>
          <p:nvPr/>
        </p:nvSpPr>
        <p:spPr>
          <a:xfrm>
            <a:off x="4992624" y="4279392"/>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6,634.00</a:t>
            </a:r>
            <a:endParaRPr lang="en-US" sz="850" dirty="0"/>
          </a:p>
        </p:txBody>
      </p:sp>
      <p:sp>
        <p:nvSpPr>
          <p:cNvPr id="63" name="Text 61"/>
          <p:cNvSpPr/>
          <p:nvPr/>
        </p:nvSpPr>
        <p:spPr>
          <a:xfrm>
            <a:off x="5998464" y="4279392"/>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6,617.50</a:t>
            </a:r>
            <a:endParaRPr lang="en-US" sz="850" dirty="0"/>
          </a:p>
        </p:txBody>
      </p:sp>
      <p:sp>
        <p:nvSpPr>
          <p:cNvPr id="64" name="Text 62"/>
          <p:cNvSpPr/>
          <p:nvPr/>
        </p:nvSpPr>
        <p:spPr>
          <a:xfrm>
            <a:off x="7004304" y="4279392"/>
            <a:ext cx="61264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+66</a:t>
            </a:r>
            <a:endParaRPr lang="en-US" sz="850" dirty="0"/>
          </a:p>
        </p:txBody>
      </p:sp>
      <p:sp>
        <p:nvSpPr>
          <p:cNvPr id="65" name="Text 63"/>
          <p:cNvSpPr/>
          <p:nvPr/>
        </p:nvSpPr>
        <p:spPr>
          <a:xfrm>
            <a:off x="7690104" y="4279392"/>
            <a:ext cx="79552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+$82.50</a:t>
            </a:r>
            <a:endParaRPr lang="en-US" sz="850" dirty="0"/>
          </a:p>
        </p:txBody>
      </p:sp>
      <p:sp>
        <p:nvSpPr>
          <p:cNvPr id="66" name="Shape 64"/>
          <p:cNvSpPr/>
          <p:nvPr/>
        </p:nvSpPr>
        <p:spPr>
          <a:xfrm>
            <a:off x="274320" y="4535424"/>
            <a:ext cx="11612880" cy="310896"/>
          </a:xfrm>
          <a:prstGeom prst="rect">
            <a:avLst/>
          </a:prstGeom>
          <a:solidFill>
            <a:srgbClr val="1E293B"/>
          </a:solidFill>
          <a:ln w="3810">
            <a:solidFill>
              <a:srgbClr val="334155"/>
            </a:solidFill>
            <a:prstDash val="solid"/>
          </a:ln>
        </p:spPr>
      </p:sp>
      <p:sp>
        <p:nvSpPr>
          <p:cNvPr id="67" name="Text 65"/>
          <p:cNvSpPr/>
          <p:nvPr/>
        </p:nvSpPr>
        <p:spPr>
          <a:xfrm>
            <a:off x="329184" y="4608576"/>
            <a:ext cx="429768" cy="182880"/>
          </a:xfrm>
          <a:prstGeom prst="rect">
            <a:avLst/>
          </a:prstGeom>
          <a:noFill/>
          <a:ln/>
        </p:spPr>
        <p:txBody>
          <a:bodyPr wrap="square" lIns="0" tIns="0" rIns="0" bIns="0" rtlCol="0" anchor="ctr"/>
          <a:lstStyle/>
          <a:p>
            <a:pPr indent="0" marL="0">
              <a:buNone/>
            </a:pPr>
            <a:r>
              <a:rPr lang="en-US" sz="850" b="1" dirty="0">
                <a:solidFill>
                  <a:srgbClr val="FCA535"/>
                </a:solidFill>
                <a:latin typeface="Calibri" pitchFamily="34" charset="0"/>
                <a:ea typeface="Calibri" pitchFamily="34" charset="-122"/>
                <a:cs typeface="Calibri" pitchFamily="34" charset="-120"/>
              </a:rPr>
              <a:t>T04</a:t>
            </a:r>
            <a:endParaRPr lang="en-US" sz="850" dirty="0"/>
          </a:p>
        </p:txBody>
      </p:sp>
      <p:sp>
        <p:nvSpPr>
          <p:cNvPr id="68" name="Text 66"/>
          <p:cNvSpPr/>
          <p:nvPr/>
        </p:nvSpPr>
        <p:spPr>
          <a:xfrm>
            <a:off x="832104" y="4608576"/>
            <a:ext cx="2212848" cy="182880"/>
          </a:xfrm>
          <a:prstGeom prst="rect">
            <a:avLst/>
          </a:prstGeom>
          <a:noFill/>
          <a:ln/>
        </p:spPr>
        <p:txBody>
          <a:bodyPr wrap="square" lIns="0" tIns="0" rIns="0" bIns="0" rtlCol="0" anchor="ctr"/>
          <a:lstStyle/>
          <a:p>
            <a:pPr indent="0" marL="0">
              <a:buNone/>
            </a:pPr>
            <a:r>
              <a:rPr lang="en-US" sz="850" b="1" dirty="0">
                <a:solidFill>
                  <a:srgbClr val="94A3B8"/>
                </a:solidFill>
                <a:latin typeface="Calibri" pitchFamily="34" charset="0"/>
                <a:ea typeface="Calibri" pitchFamily="34" charset="-122"/>
                <a:cs typeface="Calibri" pitchFamily="34" charset="-120"/>
              </a:rPr>
              <a:t>Momentum Expansion</a:t>
            </a:r>
            <a:endParaRPr lang="en-US" sz="850" dirty="0"/>
          </a:p>
        </p:txBody>
      </p:sp>
      <p:sp>
        <p:nvSpPr>
          <p:cNvPr id="69" name="Text 67"/>
          <p:cNvSpPr/>
          <p:nvPr/>
        </p:nvSpPr>
        <p:spPr>
          <a:xfrm>
            <a:off x="3118104" y="4608576"/>
            <a:ext cx="70408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LONG</a:t>
            </a:r>
            <a:endParaRPr lang="en-US" sz="850" dirty="0"/>
          </a:p>
        </p:txBody>
      </p:sp>
      <p:sp>
        <p:nvSpPr>
          <p:cNvPr id="70" name="Text 68"/>
          <p:cNvSpPr/>
          <p:nvPr/>
        </p:nvSpPr>
        <p:spPr>
          <a:xfrm>
            <a:off x="3895344" y="4608576"/>
            <a:ext cx="102412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2:00–4:15</a:t>
            </a:r>
            <a:endParaRPr lang="en-US" sz="850" dirty="0"/>
          </a:p>
        </p:txBody>
      </p:sp>
      <p:sp>
        <p:nvSpPr>
          <p:cNvPr id="71" name="Text 69"/>
          <p:cNvSpPr/>
          <p:nvPr/>
        </p:nvSpPr>
        <p:spPr>
          <a:xfrm>
            <a:off x="4992624" y="4608576"/>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6,628.00</a:t>
            </a:r>
            <a:endParaRPr lang="en-US" sz="850" dirty="0"/>
          </a:p>
        </p:txBody>
      </p:sp>
      <p:sp>
        <p:nvSpPr>
          <p:cNvPr id="72" name="Text 70"/>
          <p:cNvSpPr/>
          <p:nvPr/>
        </p:nvSpPr>
        <p:spPr>
          <a:xfrm>
            <a:off x="5998464" y="4608576"/>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6,666.50</a:t>
            </a:r>
            <a:endParaRPr lang="en-US" sz="850" dirty="0"/>
          </a:p>
        </p:txBody>
      </p:sp>
      <p:sp>
        <p:nvSpPr>
          <p:cNvPr id="73" name="Text 71"/>
          <p:cNvSpPr/>
          <p:nvPr/>
        </p:nvSpPr>
        <p:spPr>
          <a:xfrm>
            <a:off x="7004304" y="4608576"/>
            <a:ext cx="61264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+82</a:t>
            </a:r>
            <a:endParaRPr lang="en-US" sz="850" dirty="0"/>
          </a:p>
        </p:txBody>
      </p:sp>
      <p:sp>
        <p:nvSpPr>
          <p:cNvPr id="74" name="Text 72"/>
          <p:cNvSpPr/>
          <p:nvPr/>
        </p:nvSpPr>
        <p:spPr>
          <a:xfrm>
            <a:off x="7690104" y="4608576"/>
            <a:ext cx="79552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+$102.50</a:t>
            </a:r>
            <a:endParaRPr lang="en-US" sz="850" dirty="0"/>
          </a:p>
        </p:txBody>
      </p:sp>
      <p:sp>
        <p:nvSpPr>
          <p:cNvPr id="75" name="Shape 73"/>
          <p:cNvSpPr/>
          <p:nvPr/>
        </p:nvSpPr>
        <p:spPr>
          <a:xfrm>
            <a:off x="274320" y="5806440"/>
            <a:ext cx="11612880" cy="274320"/>
          </a:xfrm>
          <a:prstGeom prst="rect">
            <a:avLst/>
          </a:prstGeom>
          <a:solidFill>
            <a:srgbClr val="052E16"/>
          </a:solidFill>
          <a:ln w="12700">
            <a:solidFill>
              <a:srgbClr val="14532D"/>
            </a:solidFill>
            <a:prstDash val="solid"/>
          </a:ln>
        </p:spPr>
      </p:sp>
      <p:sp>
        <p:nvSpPr>
          <p:cNvPr id="76" name="Text 74"/>
          <p:cNvSpPr/>
          <p:nvPr/>
        </p:nvSpPr>
        <p:spPr>
          <a:xfrm>
            <a:off x="365760" y="5843016"/>
            <a:ext cx="11430000" cy="182880"/>
          </a:xfrm>
          <a:prstGeom prst="rect">
            <a:avLst/>
          </a:prstGeom>
          <a:noFill/>
          <a:ln/>
        </p:spPr>
        <p:txBody>
          <a:bodyPr wrap="square" lIns="0" tIns="0" rIns="0" bIns="0" rtlCol="0" anchor="ctr"/>
          <a:lstStyle/>
          <a:p>
            <a:pPr algn="ctr" indent="0" marL="0">
              <a:buNone/>
            </a:pPr>
            <a:r>
              <a:rPr lang="en-US" sz="900" b="1" dirty="0">
                <a:solidFill>
                  <a:srgbClr val="22C55E"/>
                </a:solidFill>
                <a:latin typeface="Calibri" pitchFamily="34" charset="0"/>
                <a:ea typeface="Calibri" pitchFamily="34" charset="-122"/>
                <a:cs typeface="Calibri" pitchFamily="34" charset="-120"/>
              </a:rPr>
              <a:t>SESSION TOTAL  ·  4 trades  ·  T01 +58  ·  T02 +78  ·  T03 +66  ·  T04 +82  ·  TOTAL: +284 TICKS  ·  +$355.00 / lot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512064"/>
          </a:xfrm>
          <a:prstGeom prst="rect">
            <a:avLst/>
          </a:prstGeom>
          <a:solidFill>
            <a:srgbClr val="052E16"/>
          </a:solidFill>
          <a:ln w="12700">
            <a:solidFill>
              <a:srgbClr val="052E16"/>
            </a:solidFill>
            <a:prstDash val="solid"/>
          </a:ln>
        </p:spPr>
      </p:sp>
      <p:sp>
        <p:nvSpPr>
          <p:cNvPr id="3" name="Text 1"/>
          <p:cNvSpPr/>
          <p:nvPr/>
        </p:nvSpPr>
        <p:spPr>
          <a:xfrm>
            <a:off x="228600" y="82296"/>
            <a:ext cx="7772400" cy="329184"/>
          </a:xfrm>
          <a:prstGeom prst="rect">
            <a:avLst/>
          </a:prstGeom>
          <a:noFill/>
          <a:ln/>
        </p:spPr>
        <p:txBody>
          <a:bodyPr wrap="square" lIns="0" tIns="0" rIns="0" bIns="0"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  T01  ·  Mean Reversion  ·  LONG  ·  Bars 1–6</a:t>
            </a:r>
            <a:endParaRPr lang="en-US" sz="1400" dirty="0"/>
          </a:p>
        </p:txBody>
      </p:sp>
      <p:sp>
        <p:nvSpPr>
          <p:cNvPr id="4" name="Text 2"/>
          <p:cNvSpPr/>
          <p:nvPr/>
        </p:nvSpPr>
        <p:spPr>
          <a:xfrm>
            <a:off x="8046720" y="82296"/>
            <a:ext cx="3886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MESM6  5m  ·  Mar 19, 2026</a:t>
            </a:r>
            <a:endParaRPr lang="en-US" sz="900" dirty="0"/>
          </a:p>
        </p:txBody>
      </p:sp>
      <p:sp>
        <p:nvSpPr>
          <p:cNvPr id="5" name="Text 3"/>
          <p:cNvSpPr/>
          <p:nvPr/>
        </p:nvSpPr>
        <p:spPr>
          <a:xfrm>
            <a:off x="8046720" y="256032"/>
            <a:ext cx="3886200" cy="219456"/>
          </a:xfrm>
          <a:prstGeom prst="rect">
            <a:avLst/>
          </a:prstGeom>
          <a:noFill/>
          <a:ln/>
        </p:spPr>
        <p:txBody>
          <a:bodyPr wrap="square" lIns="0" tIns="0" rIns="0" bIns="0" rtlCol="0" anchor="ctr"/>
          <a:lstStyle/>
          <a:p>
            <a:pPr algn="r" indent="0" marL="0">
              <a:buNone/>
            </a:pPr>
            <a:r>
              <a:rPr lang="en-US" sz="1500" b="1" dirty="0">
                <a:solidFill>
                  <a:srgbClr val="86EFAC"/>
                </a:solidFill>
                <a:latin typeface="Calibri" pitchFamily="34" charset="0"/>
                <a:ea typeface="Calibri" pitchFamily="34" charset="-122"/>
                <a:cs typeface="Calibri" pitchFamily="34" charset="-120"/>
              </a:rPr>
              <a:t>+$72.50</a:t>
            </a:r>
            <a:endParaRPr lang="en-US" sz="1500" dirty="0"/>
          </a:p>
        </p:txBody>
      </p:sp>
      <p:sp>
        <p:nvSpPr>
          <p:cNvPr id="6" name="Shape 4"/>
          <p:cNvSpPr/>
          <p:nvPr/>
        </p:nvSpPr>
        <p:spPr>
          <a:xfrm>
            <a:off x="2286000" y="621792"/>
            <a:ext cx="9646920" cy="384048"/>
          </a:xfrm>
          <a:prstGeom prst="rect">
            <a:avLst/>
          </a:prstGeom>
          <a:solidFill>
            <a:srgbClr val="052E16"/>
          </a:solidFill>
          <a:ln w="6350">
            <a:solidFill>
              <a:srgbClr val="14532D"/>
            </a:solidFill>
            <a:prstDash val="solid"/>
          </a:ln>
        </p:spPr>
      </p:sp>
      <p:sp>
        <p:nvSpPr>
          <p:cNvPr id="7" name="Text 5"/>
          <p:cNvSpPr/>
          <p:nvPr/>
        </p:nvSpPr>
        <p:spPr>
          <a:xfrm>
            <a:off x="2286000" y="685800"/>
            <a:ext cx="9646920" cy="256032"/>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TRADE EXPLANATION</a:t>
            </a:r>
            <a:endParaRPr lang="en-US" sz="1200" dirty="0"/>
          </a:p>
        </p:txBody>
      </p:sp>
      <p:sp>
        <p:nvSpPr>
          <p:cNvPr id="8" name="Shape 6"/>
          <p:cNvSpPr/>
          <p:nvPr/>
        </p:nvSpPr>
        <p:spPr>
          <a:xfrm>
            <a:off x="228600" y="1115568"/>
            <a:ext cx="1938528" cy="1115568"/>
          </a:xfrm>
          <a:prstGeom prst="rect">
            <a:avLst/>
          </a:prstGeom>
          <a:solidFill>
            <a:srgbClr val="0D2E38"/>
          </a:solidFill>
          <a:ln w="9525">
            <a:solidFill>
              <a:srgbClr val="134E5E"/>
            </a:solidFill>
            <a:prstDash val="solid"/>
          </a:ln>
          <a:effectLst>
            <a:outerShdw sx="100000" sy="100000" kx="0" ky="0" algn="bl" rotWithShape="0" blurRad="38100" dist="25400" dir="8100000">
              <a:srgbClr val="000000">
                <a:alpha val="20000"/>
              </a:srgbClr>
            </a:outerShdw>
          </a:effectLst>
        </p:spPr>
      </p:sp>
      <p:sp>
        <p:nvSpPr>
          <p:cNvPr id="9" name="Text 7"/>
          <p:cNvSpPr/>
          <p:nvPr/>
        </p:nvSpPr>
        <p:spPr>
          <a:xfrm>
            <a:off x="274320" y="1536192"/>
            <a:ext cx="1828800" cy="274320"/>
          </a:xfrm>
          <a:prstGeom prst="rect">
            <a:avLst/>
          </a:prstGeom>
          <a:noFill/>
          <a:ln/>
        </p:spPr>
        <p:txBody>
          <a:bodyPr wrap="square" lIns="0" tIns="0" rIns="0" bIns="0" rtlCol="0" anchor="ctr"/>
          <a:lstStyle/>
          <a:p>
            <a:pPr algn="ctr" indent="0" marL="0">
              <a:buNone/>
            </a:pPr>
            <a:r>
              <a:rPr lang="en-US" sz="1200" b="1" dirty="0">
                <a:solidFill>
                  <a:srgbClr val="2DD4BF"/>
                </a:solidFill>
                <a:latin typeface="Calibri" pitchFamily="34" charset="0"/>
                <a:ea typeface="Calibri" pitchFamily="34" charset="-122"/>
                <a:cs typeface="Calibri" pitchFamily="34" charset="-120"/>
              </a:rPr>
              <a:t>Charting</a:t>
            </a:r>
            <a:endParaRPr lang="en-US" sz="1200" dirty="0"/>
          </a:p>
        </p:txBody>
      </p:sp>
      <p:sp>
        <p:nvSpPr>
          <p:cNvPr id="10" name="Shape 8"/>
          <p:cNvSpPr/>
          <p:nvPr/>
        </p:nvSpPr>
        <p:spPr>
          <a:xfrm>
            <a:off x="2286000" y="1115568"/>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11" name="Text 9"/>
          <p:cNvSpPr/>
          <p:nvPr/>
        </p:nvSpPr>
        <p:spPr>
          <a:xfrm>
            <a:off x="2395728" y="1207008"/>
            <a:ext cx="941832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9:00–9:30 AM  ·  Bars 1–6</a:t>
            </a:r>
            <a:endParaRPr lang="en-US" sz="850" dirty="0"/>
          </a:p>
        </p:txBody>
      </p:sp>
      <p:sp>
        <p:nvSpPr>
          <p:cNvPr id="12" name="Text 10"/>
          <p:cNvSpPr/>
          <p:nvPr/>
        </p:nvSpPr>
        <p:spPr>
          <a:xfrm>
            <a:off x="239572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Entry</a:t>
            </a:r>
            <a:endParaRPr lang="en-US" sz="800" dirty="0"/>
          </a:p>
        </p:txBody>
      </p:sp>
      <p:sp>
        <p:nvSpPr>
          <p:cNvPr id="13" name="Text 11"/>
          <p:cNvSpPr/>
          <p:nvPr/>
        </p:nvSpPr>
        <p:spPr>
          <a:xfrm>
            <a:off x="239572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6,629.25</a:t>
            </a:r>
            <a:endParaRPr lang="en-US" sz="1300" dirty="0"/>
          </a:p>
        </p:txBody>
      </p:sp>
      <p:sp>
        <p:nvSpPr>
          <p:cNvPr id="14" name="Text 12"/>
          <p:cNvSpPr/>
          <p:nvPr/>
        </p:nvSpPr>
        <p:spPr>
          <a:xfrm>
            <a:off x="477316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Exit</a:t>
            </a:r>
            <a:endParaRPr lang="en-US" sz="800" dirty="0"/>
          </a:p>
        </p:txBody>
      </p:sp>
      <p:sp>
        <p:nvSpPr>
          <p:cNvPr id="15" name="Text 13"/>
          <p:cNvSpPr/>
          <p:nvPr/>
        </p:nvSpPr>
        <p:spPr>
          <a:xfrm>
            <a:off x="477316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6,643.75</a:t>
            </a:r>
            <a:endParaRPr lang="en-US" sz="1300" dirty="0"/>
          </a:p>
        </p:txBody>
      </p:sp>
      <p:sp>
        <p:nvSpPr>
          <p:cNvPr id="16" name="Text 14"/>
          <p:cNvSpPr/>
          <p:nvPr/>
        </p:nvSpPr>
        <p:spPr>
          <a:xfrm>
            <a:off x="715060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Ticks</a:t>
            </a:r>
            <a:endParaRPr lang="en-US" sz="800" dirty="0"/>
          </a:p>
        </p:txBody>
      </p:sp>
      <p:sp>
        <p:nvSpPr>
          <p:cNvPr id="17" name="Text 15"/>
          <p:cNvSpPr/>
          <p:nvPr/>
        </p:nvSpPr>
        <p:spPr>
          <a:xfrm>
            <a:off x="715060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+58 ticks</a:t>
            </a:r>
            <a:endParaRPr lang="en-US" sz="1300" dirty="0"/>
          </a:p>
        </p:txBody>
      </p:sp>
      <p:sp>
        <p:nvSpPr>
          <p:cNvPr id="18" name="Text 16"/>
          <p:cNvSpPr/>
          <p:nvPr/>
        </p:nvSpPr>
        <p:spPr>
          <a:xfrm>
            <a:off x="952804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PnL</a:t>
            </a:r>
            <a:endParaRPr lang="en-US" sz="800" dirty="0"/>
          </a:p>
        </p:txBody>
      </p:sp>
      <p:sp>
        <p:nvSpPr>
          <p:cNvPr id="19" name="Text 17"/>
          <p:cNvSpPr/>
          <p:nvPr/>
        </p:nvSpPr>
        <p:spPr>
          <a:xfrm>
            <a:off x="952804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+$72.50</a:t>
            </a:r>
            <a:endParaRPr lang="en-US" sz="1300" dirty="0"/>
          </a:p>
        </p:txBody>
      </p:sp>
      <p:sp>
        <p:nvSpPr>
          <p:cNvPr id="20" name="Shape 18"/>
          <p:cNvSpPr/>
          <p:nvPr/>
        </p:nvSpPr>
        <p:spPr>
          <a:xfrm>
            <a:off x="228600" y="2340864"/>
            <a:ext cx="1938528" cy="1115568"/>
          </a:xfrm>
          <a:prstGeom prst="rect">
            <a:avLst/>
          </a:prstGeom>
          <a:solidFill>
            <a:srgbClr val="052E16"/>
          </a:solidFill>
          <a:ln w="9525">
            <a:solidFill>
              <a:srgbClr val="14532D"/>
            </a:solidFill>
            <a:prstDash val="solid"/>
          </a:ln>
          <a:effectLst>
            <a:outerShdw sx="100000" sy="100000" kx="0" ky="0" algn="bl" rotWithShape="0" blurRad="38100" dist="25400" dir="8100000">
              <a:srgbClr val="000000">
                <a:alpha val="20000"/>
              </a:srgbClr>
            </a:outerShdw>
          </a:effectLst>
        </p:spPr>
      </p:sp>
      <p:sp>
        <p:nvSpPr>
          <p:cNvPr id="21" name="Text 19"/>
          <p:cNvSpPr/>
          <p:nvPr/>
        </p:nvSpPr>
        <p:spPr>
          <a:xfrm>
            <a:off x="274320" y="2761488"/>
            <a:ext cx="1828800" cy="27432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Context</a:t>
            </a:r>
            <a:endParaRPr lang="en-US" sz="1200" dirty="0"/>
          </a:p>
        </p:txBody>
      </p:sp>
      <p:sp>
        <p:nvSpPr>
          <p:cNvPr id="22" name="Shape 20"/>
          <p:cNvSpPr/>
          <p:nvPr/>
        </p:nvSpPr>
        <p:spPr>
          <a:xfrm>
            <a:off x="2286000" y="2340864"/>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23" name="Text 21"/>
          <p:cNvSpPr/>
          <p:nvPr/>
        </p:nvSpPr>
        <p:spPr>
          <a:xfrm>
            <a:off x="2395728" y="2432304"/>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18-Bar Box breach:  </a:t>
            </a:r>
            <a:pPr indent="0" marL="0">
              <a:buNone/>
            </a:pPr>
            <a:r>
              <a:rPr lang="en-US" sz="950" dirty="0">
                <a:solidFill>
                  <a:srgbClr val="94A3B8"/>
                </a:solidFill>
                <a:latin typeface="Calibri" pitchFamily="34" charset="0"/>
                <a:ea typeface="Calibri" pitchFamily="34" charset="-122"/>
                <a:cs typeface="Calibri" pitchFamily="34" charset="-120"/>
              </a:rPr>
              <a:t>Price dipped below the RTH Box low at the open — overextension signal</a:t>
            </a:r>
            <a:endParaRPr lang="en-US" sz="950" dirty="0"/>
          </a:p>
        </p:txBody>
      </p:sp>
      <p:sp>
        <p:nvSpPr>
          <p:cNvPr id="24" name="Text 22"/>
          <p:cNvSpPr/>
          <p:nvPr/>
        </p:nvSpPr>
        <p:spPr>
          <a:xfrm>
            <a:off x="2395728" y="2688336"/>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EMA distance:  </a:t>
            </a:r>
            <a:pPr indent="0" marL="0">
              <a:buNone/>
            </a:pPr>
            <a:r>
              <a:rPr lang="en-US" sz="950" dirty="0">
                <a:solidFill>
                  <a:srgbClr val="94A3B8"/>
                </a:solidFill>
                <a:latin typeface="Calibri" pitchFamily="34" charset="0"/>
                <a:ea typeface="Calibri" pitchFamily="34" charset="-122"/>
                <a:cs typeface="Calibri" pitchFamily="34" charset="-120"/>
              </a:rPr>
              <a:t>Price overextended from the 20 EMA — mean reversion setup confirmed</a:t>
            </a:r>
            <a:endParaRPr lang="en-US" sz="950" dirty="0"/>
          </a:p>
        </p:txBody>
      </p:sp>
      <p:sp>
        <p:nvSpPr>
          <p:cNvPr id="25" name="Text 23"/>
          <p:cNvSpPr/>
          <p:nvPr/>
        </p:nvSpPr>
        <p:spPr>
          <a:xfrm>
            <a:off x="2395728" y="2944368"/>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Session low reject:  </a:t>
            </a:r>
            <a:pPr indent="0" marL="0">
              <a:buNone/>
            </a:pPr>
            <a:r>
              <a:rPr lang="en-US" sz="950" dirty="0">
                <a:solidFill>
                  <a:srgbClr val="94A3B8"/>
                </a:solidFill>
                <a:latin typeface="Calibri" pitchFamily="34" charset="0"/>
                <a:ea typeface="Calibri" pitchFamily="34" charset="-122"/>
                <a:cs typeface="Calibri" pitchFamily="34" charset="-120"/>
              </a:rPr>
              <a:t>6,629.25 acted as the rejection point — buyers absorbed all selling</a:t>
            </a:r>
            <a:endParaRPr lang="en-US" sz="950" dirty="0"/>
          </a:p>
        </p:txBody>
      </p:sp>
      <p:sp>
        <p:nvSpPr>
          <p:cNvPr id="26" name="Text 24"/>
          <p:cNvSpPr/>
          <p:nvPr/>
        </p:nvSpPr>
        <p:spPr>
          <a:xfrm>
            <a:off x="2395728" y="3200400"/>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V-Reversal setup:  </a:t>
            </a:r>
            <a:pPr indent="0" marL="0">
              <a:buNone/>
            </a:pPr>
            <a:r>
              <a:rPr lang="en-US" sz="950" dirty="0">
                <a:solidFill>
                  <a:srgbClr val="94A3B8"/>
                </a:solidFill>
                <a:latin typeface="Calibri" pitchFamily="34" charset="0"/>
                <a:ea typeface="Calibri" pitchFamily="34" charset="-122"/>
                <a:cs typeface="Calibri" pitchFamily="34" charset="-120"/>
              </a:rPr>
              <a:t>Parabolic opening moves always snap back to EMA in the first 30 min</a:t>
            </a:r>
            <a:endParaRPr lang="en-US" sz="950" dirty="0"/>
          </a:p>
        </p:txBody>
      </p:sp>
      <p:sp>
        <p:nvSpPr>
          <p:cNvPr id="27" name="Shape 25"/>
          <p:cNvSpPr/>
          <p:nvPr/>
        </p:nvSpPr>
        <p:spPr>
          <a:xfrm>
            <a:off x="228600" y="3566160"/>
            <a:ext cx="1938528" cy="1115568"/>
          </a:xfrm>
          <a:prstGeom prst="rect">
            <a:avLst/>
          </a:prstGeom>
          <a:solidFill>
            <a:srgbClr val="052E16"/>
          </a:solidFill>
          <a:ln w="9525">
            <a:solidFill>
              <a:srgbClr val="14532D"/>
            </a:solidFill>
            <a:prstDash val="solid"/>
          </a:ln>
          <a:effectLst>
            <a:outerShdw sx="100000" sy="100000" kx="0" ky="0" algn="bl" rotWithShape="0" blurRad="38100" dist="25400" dir="8100000">
              <a:srgbClr val="000000">
                <a:alpha val="20000"/>
              </a:srgbClr>
            </a:outerShdw>
          </a:effectLst>
        </p:spPr>
      </p:sp>
      <p:sp>
        <p:nvSpPr>
          <p:cNvPr id="28" name="Text 26"/>
          <p:cNvSpPr/>
          <p:nvPr/>
        </p:nvSpPr>
        <p:spPr>
          <a:xfrm>
            <a:off x="274320" y="3895344"/>
            <a:ext cx="1828800" cy="457200"/>
          </a:xfrm>
          <a:prstGeom prst="rect">
            <a:avLst/>
          </a:prstGeom>
          <a:noFill/>
          <a:ln/>
        </p:spPr>
        <p:txBody>
          <a:bodyPr wrap="square" lIns="0" tIns="0" rIns="0" bIns="0" rtlCol="0" anchor="ctr"/>
          <a:lstStyle/>
          <a:p>
            <a:pPr algn="ctr" indent="0" marL="0">
              <a:buNone/>
            </a:pPr>
            <a:r>
              <a:rPr lang="en-US" sz="1100" b="1" dirty="0">
                <a:solidFill>
                  <a:srgbClr val="22C55E"/>
                </a:solidFill>
                <a:latin typeface="Calibri" pitchFamily="34" charset="0"/>
                <a:ea typeface="Calibri" pitchFamily="34" charset="-122"/>
                <a:cs typeface="Calibri" pitchFamily="34" charset="-120"/>
              </a:rPr>
              <a:t>Entry</a:t>
            </a:r>
            <a:endParaRPr lang="en-US" sz="1100" dirty="0"/>
          </a:p>
          <a:p>
            <a:pPr algn="ctr" indent="0" marL="0">
              <a:buNone/>
            </a:pPr>
            <a:r>
              <a:rPr lang="en-US" sz="1100" b="1" dirty="0">
                <a:solidFill>
                  <a:srgbClr val="22C55E"/>
                </a:solidFill>
                <a:latin typeface="Calibri" pitchFamily="34" charset="0"/>
                <a:ea typeface="Calibri" pitchFamily="34" charset="-122"/>
                <a:cs typeface="Calibri" pitchFamily="34" charset="-120"/>
              </a:rPr>
              <a:t>Exit</a:t>
            </a:r>
            <a:endParaRPr lang="en-US" sz="1100" dirty="0"/>
          </a:p>
          <a:p>
            <a:pPr algn="ctr" indent="0" marL="0">
              <a:buNone/>
            </a:pPr>
            <a:r>
              <a:rPr lang="en-US" sz="1100" b="1" dirty="0">
                <a:solidFill>
                  <a:srgbClr val="22C55E"/>
                </a:solidFill>
                <a:latin typeface="Calibri" pitchFamily="34" charset="0"/>
                <a:ea typeface="Calibri" pitchFamily="34" charset="-122"/>
                <a:cs typeface="Calibri" pitchFamily="34" charset="-120"/>
              </a:rPr>
              <a:t>Reason</a:t>
            </a:r>
            <a:endParaRPr lang="en-US" sz="1100" dirty="0"/>
          </a:p>
        </p:txBody>
      </p:sp>
      <p:sp>
        <p:nvSpPr>
          <p:cNvPr id="29" name="Shape 27"/>
          <p:cNvSpPr/>
          <p:nvPr/>
        </p:nvSpPr>
        <p:spPr>
          <a:xfrm>
            <a:off x="2286000" y="3566160"/>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0" name="Text 28"/>
          <p:cNvSpPr/>
          <p:nvPr/>
        </p:nvSpPr>
        <p:spPr>
          <a:xfrm>
            <a:off x="2395728" y="365760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Entry  </a:t>
            </a:r>
            <a:pPr indent="0" marL="0">
              <a:buNone/>
            </a:pPr>
            <a:r>
              <a:rPr lang="en-US" sz="950" dirty="0">
                <a:solidFill>
                  <a:srgbClr val="FFFFFF"/>
                </a:solidFill>
                <a:latin typeface="Calibri" pitchFamily="34" charset="0"/>
                <a:ea typeface="Calibri" pitchFamily="34" charset="-122"/>
                <a:cs typeface="Calibri" pitchFamily="34" charset="-120"/>
              </a:rPr>
              <a:t>Buy rejection at session low 6,629.25 — 1 tick above Bar 1</a:t>
            </a:r>
            <a:endParaRPr lang="en-US" sz="950" dirty="0"/>
          </a:p>
        </p:txBody>
      </p:sp>
      <p:sp>
        <p:nvSpPr>
          <p:cNvPr id="31" name="Text 29"/>
          <p:cNvSpPr/>
          <p:nvPr/>
        </p:nvSpPr>
        <p:spPr>
          <a:xfrm>
            <a:off x="2395728" y="393192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Exit     </a:t>
            </a:r>
            <a:pPr indent="0" marL="0">
              <a:buNone/>
            </a:pPr>
            <a:r>
              <a:rPr lang="en-US" sz="950" dirty="0">
                <a:solidFill>
                  <a:srgbClr val="FFFFFF"/>
                </a:solidFill>
                <a:latin typeface="Calibri" pitchFamily="34" charset="0"/>
                <a:ea typeface="Calibri" pitchFamily="34" charset="-122"/>
                <a:cs typeface="Calibri" pitchFamily="34" charset="-120"/>
              </a:rPr>
              <a:t>Exit at the 20 EMA (blue line) — quick mean reversion target achieved</a:t>
            </a:r>
            <a:endParaRPr lang="en-US" sz="950" dirty="0"/>
          </a:p>
        </p:txBody>
      </p:sp>
      <p:sp>
        <p:nvSpPr>
          <p:cNvPr id="32" name="Shape 30"/>
          <p:cNvSpPr/>
          <p:nvPr/>
        </p:nvSpPr>
        <p:spPr>
          <a:xfrm>
            <a:off x="2395728" y="4206240"/>
            <a:ext cx="9418320" cy="9144"/>
          </a:xfrm>
          <a:prstGeom prst="rect">
            <a:avLst/>
          </a:prstGeom>
          <a:solidFill>
            <a:srgbClr val="334155"/>
          </a:solidFill>
          <a:ln w="12700">
            <a:solidFill>
              <a:srgbClr val="334155"/>
            </a:solidFill>
            <a:prstDash val="solid"/>
          </a:ln>
        </p:spPr>
      </p:sp>
      <p:sp>
        <p:nvSpPr>
          <p:cNvPr id="33" name="Text 31"/>
          <p:cNvSpPr/>
          <p:nvPr/>
        </p:nvSpPr>
        <p:spPr>
          <a:xfrm>
            <a:off x="2395728" y="4261104"/>
            <a:ext cx="9418320" cy="365760"/>
          </a:xfrm>
          <a:prstGeom prst="rect">
            <a:avLst/>
          </a:prstGeom>
          <a:noFill/>
          <a:ln/>
        </p:spPr>
        <p:txBody>
          <a:bodyPr wrap="square" lIns="0" tIns="0" rIns="0" bIns="0" rtlCol="0" anchor="ctr"/>
          <a:lstStyle/>
          <a:p>
            <a:pPr indent="0" marL="0">
              <a:buNone/>
            </a:pPr>
            <a:r>
              <a:rPr lang="en-US" sz="950" b="1" dirty="0">
                <a:solidFill>
                  <a:srgbClr val="FCA535"/>
                </a:solidFill>
                <a:latin typeface="Calibri" pitchFamily="34" charset="0"/>
                <a:ea typeface="Calibri" pitchFamily="34" charset="-122"/>
                <a:cs typeface="Calibri" pitchFamily="34" charset="-120"/>
              </a:rPr>
              <a:t>Reason  </a:t>
            </a:r>
            <a:pPr indent="0" marL="0">
              <a:buNone/>
            </a:pPr>
            <a:r>
              <a:rPr lang="en-US" sz="950" i="1" dirty="0">
                <a:solidFill>
                  <a:srgbClr val="94A3B8"/>
                </a:solidFill>
                <a:latin typeface="Calibri" pitchFamily="34" charset="0"/>
                <a:ea typeface="Calibri" pitchFamily="34" charset="-122"/>
                <a:cs typeface="Calibri" pitchFamily="34" charset="-120"/>
              </a:rPr>
              <a:t>High-probability V-Reversal logic. Price always seeks the EMA after a parabolic opening move. 18-Bar Box breach below = overextension confirmation.</a:t>
            </a:r>
            <a:endParaRPr lang="en-US" sz="950" dirty="0"/>
          </a:p>
        </p:txBody>
      </p:sp>
      <p:sp>
        <p:nvSpPr>
          <p:cNvPr id="34" name="Shape 32"/>
          <p:cNvSpPr/>
          <p:nvPr/>
        </p:nvSpPr>
        <p:spPr>
          <a:xfrm>
            <a:off x="228600" y="4791456"/>
            <a:ext cx="1938528" cy="1115568"/>
          </a:xfrm>
          <a:prstGeom prst="rect">
            <a:avLst/>
          </a:prstGeom>
          <a:solidFill>
            <a:srgbClr val="411C02"/>
          </a:solidFill>
          <a:ln w="9525">
            <a:solidFill>
              <a:srgbClr val="854F0B"/>
            </a:solidFill>
            <a:prstDash val="solid"/>
          </a:ln>
          <a:effectLst>
            <a:outerShdw sx="100000" sy="100000" kx="0" ky="0" algn="bl" rotWithShape="0" blurRad="38100" dist="25400" dir="8100000">
              <a:srgbClr val="000000">
                <a:alpha val="20000"/>
              </a:srgbClr>
            </a:outerShdw>
          </a:effectLst>
        </p:spPr>
      </p:sp>
      <p:sp>
        <p:nvSpPr>
          <p:cNvPr id="35" name="Text 33"/>
          <p:cNvSpPr/>
          <p:nvPr/>
        </p:nvSpPr>
        <p:spPr>
          <a:xfrm>
            <a:off x="274320" y="5193792"/>
            <a:ext cx="1828800" cy="329184"/>
          </a:xfrm>
          <a:prstGeom prst="rect">
            <a:avLst/>
          </a:prstGeom>
          <a:noFill/>
          <a:ln/>
        </p:spPr>
        <p:txBody>
          <a:bodyPr wrap="square" lIns="0" tIns="0" rIns="0" bIns="0" rtlCol="0" anchor="ctr"/>
          <a:lstStyle/>
          <a:p>
            <a:pPr algn="ctr" indent="0" marL="0">
              <a:buNone/>
            </a:pPr>
            <a:r>
              <a:rPr lang="en-US" sz="1200" b="1" dirty="0">
                <a:solidFill>
                  <a:srgbClr val="FCA535"/>
                </a:solidFill>
                <a:latin typeface="Calibri" pitchFamily="34" charset="0"/>
                <a:ea typeface="Calibri" pitchFamily="34" charset="-122"/>
                <a:cs typeface="Calibri" pitchFamily="34" charset="-120"/>
              </a:rPr>
              <a:t>Lesson</a:t>
            </a:r>
            <a:endParaRPr lang="en-US" sz="1200" dirty="0"/>
          </a:p>
          <a:p>
            <a:pPr algn="ctr" indent="0" marL="0">
              <a:buNone/>
            </a:pPr>
            <a:r>
              <a:rPr lang="en-US" sz="1200" b="1" dirty="0">
                <a:solidFill>
                  <a:srgbClr val="FCA535"/>
                </a:solidFill>
                <a:latin typeface="Calibri" pitchFamily="34" charset="0"/>
                <a:ea typeface="Calibri" pitchFamily="34" charset="-122"/>
                <a:cs typeface="Calibri" pitchFamily="34" charset="-120"/>
              </a:rPr>
              <a:t>Learnt</a:t>
            </a:r>
            <a:endParaRPr lang="en-US" sz="1200" dirty="0"/>
          </a:p>
        </p:txBody>
      </p:sp>
      <p:sp>
        <p:nvSpPr>
          <p:cNvPr id="36" name="Shape 34"/>
          <p:cNvSpPr/>
          <p:nvPr/>
        </p:nvSpPr>
        <p:spPr>
          <a:xfrm>
            <a:off x="2286000" y="4791456"/>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7" name="Text 35"/>
          <p:cNvSpPr/>
          <p:nvPr/>
        </p:nvSpPr>
        <p:spPr>
          <a:xfrm>
            <a:off x="2395728" y="4901184"/>
            <a:ext cx="9418320" cy="914400"/>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When price opens with a violent move through the 18-Bar Box low AND is overextended from the EMA, it telegraphs the first trade of the session. The EMA is the magnet — not a guess, a target. V-Reversals at session open are among the cleanest setups if you wait for the rejection bar to form before entering.</a:t>
            </a:r>
            <a:endParaRPr lang="en-US" sz="950" dirty="0"/>
          </a:p>
        </p:txBody>
      </p:sp>
      <p:sp>
        <p:nvSpPr>
          <p:cNvPr id="38" name="Text 36"/>
          <p:cNvSpPr/>
          <p:nvPr/>
        </p:nvSpPr>
        <p:spPr>
          <a:xfrm>
            <a:off x="228600" y="6035040"/>
            <a:ext cx="11704320" cy="164592"/>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Trade card  ·  T01  ·  Mean Reversion  ·  MESM6 5m  ·  Mar 19, 2026  ·  Personal trade journal — not financial advice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512064"/>
          </a:xfrm>
          <a:prstGeom prst="rect">
            <a:avLst/>
          </a:prstGeom>
          <a:solidFill>
            <a:srgbClr val="052E16"/>
          </a:solidFill>
          <a:ln w="12700">
            <a:solidFill>
              <a:srgbClr val="052E16"/>
            </a:solidFill>
            <a:prstDash val="solid"/>
          </a:ln>
        </p:spPr>
      </p:sp>
      <p:sp>
        <p:nvSpPr>
          <p:cNvPr id="3" name="Text 1"/>
          <p:cNvSpPr/>
          <p:nvPr/>
        </p:nvSpPr>
        <p:spPr>
          <a:xfrm>
            <a:off x="228600" y="82296"/>
            <a:ext cx="7772400" cy="329184"/>
          </a:xfrm>
          <a:prstGeom prst="rect">
            <a:avLst/>
          </a:prstGeom>
          <a:noFill/>
          <a:ln/>
        </p:spPr>
        <p:txBody>
          <a:bodyPr wrap="square" lIns="0" tIns="0" rIns="0" bIns="0"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  T02  ·  Range Rotation  ·  LONG  ·  Bars 16–24</a:t>
            </a:r>
            <a:endParaRPr lang="en-US" sz="1400" dirty="0"/>
          </a:p>
        </p:txBody>
      </p:sp>
      <p:sp>
        <p:nvSpPr>
          <p:cNvPr id="4" name="Text 2"/>
          <p:cNvSpPr/>
          <p:nvPr/>
        </p:nvSpPr>
        <p:spPr>
          <a:xfrm>
            <a:off x="8046720" y="82296"/>
            <a:ext cx="3886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MESM6  5m  ·  Mar 19, 2026</a:t>
            </a:r>
            <a:endParaRPr lang="en-US" sz="900" dirty="0"/>
          </a:p>
        </p:txBody>
      </p:sp>
      <p:sp>
        <p:nvSpPr>
          <p:cNvPr id="5" name="Text 3"/>
          <p:cNvSpPr/>
          <p:nvPr/>
        </p:nvSpPr>
        <p:spPr>
          <a:xfrm>
            <a:off x="8046720" y="256032"/>
            <a:ext cx="3886200" cy="219456"/>
          </a:xfrm>
          <a:prstGeom prst="rect">
            <a:avLst/>
          </a:prstGeom>
          <a:noFill/>
          <a:ln/>
        </p:spPr>
        <p:txBody>
          <a:bodyPr wrap="square" lIns="0" tIns="0" rIns="0" bIns="0" rtlCol="0" anchor="ctr"/>
          <a:lstStyle/>
          <a:p>
            <a:pPr algn="r" indent="0" marL="0">
              <a:buNone/>
            </a:pPr>
            <a:r>
              <a:rPr lang="en-US" sz="1500" b="1" dirty="0">
                <a:solidFill>
                  <a:srgbClr val="86EFAC"/>
                </a:solidFill>
                <a:latin typeface="Calibri" pitchFamily="34" charset="0"/>
                <a:ea typeface="Calibri" pitchFamily="34" charset="-122"/>
                <a:cs typeface="Calibri" pitchFamily="34" charset="-120"/>
              </a:rPr>
              <a:t>+$97.50</a:t>
            </a:r>
            <a:endParaRPr lang="en-US" sz="1500" dirty="0"/>
          </a:p>
        </p:txBody>
      </p:sp>
      <p:sp>
        <p:nvSpPr>
          <p:cNvPr id="6" name="Shape 4"/>
          <p:cNvSpPr/>
          <p:nvPr/>
        </p:nvSpPr>
        <p:spPr>
          <a:xfrm>
            <a:off x="2286000" y="621792"/>
            <a:ext cx="9646920" cy="384048"/>
          </a:xfrm>
          <a:prstGeom prst="rect">
            <a:avLst/>
          </a:prstGeom>
          <a:solidFill>
            <a:srgbClr val="052E16"/>
          </a:solidFill>
          <a:ln w="6350">
            <a:solidFill>
              <a:srgbClr val="14532D"/>
            </a:solidFill>
            <a:prstDash val="solid"/>
          </a:ln>
        </p:spPr>
      </p:sp>
      <p:sp>
        <p:nvSpPr>
          <p:cNvPr id="7" name="Text 5"/>
          <p:cNvSpPr/>
          <p:nvPr/>
        </p:nvSpPr>
        <p:spPr>
          <a:xfrm>
            <a:off x="2286000" y="685800"/>
            <a:ext cx="9646920" cy="256032"/>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TRADE EXPLANATION</a:t>
            </a:r>
            <a:endParaRPr lang="en-US" sz="1200" dirty="0"/>
          </a:p>
        </p:txBody>
      </p:sp>
      <p:sp>
        <p:nvSpPr>
          <p:cNvPr id="8" name="Shape 6"/>
          <p:cNvSpPr/>
          <p:nvPr/>
        </p:nvSpPr>
        <p:spPr>
          <a:xfrm>
            <a:off x="228600" y="1115568"/>
            <a:ext cx="1938528" cy="1115568"/>
          </a:xfrm>
          <a:prstGeom prst="rect">
            <a:avLst/>
          </a:prstGeom>
          <a:solidFill>
            <a:srgbClr val="0D2E38"/>
          </a:solidFill>
          <a:ln w="9525">
            <a:solidFill>
              <a:srgbClr val="134E5E"/>
            </a:solidFill>
            <a:prstDash val="solid"/>
          </a:ln>
          <a:effectLst>
            <a:outerShdw sx="100000" sy="100000" kx="0" ky="0" algn="bl" rotWithShape="0" blurRad="38100" dist="25400" dir="8100000">
              <a:srgbClr val="000000">
                <a:alpha val="20000"/>
              </a:srgbClr>
            </a:outerShdw>
          </a:effectLst>
        </p:spPr>
      </p:sp>
      <p:sp>
        <p:nvSpPr>
          <p:cNvPr id="9" name="Text 7"/>
          <p:cNvSpPr/>
          <p:nvPr/>
        </p:nvSpPr>
        <p:spPr>
          <a:xfrm>
            <a:off x="274320" y="1536192"/>
            <a:ext cx="1828800" cy="274320"/>
          </a:xfrm>
          <a:prstGeom prst="rect">
            <a:avLst/>
          </a:prstGeom>
          <a:noFill/>
          <a:ln/>
        </p:spPr>
        <p:txBody>
          <a:bodyPr wrap="square" lIns="0" tIns="0" rIns="0" bIns="0" rtlCol="0" anchor="ctr"/>
          <a:lstStyle/>
          <a:p>
            <a:pPr algn="ctr" indent="0" marL="0">
              <a:buNone/>
            </a:pPr>
            <a:r>
              <a:rPr lang="en-US" sz="1200" b="1" dirty="0">
                <a:solidFill>
                  <a:srgbClr val="2DD4BF"/>
                </a:solidFill>
                <a:latin typeface="Calibri" pitchFamily="34" charset="0"/>
                <a:ea typeface="Calibri" pitchFamily="34" charset="-122"/>
                <a:cs typeface="Calibri" pitchFamily="34" charset="-120"/>
              </a:rPr>
              <a:t>Charting</a:t>
            </a:r>
            <a:endParaRPr lang="en-US" sz="1200" dirty="0"/>
          </a:p>
        </p:txBody>
      </p:sp>
      <p:sp>
        <p:nvSpPr>
          <p:cNvPr id="10" name="Shape 8"/>
          <p:cNvSpPr/>
          <p:nvPr/>
        </p:nvSpPr>
        <p:spPr>
          <a:xfrm>
            <a:off x="2286000" y="1115568"/>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11" name="Text 9"/>
          <p:cNvSpPr/>
          <p:nvPr/>
        </p:nvSpPr>
        <p:spPr>
          <a:xfrm>
            <a:off x="2395728" y="1207008"/>
            <a:ext cx="941832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11:30 AM–1:00 PM  ·  Bars 16–24</a:t>
            </a:r>
            <a:endParaRPr lang="en-US" sz="850" dirty="0"/>
          </a:p>
        </p:txBody>
      </p:sp>
      <p:sp>
        <p:nvSpPr>
          <p:cNvPr id="12" name="Text 10"/>
          <p:cNvSpPr/>
          <p:nvPr/>
        </p:nvSpPr>
        <p:spPr>
          <a:xfrm>
            <a:off x="239572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Entry</a:t>
            </a:r>
            <a:endParaRPr lang="en-US" sz="800" dirty="0"/>
          </a:p>
        </p:txBody>
      </p:sp>
      <p:sp>
        <p:nvSpPr>
          <p:cNvPr id="13" name="Text 11"/>
          <p:cNvSpPr/>
          <p:nvPr/>
        </p:nvSpPr>
        <p:spPr>
          <a:xfrm>
            <a:off x="239572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6,624.25</a:t>
            </a:r>
            <a:endParaRPr lang="en-US" sz="1300" dirty="0"/>
          </a:p>
        </p:txBody>
      </p:sp>
      <p:sp>
        <p:nvSpPr>
          <p:cNvPr id="14" name="Text 12"/>
          <p:cNvSpPr/>
          <p:nvPr/>
        </p:nvSpPr>
        <p:spPr>
          <a:xfrm>
            <a:off x="477316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Exit</a:t>
            </a:r>
            <a:endParaRPr lang="en-US" sz="800" dirty="0"/>
          </a:p>
        </p:txBody>
      </p:sp>
      <p:sp>
        <p:nvSpPr>
          <p:cNvPr id="15" name="Text 13"/>
          <p:cNvSpPr/>
          <p:nvPr/>
        </p:nvSpPr>
        <p:spPr>
          <a:xfrm>
            <a:off x="477316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6,643.75</a:t>
            </a:r>
            <a:endParaRPr lang="en-US" sz="1300" dirty="0"/>
          </a:p>
        </p:txBody>
      </p:sp>
      <p:sp>
        <p:nvSpPr>
          <p:cNvPr id="16" name="Text 14"/>
          <p:cNvSpPr/>
          <p:nvPr/>
        </p:nvSpPr>
        <p:spPr>
          <a:xfrm>
            <a:off x="715060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Ticks</a:t>
            </a:r>
            <a:endParaRPr lang="en-US" sz="800" dirty="0"/>
          </a:p>
        </p:txBody>
      </p:sp>
      <p:sp>
        <p:nvSpPr>
          <p:cNvPr id="17" name="Text 15"/>
          <p:cNvSpPr/>
          <p:nvPr/>
        </p:nvSpPr>
        <p:spPr>
          <a:xfrm>
            <a:off x="715060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+78 ticks</a:t>
            </a:r>
            <a:endParaRPr lang="en-US" sz="1300" dirty="0"/>
          </a:p>
        </p:txBody>
      </p:sp>
      <p:sp>
        <p:nvSpPr>
          <p:cNvPr id="18" name="Text 16"/>
          <p:cNvSpPr/>
          <p:nvPr/>
        </p:nvSpPr>
        <p:spPr>
          <a:xfrm>
            <a:off x="952804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PnL</a:t>
            </a:r>
            <a:endParaRPr lang="en-US" sz="800" dirty="0"/>
          </a:p>
        </p:txBody>
      </p:sp>
      <p:sp>
        <p:nvSpPr>
          <p:cNvPr id="19" name="Text 17"/>
          <p:cNvSpPr/>
          <p:nvPr/>
        </p:nvSpPr>
        <p:spPr>
          <a:xfrm>
            <a:off x="952804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+$97.50</a:t>
            </a:r>
            <a:endParaRPr lang="en-US" sz="1300" dirty="0"/>
          </a:p>
        </p:txBody>
      </p:sp>
      <p:sp>
        <p:nvSpPr>
          <p:cNvPr id="20" name="Shape 18"/>
          <p:cNvSpPr/>
          <p:nvPr/>
        </p:nvSpPr>
        <p:spPr>
          <a:xfrm>
            <a:off x="228600" y="2340864"/>
            <a:ext cx="1938528" cy="1115568"/>
          </a:xfrm>
          <a:prstGeom prst="rect">
            <a:avLst/>
          </a:prstGeom>
          <a:solidFill>
            <a:srgbClr val="052E16"/>
          </a:solidFill>
          <a:ln w="9525">
            <a:solidFill>
              <a:srgbClr val="14532D"/>
            </a:solidFill>
            <a:prstDash val="solid"/>
          </a:ln>
          <a:effectLst>
            <a:outerShdw sx="100000" sy="100000" kx="0" ky="0" algn="bl" rotWithShape="0" blurRad="38100" dist="25400" dir="8100000">
              <a:srgbClr val="000000">
                <a:alpha val="20000"/>
              </a:srgbClr>
            </a:outerShdw>
          </a:effectLst>
        </p:spPr>
      </p:sp>
      <p:sp>
        <p:nvSpPr>
          <p:cNvPr id="21" name="Text 19"/>
          <p:cNvSpPr/>
          <p:nvPr/>
        </p:nvSpPr>
        <p:spPr>
          <a:xfrm>
            <a:off x="274320" y="2761488"/>
            <a:ext cx="1828800" cy="27432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Context</a:t>
            </a:r>
            <a:endParaRPr lang="en-US" sz="1200" dirty="0"/>
          </a:p>
        </p:txBody>
      </p:sp>
      <p:sp>
        <p:nvSpPr>
          <p:cNvPr id="22" name="Shape 20"/>
          <p:cNvSpPr/>
          <p:nvPr/>
        </p:nvSpPr>
        <p:spPr>
          <a:xfrm>
            <a:off x="2286000" y="2340864"/>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23" name="Text 21"/>
          <p:cNvSpPr/>
          <p:nvPr/>
        </p:nvSpPr>
        <p:spPr>
          <a:xfrm>
            <a:off x="2395728" y="2432304"/>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EMA held:  </a:t>
            </a:r>
            <a:pPr indent="0" marL="0">
              <a:buNone/>
            </a:pPr>
            <a:r>
              <a:rPr lang="en-US" sz="950" dirty="0">
                <a:solidFill>
                  <a:srgbClr val="94A3B8"/>
                </a:solidFill>
                <a:latin typeface="Calibri" pitchFamily="34" charset="0"/>
                <a:ea typeface="Calibri" pitchFamily="34" charset="-122"/>
                <a:cs typeface="Calibri" pitchFamily="34" charset="-120"/>
              </a:rPr>
              <a:t>Price tested the 20 EMA and closed above — buyers defending the floor</a:t>
            </a:r>
            <a:endParaRPr lang="en-US" sz="950" dirty="0"/>
          </a:p>
        </p:txBody>
      </p:sp>
      <p:sp>
        <p:nvSpPr>
          <p:cNvPr id="24" name="Text 22"/>
          <p:cNvSpPr/>
          <p:nvPr/>
        </p:nvSpPr>
        <p:spPr>
          <a:xfrm>
            <a:off x="2395728" y="2688336"/>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Coiling behaviour:  </a:t>
            </a:r>
            <a:pPr indent="0" marL="0">
              <a:buNone/>
            </a:pPr>
            <a:r>
              <a:rPr lang="en-US" sz="950" dirty="0">
                <a:solidFill>
                  <a:srgbClr val="94A3B8"/>
                </a:solidFill>
                <a:latin typeface="Calibri" pitchFamily="34" charset="0"/>
                <a:ea typeface="Calibri" pitchFamily="34" charset="-122"/>
                <a:cs typeface="Calibri" pitchFamily="34" charset="-120"/>
              </a:rPr>
              <a:t>Overlapping bars compressing above EMA — energy building for a move up</a:t>
            </a:r>
            <a:endParaRPr lang="en-US" sz="950" dirty="0"/>
          </a:p>
        </p:txBody>
      </p:sp>
      <p:sp>
        <p:nvSpPr>
          <p:cNvPr id="25" name="Text 23"/>
          <p:cNvSpPr/>
          <p:nvPr/>
        </p:nvSpPr>
        <p:spPr>
          <a:xfrm>
            <a:off x="2395728" y="2944368"/>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Bullish pressure:  </a:t>
            </a:r>
            <a:pPr indent="0" marL="0">
              <a:buNone/>
            </a:pPr>
            <a:r>
              <a:rPr lang="en-US" sz="950" dirty="0">
                <a:solidFill>
                  <a:srgbClr val="94A3B8"/>
                </a:solidFill>
                <a:latin typeface="Calibri" pitchFamily="34" charset="0"/>
                <a:ea typeface="Calibri" pitchFamily="34" charset="-122"/>
                <a:cs typeface="Calibri" pitchFamily="34" charset="-120"/>
              </a:rPr>
              <a:t>Each close below EMA was immediately rejected — bulls in control</a:t>
            </a:r>
            <a:endParaRPr lang="en-US" sz="950" dirty="0"/>
          </a:p>
        </p:txBody>
      </p:sp>
      <p:sp>
        <p:nvSpPr>
          <p:cNvPr id="26" name="Text 24"/>
          <p:cNvSpPr/>
          <p:nvPr/>
        </p:nvSpPr>
        <p:spPr>
          <a:xfrm>
            <a:off x="2395728" y="3200400"/>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Range target:  </a:t>
            </a:r>
            <a:pPr indent="0" marL="0">
              <a:buNone/>
            </a:pPr>
            <a:r>
              <a:rPr lang="en-US" sz="950" dirty="0">
                <a:solidFill>
                  <a:srgbClr val="94A3B8"/>
                </a:solidFill>
                <a:latin typeface="Calibri" pitchFamily="34" charset="0"/>
                <a:ea typeface="Calibri" pitchFamily="34" charset="-122"/>
                <a:cs typeface="Calibri" pitchFamily="34" charset="-120"/>
              </a:rPr>
              <a:t>Previous swing high at 6,643.75 = natural upper range boundary exit</a:t>
            </a:r>
            <a:endParaRPr lang="en-US" sz="950" dirty="0"/>
          </a:p>
        </p:txBody>
      </p:sp>
      <p:sp>
        <p:nvSpPr>
          <p:cNvPr id="27" name="Shape 25"/>
          <p:cNvSpPr/>
          <p:nvPr/>
        </p:nvSpPr>
        <p:spPr>
          <a:xfrm>
            <a:off x="228600" y="3566160"/>
            <a:ext cx="1938528" cy="1115568"/>
          </a:xfrm>
          <a:prstGeom prst="rect">
            <a:avLst/>
          </a:prstGeom>
          <a:solidFill>
            <a:srgbClr val="052E16"/>
          </a:solidFill>
          <a:ln w="9525">
            <a:solidFill>
              <a:srgbClr val="14532D"/>
            </a:solidFill>
            <a:prstDash val="solid"/>
          </a:ln>
          <a:effectLst>
            <a:outerShdw sx="100000" sy="100000" kx="0" ky="0" algn="bl" rotWithShape="0" blurRad="38100" dist="25400" dir="8100000">
              <a:srgbClr val="000000">
                <a:alpha val="20000"/>
              </a:srgbClr>
            </a:outerShdw>
          </a:effectLst>
        </p:spPr>
      </p:sp>
      <p:sp>
        <p:nvSpPr>
          <p:cNvPr id="28" name="Text 26"/>
          <p:cNvSpPr/>
          <p:nvPr/>
        </p:nvSpPr>
        <p:spPr>
          <a:xfrm>
            <a:off x="274320" y="3895344"/>
            <a:ext cx="1828800" cy="457200"/>
          </a:xfrm>
          <a:prstGeom prst="rect">
            <a:avLst/>
          </a:prstGeom>
          <a:noFill/>
          <a:ln/>
        </p:spPr>
        <p:txBody>
          <a:bodyPr wrap="square" lIns="0" tIns="0" rIns="0" bIns="0" rtlCol="0" anchor="ctr"/>
          <a:lstStyle/>
          <a:p>
            <a:pPr algn="ctr" indent="0" marL="0">
              <a:buNone/>
            </a:pPr>
            <a:r>
              <a:rPr lang="en-US" sz="1100" b="1" dirty="0">
                <a:solidFill>
                  <a:srgbClr val="22C55E"/>
                </a:solidFill>
                <a:latin typeface="Calibri" pitchFamily="34" charset="0"/>
                <a:ea typeface="Calibri" pitchFamily="34" charset="-122"/>
                <a:cs typeface="Calibri" pitchFamily="34" charset="-120"/>
              </a:rPr>
              <a:t>Entry</a:t>
            </a:r>
            <a:endParaRPr lang="en-US" sz="1100" dirty="0"/>
          </a:p>
          <a:p>
            <a:pPr algn="ctr" indent="0" marL="0">
              <a:buNone/>
            </a:pPr>
            <a:r>
              <a:rPr lang="en-US" sz="1100" b="1" dirty="0">
                <a:solidFill>
                  <a:srgbClr val="22C55E"/>
                </a:solidFill>
                <a:latin typeface="Calibri" pitchFamily="34" charset="0"/>
                <a:ea typeface="Calibri" pitchFamily="34" charset="-122"/>
                <a:cs typeface="Calibri" pitchFamily="34" charset="-120"/>
              </a:rPr>
              <a:t>Exit</a:t>
            </a:r>
            <a:endParaRPr lang="en-US" sz="1100" dirty="0"/>
          </a:p>
          <a:p>
            <a:pPr algn="ctr" indent="0" marL="0">
              <a:buNone/>
            </a:pPr>
            <a:r>
              <a:rPr lang="en-US" sz="1100" b="1" dirty="0">
                <a:solidFill>
                  <a:srgbClr val="22C55E"/>
                </a:solidFill>
                <a:latin typeface="Calibri" pitchFamily="34" charset="0"/>
                <a:ea typeface="Calibri" pitchFamily="34" charset="-122"/>
                <a:cs typeface="Calibri" pitchFamily="34" charset="-120"/>
              </a:rPr>
              <a:t>Reason</a:t>
            </a:r>
            <a:endParaRPr lang="en-US" sz="1100" dirty="0"/>
          </a:p>
        </p:txBody>
      </p:sp>
      <p:sp>
        <p:nvSpPr>
          <p:cNvPr id="29" name="Shape 27"/>
          <p:cNvSpPr/>
          <p:nvPr/>
        </p:nvSpPr>
        <p:spPr>
          <a:xfrm>
            <a:off x="2286000" y="3566160"/>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0" name="Text 28"/>
          <p:cNvSpPr/>
          <p:nvPr/>
        </p:nvSpPr>
        <p:spPr>
          <a:xfrm>
            <a:off x="2395728" y="365760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Entry  </a:t>
            </a:r>
            <a:pPr indent="0" marL="0">
              <a:buNone/>
            </a:pPr>
            <a:r>
              <a:rPr lang="en-US" sz="950" dirty="0">
                <a:solidFill>
                  <a:srgbClr val="FFFFFF"/>
                </a:solidFill>
                <a:latin typeface="Calibri" pitchFamily="34" charset="0"/>
                <a:ea typeface="Calibri" pitchFamily="34" charset="-122"/>
                <a:cs typeface="Calibri" pitchFamily="34" charset="-120"/>
              </a:rPr>
              <a:t>Buy bounce from the blue EMA line — price held and coiled above 6,624.25</a:t>
            </a:r>
            <a:endParaRPr lang="en-US" sz="950" dirty="0"/>
          </a:p>
        </p:txBody>
      </p:sp>
      <p:sp>
        <p:nvSpPr>
          <p:cNvPr id="31" name="Text 29"/>
          <p:cNvSpPr/>
          <p:nvPr/>
        </p:nvSpPr>
        <p:spPr>
          <a:xfrm>
            <a:off x="2395728" y="393192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Exit     </a:t>
            </a:r>
            <a:pPr indent="0" marL="0">
              <a:buNone/>
            </a:pPr>
            <a:r>
              <a:rPr lang="en-US" sz="950" dirty="0">
                <a:solidFill>
                  <a:srgbClr val="FFFFFF"/>
                </a:solidFill>
                <a:latin typeface="Calibri" pitchFamily="34" charset="0"/>
                <a:ea typeface="Calibri" pitchFamily="34" charset="-122"/>
                <a:cs typeface="Calibri" pitchFamily="34" charset="-120"/>
              </a:rPr>
              <a:t>Exit at previous swing high 6,643.75 — upper range boundary target</a:t>
            </a:r>
            <a:endParaRPr lang="en-US" sz="950" dirty="0"/>
          </a:p>
        </p:txBody>
      </p:sp>
      <p:sp>
        <p:nvSpPr>
          <p:cNvPr id="32" name="Shape 30"/>
          <p:cNvSpPr/>
          <p:nvPr/>
        </p:nvSpPr>
        <p:spPr>
          <a:xfrm>
            <a:off x="2395728" y="4206240"/>
            <a:ext cx="9418320" cy="9144"/>
          </a:xfrm>
          <a:prstGeom prst="rect">
            <a:avLst/>
          </a:prstGeom>
          <a:solidFill>
            <a:srgbClr val="334155"/>
          </a:solidFill>
          <a:ln w="12700">
            <a:solidFill>
              <a:srgbClr val="334155"/>
            </a:solidFill>
            <a:prstDash val="solid"/>
          </a:ln>
        </p:spPr>
      </p:sp>
      <p:sp>
        <p:nvSpPr>
          <p:cNvPr id="33" name="Text 31"/>
          <p:cNvSpPr/>
          <p:nvPr/>
        </p:nvSpPr>
        <p:spPr>
          <a:xfrm>
            <a:off x="2395728" y="4261104"/>
            <a:ext cx="9418320" cy="365760"/>
          </a:xfrm>
          <a:prstGeom prst="rect">
            <a:avLst/>
          </a:prstGeom>
          <a:noFill/>
          <a:ln/>
        </p:spPr>
        <p:txBody>
          <a:bodyPr wrap="square" lIns="0" tIns="0" rIns="0" bIns="0" rtlCol="0" anchor="ctr"/>
          <a:lstStyle/>
          <a:p>
            <a:pPr indent="0" marL="0">
              <a:buNone/>
            </a:pPr>
            <a:r>
              <a:rPr lang="en-US" sz="950" b="1" dirty="0">
                <a:solidFill>
                  <a:srgbClr val="FCA535"/>
                </a:solidFill>
                <a:latin typeface="Calibri" pitchFamily="34" charset="0"/>
                <a:ea typeface="Calibri" pitchFamily="34" charset="-122"/>
                <a:cs typeface="Calibri" pitchFamily="34" charset="-120"/>
              </a:rPr>
              <a:t>Reason  </a:t>
            </a:r>
            <a:pPr indent="0" marL="0">
              <a:buNone/>
            </a:pPr>
            <a:r>
              <a:rPr lang="en-US" sz="950" i="1" dirty="0">
                <a:solidFill>
                  <a:srgbClr val="94A3B8"/>
                </a:solidFill>
                <a:latin typeface="Calibri" pitchFamily="34" charset="0"/>
                <a:ea typeface="Calibri" pitchFamily="34" charset="-122"/>
                <a:cs typeface="Calibri" pitchFamily="34" charset="-120"/>
              </a:rPr>
              <a:t>Classic Buy the Dip in a developing intraday range. EMA acting as the floor. Price coiling above EMA signals bullish pressure building toward the upper boundary.</a:t>
            </a:r>
            <a:endParaRPr lang="en-US" sz="950" dirty="0"/>
          </a:p>
        </p:txBody>
      </p:sp>
      <p:sp>
        <p:nvSpPr>
          <p:cNvPr id="34" name="Shape 32"/>
          <p:cNvSpPr/>
          <p:nvPr/>
        </p:nvSpPr>
        <p:spPr>
          <a:xfrm>
            <a:off x="228600" y="4791456"/>
            <a:ext cx="1938528" cy="1115568"/>
          </a:xfrm>
          <a:prstGeom prst="rect">
            <a:avLst/>
          </a:prstGeom>
          <a:solidFill>
            <a:srgbClr val="411C02"/>
          </a:solidFill>
          <a:ln w="9525">
            <a:solidFill>
              <a:srgbClr val="854F0B"/>
            </a:solidFill>
            <a:prstDash val="solid"/>
          </a:ln>
          <a:effectLst>
            <a:outerShdw sx="100000" sy="100000" kx="0" ky="0" algn="bl" rotWithShape="0" blurRad="38100" dist="25400" dir="8100000">
              <a:srgbClr val="000000">
                <a:alpha val="20000"/>
              </a:srgbClr>
            </a:outerShdw>
          </a:effectLst>
        </p:spPr>
      </p:sp>
      <p:sp>
        <p:nvSpPr>
          <p:cNvPr id="35" name="Text 33"/>
          <p:cNvSpPr/>
          <p:nvPr/>
        </p:nvSpPr>
        <p:spPr>
          <a:xfrm>
            <a:off x="274320" y="5193792"/>
            <a:ext cx="1828800" cy="329184"/>
          </a:xfrm>
          <a:prstGeom prst="rect">
            <a:avLst/>
          </a:prstGeom>
          <a:noFill/>
          <a:ln/>
        </p:spPr>
        <p:txBody>
          <a:bodyPr wrap="square" lIns="0" tIns="0" rIns="0" bIns="0" rtlCol="0" anchor="ctr"/>
          <a:lstStyle/>
          <a:p>
            <a:pPr algn="ctr" indent="0" marL="0">
              <a:buNone/>
            </a:pPr>
            <a:r>
              <a:rPr lang="en-US" sz="1200" b="1" dirty="0">
                <a:solidFill>
                  <a:srgbClr val="FCA535"/>
                </a:solidFill>
                <a:latin typeface="Calibri" pitchFamily="34" charset="0"/>
                <a:ea typeface="Calibri" pitchFamily="34" charset="-122"/>
                <a:cs typeface="Calibri" pitchFamily="34" charset="-120"/>
              </a:rPr>
              <a:t>Lesson</a:t>
            </a:r>
            <a:endParaRPr lang="en-US" sz="1200" dirty="0"/>
          </a:p>
          <a:p>
            <a:pPr algn="ctr" indent="0" marL="0">
              <a:buNone/>
            </a:pPr>
            <a:r>
              <a:rPr lang="en-US" sz="1200" b="1" dirty="0">
                <a:solidFill>
                  <a:srgbClr val="FCA535"/>
                </a:solidFill>
                <a:latin typeface="Calibri" pitchFamily="34" charset="0"/>
                <a:ea typeface="Calibri" pitchFamily="34" charset="-122"/>
                <a:cs typeface="Calibri" pitchFamily="34" charset="-120"/>
              </a:rPr>
              <a:t>Learnt</a:t>
            </a:r>
            <a:endParaRPr lang="en-US" sz="1200" dirty="0"/>
          </a:p>
        </p:txBody>
      </p:sp>
      <p:sp>
        <p:nvSpPr>
          <p:cNvPr id="36" name="Shape 34"/>
          <p:cNvSpPr/>
          <p:nvPr/>
        </p:nvSpPr>
        <p:spPr>
          <a:xfrm>
            <a:off x="2286000" y="4791456"/>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7" name="Text 35"/>
          <p:cNvSpPr/>
          <p:nvPr/>
        </p:nvSpPr>
        <p:spPr>
          <a:xfrm>
            <a:off x="2395728" y="4901184"/>
            <a:ext cx="9418320" cy="914400"/>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Once the EMA holds on a retest and bars start overlapping above it, the range rotation trade is on. The previous swing high is always the first target — not because it is a guess but because it represents the last time sellers showed up. Using the EMA as a floor gives you a tight, clearly defined stop.</a:t>
            </a:r>
            <a:endParaRPr lang="en-US" sz="950" dirty="0"/>
          </a:p>
        </p:txBody>
      </p:sp>
      <p:sp>
        <p:nvSpPr>
          <p:cNvPr id="38" name="Text 36"/>
          <p:cNvSpPr/>
          <p:nvPr/>
        </p:nvSpPr>
        <p:spPr>
          <a:xfrm>
            <a:off x="228600" y="6035040"/>
            <a:ext cx="11704320" cy="164592"/>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Trade card  ·  T02  ·  Range Rotation  ·  MESM6 5m  ·  Mar 19, 2026  ·  Personal trade journal — not financial advice</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512064"/>
          </a:xfrm>
          <a:prstGeom prst="rect">
            <a:avLst/>
          </a:prstGeom>
          <a:solidFill>
            <a:srgbClr val="450A0A"/>
          </a:solidFill>
          <a:ln w="12700">
            <a:solidFill>
              <a:srgbClr val="450A0A"/>
            </a:solidFill>
            <a:prstDash val="solid"/>
          </a:ln>
        </p:spPr>
      </p:sp>
      <p:sp>
        <p:nvSpPr>
          <p:cNvPr id="3" name="Text 1"/>
          <p:cNvSpPr/>
          <p:nvPr/>
        </p:nvSpPr>
        <p:spPr>
          <a:xfrm>
            <a:off x="228600" y="82296"/>
            <a:ext cx="7772400" cy="329184"/>
          </a:xfrm>
          <a:prstGeom prst="rect">
            <a:avLst/>
          </a:prstGeom>
          <a:noFill/>
          <a:ln/>
        </p:spPr>
        <p:txBody>
          <a:bodyPr wrap="square" lIns="0" tIns="0" rIns="0" bIns="0"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  T03  ·  Trap &amp; Flush  ·  SHORT  ·  Bars 25–33</a:t>
            </a:r>
            <a:endParaRPr lang="en-US" sz="1400" dirty="0"/>
          </a:p>
        </p:txBody>
      </p:sp>
      <p:sp>
        <p:nvSpPr>
          <p:cNvPr id="4" name="Text 2"/>
          <p:cNvSpPr/>
          <p:nvPr/>
        </p:nvSpPr>
        <p:spPr>
          <a:xfrm>
            <a:off x="8046720" y="82296"/>
            <a:ext cx="3886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MESM6  5m  ·  Mar 19, 2026</a:t>
            </a:r>
            <a:endParaRPr lang="en-US" sz="900" dirty="0"/>
          </a:p>
        </p:txBody>
      </p:sp>
      <p:sp>
        <p:nvSpPr>
          <p:cNvPr id="5" name="Text 3"/>
          <p:cNvSpPr/>
          <p:nvPr/>
        </p:nvSpPr>
        <p:spPr>
          <a:xfrm>
            <a:off x="8046720" y="256032"/>
            <a:ext cx="3886200" cy="219456"/>
          </a:xfrm>
          <a:prstGeom prst="rect">
            <a:avLst/>
          </a:prstGeom>
          <a:noFill/>
          <a:ln/>
        </p:spPr>
        <p:txBody>
          <a:bodyPr wrap="square" lIns="0" tIns="0" rIns="0" bIns="0" rtlCol="0" anchor="ctr"/>
          <a:lstStyle/>
          <a:p>
            <a:pPr algn="r" indent="0" marL="0">
              <a:buNone/>
            </a:pPr>
            <a:r>
              <a:rPr lang="en-US" sz="1500" b="1" dirty="0">
                <a:solidFill>
                  <a:srgbClr val="FCA5A5"/>
                </a:solidFill>
                <a:latin typeface="Calibri" pitchFamily="34" charset="0"/>
                <a:ea typeface="Calibri" pitchFamily="34" charset="-122"/>
                <a:cs typeface="Calibri" pitchFamily="34" charset="-120"/>
              </a:rPr>
              <a:t>+$82.50</a:t>
            </a:r>
            <a:endParaRPr lang="en-US" sz="1500" dirty="0"/>
          </a:p>
        </p:txBody>
      </p:sp>
      <p:sp>
        <p:nvSpPr>
          <p:cNvPr id="6" name="Shape 4"/>
          <p:cNvSpPr/>
          <p:nvPr/>
        </p:nvSpPr>
        <p:spPr>
          <a:xfrm>
            <a:off x="2286000" y="621792"/>
            <a:ext cx="9646920" cy="384048"/>
          </a:xfrm>
          <a:prstGeom prst="rect">
            <a:avLst/>
          </a:prstGeom>
          <a:solidFill>
            <a:srgbClr val="450A0A"/>
          </a:solidFill>
          <a:ln w="6350">
            <a:solidFill>
              <a:srgbClr val="7F1D1D"/>
            </a:solidFill>
            <a:prstDash val="solid"/>
          </a:ln>
        </p:spPr>
      </p:sp>
      <p:sp>
        <p:nvSpPr>
          <p:cNvPr id="7" name="Text 5"/>
          <p:cNvSpPr/>
          <p:nvPr/>
        </p:nvSpPr>
        <p:spPr>
          <a:xfrm>
            <a:off x="2286000" y="685800"/>
            <a:ext cx="9646920" cy="256032"/>
          </a:xfrm>
          <a:prstGeom prst="rect">
            <a:avLst/>
          </a:prstGeom>
          <a:noFill/>
          <a:ln/>
        </p:spPr>
        <p:txBody>
          <a:bodyPr wrap="square" lIns="0" tIns="0" rIns="0" bIns="0" rtlCol="0" anchor="ctr"/>
          <a:lstStyle/>
          <a:p>
            <a:pPr algn="ctr" indent="0" marL="0">
              <a:buNone/>
            </a:pPr>
            <a:r>
              <a:rPr lang="en-US" sz="1200" b="1" dirty="0">
                <a:solidFill>
                  <a:srgbClr val="EF4444"/>
                </a:solidFill>
                <a:latin typeface="Calibri" pitchFamily="34" charset="0"/>
                <a:ea typeface="Calibri" pitchFamily="34" charset="-122"/>
                <a:cs typeface="Calibri" pitchFamily="34" charset="-120"/>
              </a:rPr>
              <a:t>TRADE EXPLANATION</a:t>
            </a:r>
            <a:endParaRPr lang="en-US" sz="1200" dirty="0"/>
          </a:p>
        </p:txBody>
      </p:sp>
      <p:sp>
        <p:nvSpPr>
          <p:cNvPr id="8" name="Shape 6"/>
          <p:cNvSpPr/>
          <p:nvPr/>
        </p:nvSpPr>
        <p:spPr>
          <a:xfrm>
            <a:off x="228600" y="1115568"/>
            <a:ext cx="1938528" cy="1115568"/>
          </a:xfrm>
          <a:prstGeom prst="rect">
            <a:avLst/>
          </a:prstGeom>
          <a:solidFill>
            <a:srgbClr val="0D2E38"/>
          </a:solidFill>
          <a:ln w="9525">
            <a:solidFill>
              <a:srgbClr val="134E5E"/>
            </a:solidFill>
            <a:prstDash val="solid"/>
          </a:ln>
          <a:effectLst>
            <a:outerShdw sx="100000" sy="100000" kx="0" ky="0" algn="bl" rotWithShape="0" blurRad="38100" dist="25400" dir="8100000">
              <a:srgbClr val="000000">
                <a:alpha val="20000"/>
              </a:srgbClr>
            </a:outerShdw>
          </a:effectLst>
        </p:spPr>
      </p:sp>
      <p:sp>
        <p:nvSpPr>
          <p:cNvPr id="9" name="Text 7"/>
          <p:cNvSpPr/>
          <p:nvPr/>
        </p:nvSpPr>
        <p:spPr>
          <a:xfrm>
            <a:off x="274320" y="1536192"/>
            <a:ext cx="1828800" cy="274320"/>
          </a:xfrm>
          <a:prstGeom prst="rect">
            <a:avLst/>
          </a:prstGeom>
          <a:noFill/>
          <a:ln/>
        </p:spPr>
        <p:txBody>
          <a:bodyPr wrap="square" lIns="0" tIns="0" rIns="0" bIns="0" rtlCol="0" anchor="ctr"/>
          <a:lstStyle/>
          <a:p>
            <a:pPr algn="ctr" indent="0" marL="0">
              <a:buNone/>
            </a:pPr>
            <a:r>
              <a:rPr lang="en-US" sz="1200" b="1" dirty="0">
                <a:solidFill>
                  <a:srgbClr val="2DD4BF"/>
                </a:solidFill>
                <a:latin typeface="Calibri" pitchFamily="34" charset="0"/>
                <a:ea typeface="Calibri" pitchFamily="34" charset="-122"/>
                <a:cs typeface="Calibri" pitchFamily="34" charset="-120"/>
              </a:rPr>
              <a:t>Charting</a:t>
            </a:r>
            <a:endParaRPr lang="en-US" sz="1200" dirty="0"/>
          </a:p>
        </p:txBody>
      </p:sp>
      <p:sp>
        <p:nvSpPr>
          <p:cNvPr id="10" name="Shape 8"/>
          <p:cNvSpPr/>
          <p:nvPr/>
        </p:nvSpPr>
        <p:spPr>
          <a:xfrm>
            <a:off x="2286000" y="1115568"/>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11" name="Text 9"/>
          <p:cNvSpPr/>
          <p:nvPr/>
        </p:nvSpPr>
        <p:spPr>
          <a:xfrm>
            <a:off x="2395728" y="1207008"/>
            <a:ext cx="941832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1:00–1:45 PM  ·  Bars 25–33</a:t>
            </a:r>
            <a:endParaRPr lang="en-US" sz="850" dirty="0"/>
          </a:p>
        </p:txBody>
      </p:sp>
      <p:sp>
        <p:nvSpPr>
          <p:cNvPr id="12" name="Text 10"/>
          <p:cNvSpPr/>
          <p:nvPr/>
        </p:nvSpPr>
        <p:spPr>
          <a:xfrm>
            <a:off x="239572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Entry</a:t>
            </a:r>
            <a:endParaRPr lang="en-US" sz="800" dirty="0"/>
          </a:p>
        </p:txBody>
      </p:sp>
      <p:sp>
        <p:nvSpPr>
          <p:cNvPr id="13" name="Text 11"/>
          <p:cNvSpPr/>
          <p:nvPr/>
        </p:nvSpPr>
        <p:spPr>
          <a:xfrm>
            <a:off x="239572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6,634.00</a:t>
            </a:r>
            <a:endParaRPr lang="en-US" sz="1300" dirty="0"/>
          </a:p>
        </p:txBody>
      </p:sp>
      <p:sp>
        <p:nvSpPr>
          <p:cNvPr id="14" name="Text 12"/>
          <p:cNvSpPr/>
          <p:nvPr/>
        </p:nvSpPr>
        <p:spPr>
          <a:xfrm>
            <a:off x="477316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Exit</a:t>
            </a:r>
            <a:endParaRPr lang="en-US" sz="800" dirty="0"/>
          </a:p>
        </p:txBody>
      </p:sp>
      <p:sp>
        <p:nvSpPr>
          <p:cNvPr id="15" name="Text 13"/>
          <p:cNvSpPr/>
          <p:nvPr/>
        </p:nvSpPr>
        <p:spPr>
          <a:xfrm>
            <a:off x="477316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6,617.50</a:t>
            </a:r>
            <a:endParaRPr lang="en-US" sz="1300" dirty="0"/>
          </a:p>
        </p:txBody>
      </p:sp>
      <p:sp>
        <p:nvSpPr>
          <p:cNvPr id="16" name="Text 14"/>
          <p:cNvSpPr/>
          <p:nvPr/>
        </p:nvSpPr>
        <p:spPr>
          <a:xfrm>
            <a:off x="715060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Ticks</a:t>
            </a:r>
            <a:endParaRPr lang="en-US" sz="800" dirty="0"/>
          </a:p>
        </p:txBody>
      </p:sp>
      <p:sp>
        <p:nvSpPr>
          <p:cNvPr id="17" name="Text 15"/>
          <p:cNvSpPr/>
          <p:nvPr/>
        </p:nvSpPr>
        <p:spPr>
          <a:xfrm>
            <a:off x="715060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+66 ticks</a:t>
            </a:r>
            <a:endParaRPr lang="en-US" sz="1300" dirty="0"/>
          </a:p>
        </p:txBody>
      </p:sp>
      <p:sp>
        <p:nvSpPr>
          <p:cNvPr id="18" name="Text 16"/>
          <p:cNvSpPr/>
          <p:nvPr/>
        </p:nvSpPr>
        <p:spPr>
          <a:xfrm>
            <a:off x="952804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PnL</a:t>
            </a:r>
            <a:endParaRPr lang="en-US" sz="800" dirty="0"/>
          </a:p>
        </p:txBody>
      </p:sp>
      <p:sp>
        <p:nvSpPr>
          <p:cNvPr id="19" name="Text 17"/>
          <p:cNvSpPr/>
          <p:nvPr/>
        </p:nvSpPr>
        <p:spPr>
          <a:xfrm>
            <a:off x="952804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+$82.50</a:t>
            </a:r>
            <a:endParaRPr lang="en-US" sz="1300" dirty="0"/>
          </a:p>
        </p:txBody>
      </p:sp>
      <p:sp>
        <p:nvSpPr>
          <p:cNvPr id="20" name="Shape 18"/>
          <p:cNvSpPr/>
          <p:nvPr/>
        </p:nvSpPr>
        <p:spPr>
          <a:xfrm>
            <a:off x="228600" y="2340864"/>
            <a:ext cx="1938528" cy="1115568"/>
          </a:xfrm>
          <a:prstGeom prst="rect">
            <a:avLst/>
          </a:prstGeom>
          <a:solidFill>
            <a:srgbClr val="450A0A"/>
          </a:solidFill>
          <a:ln w="9525">
            <a:solidFill>
              <a:srgbClr val="7F1D1D"/>
            </a:solidFill>
            <a:prstDash val="solid"/>
          </a:ln>
          <a:effectLst>
            <a:outerShdw sx="100000" sy="100000" kx="0" ky="0" algn="bl" rotWithShape="0" blurRad="38100" dist="25400" dir="8100000">
              <a:srgbClr val="000000">
                <a:alpha val="20000"/>
              </a:srgbClr>
            </a:outerShdw>
          </a:effectLst>
        </p:spPr>
      </p:sp>
      <p:sp>
        <p:nvSpPr>
          <p:cNvPr id="21" name="Text 19"/>
          <p:cNvSpPr/>
          <p:nvPr/>
        </p:nvSpPr>
        <p:spPr>
          <a:xfrm>
            <a:off x="274320" y="2761488"/>
            <a:ext cx="1828800" cy="274320"/>
          </a:xfrm>
          <a:prstGeom prst="rect">
            <a:avLst/>
          </a:prstGeom>
          <a:noFill/>
          <a:ln/>
        </p:spPr>
        <p:txBody>
          <a:bodyPr wrap="square" lIns="0" tIns="0" rIns="0" bIns="0" rtlCol="0" anchor="ctr"/>
          <a:lstStyle/>
          <a:p>
            <a:pPr algn="ctr" indent="0" marL="0">
              <a:buNone/>
            </a:pPr>
            <a:r>
              <a:rPr lang="en-US" sz="1200" b="1" dirty="0">
                <a:solidFill>
                  <a:srgbClr val="EF4444"/>
                </a:solidFill>
                <a:latin typeface="Calibri" pitchFamily="34" charset="0"/>
                <a:ea typeface="Calibri" pitchFamily="34" charset="-122"/>
                <a:cs typeface="Calibri" pitchFamily="34" charset="-120"/>
              </a:rPr>
              <a:t>Context</a:t>
            </a:r>
            <a:endParaRPr lang="en-US" sz="1200" dirty="0"/>
          </a:p>
        </p:txBody>
      </p:sp>
      <p:sp>
        <p:nvSpPr>
          <p:cNvPr id="22" name="Shape 20"/>
          <p:cNvSpPr/>
          <p:nvPr/>
        </p:nvSpPr>
        <p:spPr>
          <a:xfrm>
            <a:off x="2286000" y="2340864"/>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23" name="Text 21"/>
          <p:cNvSpPr/>
          <p:nvPr/>
        </p:nvSpPr>
        <p:spPr>
          <a:xfrm>
            <a:off x="2395728" y="2432304"/>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Failed breakout:  </a:t>
            </a:r>
            <a:pPr indent="0" marL="0">
              <a:buNone/>
            </a:pPr>
            <a:r>
              <a:rPr lang="en-US" sz="950" dirty="0">
                <a:solidFill>
                  <a:srgbClr val="94A3B8"/>
                </a:solidFill>
                <a:latin typeface="Calibri" pitchFamily="34" charset="0"/>
                <a:ea typeface="Calibri" pitchFamily="34" charset="-122"/>
                <a:cs typeface="Calibri" pitchFamily="34" charset="-120"/>
              </a:rPr>
              <a:t>Bulls could not sustain a close above upper resistance — trap sprung</a:t>
            </a:r>
            <a:endParaRPr lang="en-US" sz="950" dirty="0"/>
          </a:p>
        </p:txBody>
      </p:sp>
      <p:sp>
        <p:nvSpPr>
          <p:cNvPr id="24" name="Text 22"/>
          <p:cNvSpPr/>
          <p:nvPr/>
        </p:nvSpPr>
        <p:spPr>
          <a:xfrm>
            <a:off x="2395728" y="2688336"/>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EMA breakdown:  </a:t>
            </a:r>
            <a:pPr indent="0" marL="0">
              <a:buNone/>
            </a:pPr>
            <a:r>
              <a:rPr lang="en-US" sz="950" dirty="0">
                <a:solidFill>
                  <a:srgbClr val="94A3B8"/>
                </a:solidFill>
                <a:latin typeface="Calibri" pitchFamily="34" charset="0"/>
                <a:ea typeface="Calibri" pitchFamily="34" charset="-122"/>
                <a:cs typeface="Calibri" pitchFamily="34" charset="-120"/>
              </a:rPr>
              <a:t>Price closed back below the 20 EMA — structure shifted bearish</a:t>
            </a:r>
            <a:endParaRPr lang="en-US" sz="950" dirty="0"/>
          </a:p>
        </p:txBody>
      </p:sp>
      <p:sp>
        <p:nvSpPr>
          <p:cNvPr id="25" name="Text 23"/>
          <p:cNvSpPr/>
          <p:nvPr/>
        </p:nvSpPr>
        <p:spPr>
          <a:xfrm>
            <a:off x="2395728" y="2944368"/>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Trapped longs:  </a:t>
            </a:r>
            <a:pPr indent="0" marL="0">
              <a:buNone/>
            </a:pPr>
            <a:r>
              <a:rPr lang="en-US" sz="950" dirty="0">
                <a:solidFill>
                  <a:srgbClr val="94A3B8"/>
                </a:solidFill>
                <a:latin typeface="Calibri" pitchFamily="34" charset="0"/>
                <a:ea typeface="Calibri" pitchFamily="34" charset="-122"/>
                <a:cs typeface="Calibri" pitchFamily="34" charset="-120"/>
              </a:rPr>
              <a:t>T02 buyers now trapped above resistance — forced selling adds pressure</a:t>
            </a:r>
            <a:endParaRPr lang="en-US" sz="950" dirty="0"/>
          </a:p>
        </p:txBody>
      </p:sp>
      <p:sp>
        <p:nvSpPr>
          <p:cNvPr id="26" name="Text 24"/>
          <p:cNvSpPr/>
          <p:nvPr/>
        </p:nvSpPr>
        <p:spPr>
          <a:xfrm>
            <a:off x="2395728" y="3200400"/>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1:1 MM target:  </a:t>
            </a:r>
            <a:pPr indent="0" marL="0">
              <a:buNone/>
            </a:pPr>
            <a:r>
              <a:rPr lang="en-US" sz="950" dirty="0">
                <a:solidFill>
                  <a:srgbClr val="94A3B8"/>
                </a:solidFill>
                <a:latin typeface="Calibri" pitchFamily="34" charset="0"/>
                <a:ea typeface="Calibri" pitchFamily="34" charset="-122"/>
                <a:cs typeface="Calibri" pitchFamily="34" charset="-120"/>
              </a:rPr>
              <a:t>Measured move of opening range projected down = 6,617.50 flush target</a:t>
            </a:r>
            <a:endParaRPr lang="en-US" sz="950" dirty="0"/>
          </a:p>
        </p:txBody>
      </p:sp>
      <p:sp>
        <p:nvSpPr>
          <p:cNvPr id="27" name="Shape 25"/>
          <p:cNvSpPr/>
          <p:nvPr/>
        </p:nvSpPr>
        <p:spPr>
          <a:xfrm>
            <a:off x="228600" y="3566160"/>
            <a:ext cx="1938528" cy="1115568"/>
          </a:xfrm>
          <a:prstGeom prst="rect">
            <a:avLst/>
          </a:prstGeom>
          <a:solidFill>
            <a:srgbClr val="450A0A"/>
          </a:solidFill>
          <a:ln w="9525">
            <a:solidFill>
              <a:srgbClr val="7F1D1D"/>
            </a:solidFill>
            <a:prstDash val="solid"/>
          </a:ln>
          <a:effectLst>
            <a:outerShdw sx="100000" sy="100000" kx="0" ky="0" algn="bl" rotWithShape="0" blurRad="38100" dist="25400" dir="8100000">
              <a:srgbClr val="000000">
                <a:alpha val="20000"/>
              </a:srgbClr>
            </a:outerShdw>
          </a:effectLst>
        </p:spPr>
      </p:sp>
      <p:sp>
        <p:nvSpPr>
          <p:cNvPr id="28" name="Text 26"/>
          <p:cNvSpPr/>
          <p:nvPr/>
        </p:nvSpPr>
        <p:spPr>
          <a:xfrm>
            <a:off x="274320" y="3895344"/>
            <a:ext cx="1828800" cy="457200"/>
          </a:xfrm>
          <a:prstGeom prst="rect">
            <a:avLst/>
          </a:prstGeom>
          <a:noFill/>
          <a:ln/>
        </p:spPr>
        <p:txBody>
          <a:bodyPr wrap="square" lIns="0" tIns="0" rIns="0" bIns="0" rtlCol="0" anchor="ctr"/>
          <a:lstStyle/>
          <a:p>
            <a:pPr algn="ctr" indent="0" marL="0">
              <a:buNone/>
            </a:pPr>
            <a:r>
              <a:rPr lang="en-US" sz="1100" b="1" dirty="0">
                <a:solidFill>
                  <a:srgbClr val="EF4444"/>
                </a:solidFill>
                <a:latin typeface="Calibri" pitchFamily="34" charset="0"/>
                <a:ea typeface="Calibri" pitchFamily="34" charset="-122"/>
                <a:cs typeface="Calibri" pitchFamily="34" charset="-120"/>
              </a:rPr>
              <a:t>Entry</a:t>
            </a:r>
            <a:endParaRPr lang="en-US" sz="1100" dirty="0"/>
          </a:p>
          <a:p>
            <a:pPr algn="ctr" indent="0" marL="0">
              <a:buNone/>
            </a:pPr>
            <a:r>
              <a:rPr lang="en-US" sz="1100" b="1" dirty="0">
                <a:solidFill>
                  <a:srgbClr val="EF4444"/>
                </a:solidFill>
                <a:latin typeface="Calibri" pitchFamily="34" charset="0"/>
                <a:ea typeface="Calibri" pitchFamily="34" charset="-122"/>
                <a:cs typeface="Calibri" pitchFamily="34" charset="-120"/>
              </a:rPr>
              <a:t>Exit</a:t>
            </a:r>
            <a:endParaRPr lang="en-US" sz="1100" dirty="0"/>
          </a:p>
          <a:p>
            <a:pPr algn="ctr" indent="0" marL="0">
              <a:buNone/>
            </a:pPr>
            <a:r>
              <a:rPr lang="en-US" sz="1100" b="1" dirty="0">
                <a:solidFill>
                  <a:srgbClr val="EF4444"/>
                </a:solidFill>
                <a:latin typeface="Calibri" pitchFamily="34" charset="0"/>
                <a:ea typeface="Calibri" pitchFamily="34" charset="-122"/>
                <a:cs typeface="Calibri" pitchFamily="34" charset="-120"/>
              </a:rPr>
              <a:t>Reason</a:t>
            </a:r>
            <a:endParaRPr lang="en-US" sz="1100" dirty="0"/>
          </a:p>
        </p:txBody>
      </p:sp>
      <p:sp>
        <p:nvSpPr>
          <p:cNvPr id="29" name="Shape 27"/>
          <p:cNvSpPr/>
          <p:nvPr/>
        </p:nvSpPr>
        <p:spPr>
          <a:xfrm>
            <a:off x="2286000" y="3566160"/>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0" name="Text 28"/>
          <p:cNvSpPr/>
          <p:nvPr/>
        </p:nvSpPr>
        <p:spPr>
          <a:xfrm>
            <a:off x="2395728" y="365760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Entry  </a:t>
            </a:r>
            <a:pPr indent="0" marL="0">
              <a:buNone/>
            </a:pPr>
            <a:r>
              <a:rPr lang="en-US" sz="950" dirty="0">
                <a:solidFill>
                  <a:srgbClr val="FFFFFF"/>
                </a:solidFill>
                <a:latin typeface="Calibri" pitchFamily="34" charset="0"/>
                <a:ea typeface="Calibri" pitchFamily="34" charset="-122"/>
                <a:cs typeface="Calibri" pitchFamily="34" charset="-120"/>
              </a:rPr>
              <a:t>Sell breakdown below EMA level at 6,634.00 — confirmed close below the line</a:t>
            </a:r>
            <a:endParaRPr lang="en-US" sz="950" dirty="0"/>
          </a:p>
        </p:txBody>
      </p:sp>
      <p:sp>
        <p:nvSpPr>
          <p:cNvPr id="31" name="Text 29"/>
          <p:cNvSpPr/>
          <p:nvPr/>
        </p:nvSpPr>
        <p:spPr>
          <a:xfrm>
            <a:off x="2395728" y="393192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Exit     </a:t>
            </a:r>
            <a:pPr indent="0" marL="0">
              <a:buNone/>
            </a:pPr>
            <a:r>
              <a:rPr lang="en-US" sz="950" dirty="0">
                <a:solidFill>
                  <a:srgbClr val="FFFFFF"/>
                </a:solidFill>
                <a:latin typeface="Calibri" pitchFamily="34" charset="0"/>
                <a:ea typeface="Calibri" pitchFamily="34" charset="-122"/>
                <a:cs typeface="Calibri" pitchFamily="34" charset="-120"/>
              </a:rPr>
              <a:t>Exit at the 1:1 Measured Move of the opening range — 6,617.50</a:t>
            </a:r>
            <a:endParaRPr lang="en-US" sz="950" dirty="0"/>
          </a:p>
        </p:txBody>
      </p:sp>
      <p:sp>
        <p:nvSpPr>
          <p:cNvPr id="32" name="Shape 30"/>
          <p:cNvSpPr/>
          <p:nvPr/>
        </p:nvSpPr>
        <p:spPr>
          <a:xfrm>
            <a:off x="2395728" y="4206240"/>
            <a:ext cx="9418320" cy="9144"/>
          </a:xfrm>
          <a:prstGeom prst="rect">
            <a:avLst/>
          </a:prstGeom>
          <a:solidFill>
            <a:srgbClr val="334155"/>
          </a:solidFill>
          <a:ln w="12700">
            <a:solidFill>
              <a:srgbClr val="334155"/>
            </a:solidFill>
            <a:prstDash val="solid"/>
          </a:ln>
        </p:spPr>
      </p:sp>
      <p:sp>
        <p:nvSpPr>
          <p:cNvPr id="33" name="Text 31"/>
          <p:cNvSpPr/>
          <p:nvPr/>
        </p:nvSpPr>
        <p:spPr>
          <a:xfrm>
            <a:off x="2395728" y="4261104"/>
            <a:ext cx="9418320" cy="365760"/>
          </a:xfrm>
          <a:prstGeom prst="rect">
            <a:avLst/>
          </a:prstGeom>
          <a:noFill/>
          <a:ln/>
        </p:spPr>
        <p:txBody>
          <a:bodyPr wrap="square" lIns="0" tIns="0" rIns="0" bIns="0" rtlCol="0" anchor="ctr"/>
          <a:lstStyle/>
          <a:p>
            <a:pPr indent="0" marL="0">
              <a:buNone/>
            </a:pPr>
            <a:r>
              <a:rPr lang="en-US" sz="950" b="1" dirty="0">
                <a:solidFill>
                  <a:srgbClr val="FCA535"/>
                </a:solidFill>
                <a:latin typeface="Calibri" pitchFamily="34" charset="0"/>
                <a:ea typeface="Calibri" pitchFamily="34" charset="-122"/>
                <a:cs typeface="Calibri" pitchFamily="34" charset="-120"/>
              </a:rPr>
              <a:t>Reason  </a:t>
            </a:r>
            <a:pPr indent="0" marL="0">
              <a:buNone/>
            </a:pPr>
            <a:r>
              <a:rPr lang="en-US" sz="950" i="1" dirty="0">
                <a:solidFill>
                  <a:srgbClr val="94A3B8"/>
                </a:solidFill>
                <a:latin typeface="Calibri" pitchFamily="34" charset="0"/>
                <a:ea typeface="Calibri" pitchFamily="34" charset="-122"/>
                <a:cs typeface="Calibri" pitchFamily="34" charset="-120"/>
              </a:rPr>
              <a:t>If the top of the box fails, the bottom is the target. Trapped bulls accelerate the flush. Mid-day liquidity sitting at the range lows gives a clean measured move exit.</a:t>
            </a:r>
            <a:endParaRPr lang="en-US" sz="950" dirty="0"/>
          </a:p>
        </p:txBody>
      </p:sp>
      <p:sp>
        <p:nvSpPr>
          <p:cNvPr id="34" name="Shape 32"/>
          <p:cNvSpPr/>
          <p:nvPr/>
        </p:nvSpPr>
        <p:spPr>
          <a:xfrm>
            <a:off x="228600" y="4791456"/>
            <a:ext cx="1938528" cy="1115568"/>
          </a:xfrm>
          <a:prstGeom prst="rect">
            <a:avLst/>
          </a:prstGeom>
          <a:solidFill>
            <a:srgbClr val="411C02"/>
          </a:solidFill>
          <a:ln w="9525">
            <a:solidFill>
              <a:srgbClr val="854F0B"/>
            </a:solidFill>
            <a:prstDash val="solid"/>
          </a:ln>
          <a:effectLst>
            <a:outerShdw sx="100000" sy="100000" kx="0" ky="0" algn="bl" rotWithShape="0" blurRad="38100" dist="25400" dir="8100000">
              <a:srgbClr val="000000">
                <a:alpha val="20000"/>
              </a:srgbClr>
            </a:outerShdw>
          </a:effectLst>
        </p:spPr>
      </p:sp>
      <p:sp>
        <p:nvSpPr>
          <p:cNvPr id="35" name="Text 33"/>
          <p:cNvSpPr/>
          <p:nvPr/>
        </p:nvSpPr>
        <p:spPr>
          <a:xfrm>
            <a:off x="274320" y="5193792"/>
            <a:ext cx="1828800" cy="329184"/>
          </a:xfrm>
          <a:prstGeom prst="rect">
            <a:avLst/>
          </a:prstGeom>
          <a:noFill/>
          <a:ln/>
        </p:spPr>
        <p:txBody>
          <a:bodyPr wrap="square" lIns="0" tIns="0" rIns="0" bIns="0" rtlCol="0" anchor="ctr"/>
          <a:lstStyle/>
          <a:p>
            <a:pPr algn="ctr" indent="0" marL="0">
              <a:buNone/>
            </a:pPr>
            <a:r>
              <a:rPr lang="en-US" sz="1200" b="1" dirty="0">
                <a:solidFill>
                  <a:srgbClr val="FCA535"/>
                </a:solidFill>
                <a:latin typeface="Calibri" pitchFamily="34" charset="0"/>
                <a:ea typeface="Calibri" pitchFamily="34" charset="-122"/>
                <a:cs typeface="Calibri" pitchFamily="34" charset="-120"/>
              </a:rPr>
              <a:t>Lesson</a:t>
            </a:r>
            <a:endParaRPr lang="en-US" sz="1200" dirty="0"/>
          </a:p>
          <a:p>
            <a:pPr algn="ctr" indent="0" marL="0">
              <a:buNone/>
            </a:pPr>
            <a:r>
              <a:rPr lang="en-US" sz="1200" b="1" dirty="0">
                <a:solidFill>
                  <a:srgbClr val="FCA535"/>
                </a:solidFill>
                <a:latin typeface="Calibri" pitchFamily="34" charset="0"/>
                <a:ea typeface="Calibri" pitchFamily="34" charset="-122"/>
                <a:cs typeface="Calibri" pitchFamily="34" charset="-120"/>
              </a:rPr>
              <a:t>Learnt</a:t>
            </a:r>
            <a:endParaRPr lang="en-US" sz="1200" dirty="0"/>
          </a:p>
        </p:txBody>
      </p:sp>
      <p:sp>
        <p:nvSpPr>
          <p:cNvPr id="36" name="Shape 34"/>
          <p:cNvSpPr/>
          <p:nvPr/>
        </p:nvSpPr>
        <p:spPr>
          <a:xfrm>
            <a:off x="2286000" y="4791456"/>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7" name="Text 35"/>
          <p:cNvSpPr/>
          <p:nvPr/>
        </p:nvSpPr>
        <p:spPr>
          <a:xfrm>
            <a:off x="2395728" y="4901184"/>
            <a:ext cx="9418320" cy="914400"/>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The Trap &amp; Flush is one of the most reliable mid-day setups. When price fails to break the top of the range and closes back below the EMA, the longs who bought the breakout become the fuel for the sell-off. You are not just trading price — you are trading the pain of trapped positions. The 1:1 measured move is non-negotiable as the first target.</a:t>
            </a:r>
            <a:endParaRPr lang="en-US" sz="950" dirty="0"/>
          </a:p>
        </p:txBody>
      </p:sp>
      <p:sp>
        <p:nvSpPr>
          <p:cNvPr id="38" name="Text 36"/>
          <p:cNvSpPr/>
          <p:nvPr/>
        </p:nvSpPr>
        <p:spPr>
          <a:xfrm>
            <a:off x="228600" y="6035040"/>
            <a:ext cx="11704320" cy="164592"/>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Trade card  ·  T03  ·  Trap &amp; Flush  ·  MESM6 5m  ·  Mar 19, 2026  ·  Personal trade journal — not financial advice</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512064"/>
          </a:xfrm>
          <a:prstGeom prst="rect">
            <a:avLst/>
          </a:prstGeom>
          <a:solidFill>
            <a:srgbClr val="052E16"/>
          </a:solidFill>
          <a:ln w="12700">
            <a:solidFill>
              <a:srgbClr val="052E16"/>
            </a:solidFill>
            <a:prstDash val="solid"/>
          </a:ln>
        </p:spPr>
      </p:sp>
      <p:sp>
        <p:nvSpPr>
          <p:cNvPr id="3" name="Text 1"/>
          <p:cNvSpPr/>
          <p:nvPr/>
        </p:nvSpPr>
        <p:spPr>
          <a:xfrm>
            <a:off x="228600" y="82296"/>
            <a:ext cx="7772400" cy="329184"/>
          </a:xfrm>
          <a:prstGeom prst="rect">
            <a:avLst/>
          </a:prstGeom>
          <a:noFill/>
          <a:ln/>
        </p:spPr>
        <p:txBody>
          <a:bodyPr wrap="square" lIns="0" tIns="0" rIns="0" bIns="0"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  T04  ·  Momentum Expansion  ·  LONG  ·  Bars 37–61</a:t>
            </a:r>
            <a:endParaRPr lang="en-US" sz="1400" dirty="0"/>
          </a:p>
        </p:txBody>
      </p:sp>
      <p:sp>
        <p:nvSpPr>
          <p:cNvPr id="4" name="Text 2"/>
          <p:cNvSpPr/>
          <p:nvPr/>
        </p:nvSpPr>
        <p:spPr>
          <a:xfrm>
            <a:off x="8046720" y="82296"/>
            <a:ext cx="3886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MESM6  5m  ·  Mar 19, 2026</a:t>
            </a:r>
            <a:endParaRPr lang="en-US" sz="900" dirty="0"/>
          </a:p>
        </p:txBody>
      </p:sp>
      <p:sp>
        <p:nvSpPr>
          <p:cNvPr id="5" name="Text 3"/>
          <p:cNvSpPr/>
          <p:nvPr/>
        </p:nvSpPr>
        <p:spPr>
          <a:xfrm>
            <a:off x="8046720" y="256032"/>
            <a:ext cx="3886200" cy="219456"/>
          </a:xfrm>
          <a:prstGeom prst="rect">
            <a:avLst/>
          </a:prstGeom>
          <a:noFill/>
          <a:ln/>
        </p:spPr>
        <p:txBody>
          <a:bodyPr wrap="square" lIns="0" tIns="0" rIns="0" bIns="0" rtlCol="0" anchor="ctr"/>
          <a:lstStyle/>
          <a:p>
            <a:pPr algn="r" indent="0" marL="0">
              <a:buNone/>
            </a:pPr>
            <a:r>
              <a:rPr lang="en-US" sz="1500" b="1" dirty="0">
                <a:solidFill>
                  <a:srgbClr val="86EFAC"/>
                </a:solidFill>
                <a:latin typeface="Calibri" pitchFamily="34" charset="0"/>
                <a:ea typeface="Calibri" pitchFamily="34" charset="-122"/>
                <a:cs typeface="Calibri" pitchFamily="34" charset="-120"/>
              </a:rPr>
              <a:t>+$102.50</a:t>
            </a:r>
            <a:endParaRPr lang="en-US" sz="1500" dirty="0"/>
          </a:p>
        </p:txBody>
      </p:sp>
      <p:sp>
        <p:nvSpPr>
          <p:cNvPr id="6" name="Shape 4"/>
          <p:cNvSpPr/>
          <p:nvPr/>
        </p:nvSpPr>
        <p:spPr>
          <a:xfrm>
            <a:off x="2286000" y="621792"/>
            <a:ext cx="9646920" cy="384048"/>
          </a:xfrm>
          <a:prstGeom prst="rect">
            <a:avLst/>
          </a:prstGeom>
          <a:solidFill>
            <a:srgbClr val="052E16"/>
          </a:solidFill>
          <a:ln w="6350">
            <a:solidFill>
              <a:srgbClr val="14532D"/>
            </a:solidFill>
            <a:prstDash val="solid"/>
          </a:ln>
        </p:spPr>
      </p:sp>
      <p:sp>
        <p:nvSpPr>
          <p:cNvPr id="7" name="Text 5"/>
          <p:cNvSpPr/>
          <p:nvPr/>
        </p:nvSpPr>
        <p:spPr>
          <a:xfrm>
            <a:off x="2286000" y="685800"/>
            <a:ext cx="9646920" cy="256032"/>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TRADE EXPLANATION</a:t>
            </a:r>
            <a:endParaRPr lang="en-US" sz="1200" dirty="0"/>
          </a:p>
        </p:txBody>
      </p:sp>
      <p:sp>
        <p:nvSpPr>
          <p:cNvPr id="8" name="Shape 6"/>
          <p:cNvSpPr/>
          <p:nvPr/>
        </p:nvSpPr>
        <p:spPr>
          <a:xfrm>
            <a:off x="228600" y="1115568"/>
            <a:ext cx="1938528" cy="1115568"/>
          </a:xfrm>
          <a:prstGeom prst="rect">
            <a:avLst/>
          </a:prstGeom>
          <a:solidFill>
            <a:srgbClr val="0D2E38"/>
          </a:solidFill>
          <a:ln w="9525">
            <a:solidFill>
              <a:srgbClr val="134E5E"/>
            </a:solidFill>
            <a:prstDash val="solid"/>
          </a:ln>
          <a:effectLst>
            <a:outerShdw sx="100000" sy="100000" kx="0" ky="0" algn="bl" rotWithShape="0" blurRad="38100" dist="25400" dir="8100000">
              <a:srgbClr val="000000">
                <a:alpha val="20000"/>
              </a:srgbClr>
            </a:outerShdw>
          </a:effectLst>
        </p:spPr>
      </p:sp>
      <p:sp>
        <p:nvSpPr>
          <p:cNvPr id="9" name="Text 7"/>
          <p:cNvSpPr/>
          <p:nvPr/>
        </p:nvSpPr>
        <p:spPr>
          <a:xfrm>
            <a:off x="274320" y="1536192"/>
            <a:ext cx="1828800" cy="274320"/>
          </a:xfrm>
          <a:prstGeom prst="rect">
            <a:avLst/>
          </a:prstGeom>
          <a:noFill/>
          <a:ln/>
        </p:spPr>
        <p:txBody>
          <a:bodyPr wrap="square" lIns="0" tIns="0" rIns="0" bIns="0" rtlCol="0" anchor="ctr"/>
          <a:lstStyle/>
          <a:p>
            <a:pPr algn="ctr" indent="0" marL="0">
              <a:buNone/>
            </a:pPr>
            <a:r>
              <a:rPr lang="en-US" sz="1200" b="1" dirty="0">
                <a:solidFill>
                  <a:srgbClr val="2DD4BF"/>
                </a:solidFill>
                <a:latin typeface="Calibri" pitchFamily="34" charset="0"/>
                <a:ea typeface="Calibri" pitchFamily="34" charset="-122"/>
                <a:cs typeface="Calibri" pitchFamily="34" charset="-120"/>
              </a:rPr>
              <a:t>Charting</a:t>
            </a:r>
            <a:endParaRPr lang="en-US" sz="1200" dirty="0"/>
          </a:p>
        </p:txBody>
      </p:sp>
      <p:sp>
        <p:nvSpPr>
          <p:cNvPr id="10" name="Shape 8"/>
          <p:cNvSpPr/>
          <p:nvPr/>
        </p:nvSpPr>
        <p:spPr>
          <a:xfrm>
            <a:off x="2286000" y="1115568"/>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11" name="Text 9"/>
          <p:cNvSpPr/>
          <p:nvPr/>
        </p:nvSpPr>
        <p:spPr>
          <a:xfrm>
            <a:off x="2395728" y="1207008"/>
            <a:ext cx="941832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2:00–4:15 PM  ·  Bars 37–61</a:t>
            </a:r>
            <a:endParaRPr lang="en-US" sz="850" dirty="0"/>
          </a:p>
        </p:txBody>
      </p:sp>
      <p:sp>
        <p:nvSpPr>
          <p:cNvPr id="12" name="Text 10"/>
          <p:cNvSpPr/>
          <p:nvPr/>
        </p:nvSpPr>
        <p:spPr>
          <a:xfrm>
            <a:off x="239572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Entry</a:t>
            </a:r>
            <a:endParaRPr lang="en-US" sz="800" dirty="0"/>
          </a:p>
        </p:txBody>
      </p:sp>
      <p:sp>
        <p:nvSpPr>
          <p:cNvPr id="13" name="Text 11"/>
          <p:cNvSpPr/>
          <p:nvPr/>
        </p:nvSpPr>
        <p:spPr>
          <a:xfrm>
            <a:off x="239572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6,628.00</a:t>
            </a:r>
            <a:endParaRPr lang="en-US" sz="1300" dirty="0"/>
          </a:p>
        </p:txBody>
      </p:sp>
      <p:sp>
        <p:nvSpPr>
          <p:cNvPr id="14" name="Text 12"/>
          <p:cNvSpPr/>
          <p:nvPr/>
        </p:nvSpPr>
        <p:spPr>
          <a:xfrm>
            <a:off x="477316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Exit</a:t>
            </a:r>
            <a:endParaRPr lang="en-US" sz="800" dirty="0"/>
          </a:p>
        </p:txBody>
      </p:sp>
      <p:sp>
        <p:nvSpPr>
          <p:cNvPr id="15" name="Text 13"/>
          <p:cNvSpPr/>
          <p:nvPr/>
        </p:nvSpPr>
        <p:spPr>
          <a:xfrm>
            <a:off x="477316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6,666.50</a:t>
            </a:r>
            <a:endParaRPr lang="en-US" sz="1300" dirty="0"/>
          </a:p>
        </p:txBody>
      </p:sp>
      <p:sp>
        <p:nvSpPr>
          <p:cNvPr id="16" name="Text 14"/>
          <p:cNvSpPr/>
          <p:nvPr/>
        </p:nvSpPr>
        <p:spPr>
          <a:xfrm>
            <a:off x="715060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Ticks</a:t>
            </a:r>
            <a:endParaRPr lang="en-US" sz="800" dirty="0"/>
          </a:p>
        </p:txBody>
      </p:sp>
      <p:sp>
        <p:nvSpPr>
          <p:cNvPr id="17" name="Text 15"/>
          <p:cNvSpPr/>
          <p:nvPr/>
        </p:nvSpPr>
        <p:spPr>
          <a:xfrm>
            <a:off x="715060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+82 ticks</a:t>
            </a:r>
            <a:endParaRPr lang="en-US" sz="1300" dirty="0"/>
          </a:p>
        </p:txBody>
      </p:sp>
      <p:sp>
        <p:nvSpPr>
          <p:cNvPr id="18" name="Text 16"/>
          <p:cNvSpPr/>
          <p:nvPr/>
        </p:nvSpPr>
        <p:spPr>
          <a:xfrm>
            <a:off x="952804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PnL</a:t>
            </a:r>
            <a:endParaRPr lang="en-US" sz="800" dirty="0"/>
          </a:p>
        </p:txBody>
      </p:sp>
      <p:sp>
        <p:nvSpPr>
          <p:cNvPr id="19" name="Text 17"/>
          <p:cNvSpPr/>
          <p:nvPr/>
        </p:nvSpPr>
        <p:spPr>
          <a:xfrm>
            <a:off x="952804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+$102.50</a:t>
            </a:r>
            <a:endParaRPr lang="en-US" sz="1300" dirty="0"/>
          </a:p>
        </p:txBody>
      </p:sp>
      <p:sp>
        <p:nvSpPr>
          <p:cNvPr id="20" name="Shape 18"/>
          <p:cNvSpPr/>
          <p:nvPr/>
        </p:nvSpPr>
        <p:spPr>
          <a:xfrm>
            <a:off x="228600" y="2340864"/>
            <a:ext cx="1938528" cy="1115568"/>
          </a:xfrm>
          <a:prstGeom prst="rect">
            <a:avLst/>
          </a:prstGeom>
          <a:solidFill>
            <a:srgbClr val="052E16"/>
          </a:solidFill>
          <a:ln w="9525">
            <a:solidFill>
              <a:srgbClr val="14532D"/>
            </a:solidFill>
            <a:prstDash val="solid"/>
          </a:ln>
          <a:effectLst>
            <a:outerShdw sx="100000" sy="100000" kx="0" ky="0" algn="bl" rotWithShape="0" blurRad="38100" dist="25400" dir="8100000">
              <a:srgbClr val="000000">
                <a:alpha val="20000"/>
              </a:srgbClr>
            </a:outerShdw>
          </a:effectLst>
        </p:spPr>
      </p:sp>
      <p:sp>
        <p:nvSpPr>
          <p:cNvPr id="21" name="Text 19"/>
          <p:cNvSpPr/>
          <p:nvPr/>
        </p:nvSpPr>
        <p:spPr>
          <a:xfrm>
            <a:off x="274320" y="2761488"/>
            <a:ext cx="1828800" cy="27432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Context</a:t>
            </a:r>
            <a:endParaRPr lang="en-US" sz="1200" dirty="0"/>
          </a:p>
        </p:txBody>
      </p:sp>
      <p:sp>
        <p:nvSpPr>
          <p:cNvPr id="22" name="Shape 20"/>
          <p:cNvSpPr/>
          <p:nvPr/>
        </p:nvSpPr>
        <p:spPr>
          <a:xfrm>
            <a:off x="2286000" y="2340864"/>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23" name="Text 21"/>
          <p:cNvSpPr/>
          <p:nvPr/>
        </p:nvSpPr>
        <p:spPr>
          <a:xfrm>
            <a:off x="2395728" y="2432304"/>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Yellow line break:  </a:t>
            </a:r>
            <a:pPr indent="0" marL="0">
              <a:buNone/>
            </a:pPr>
            <a:r>
              <a:rPr lang="en-US" sz="950" dirty="0">
                <a:solidFill>
                  <a:srgbClr val="94A3B8"/>
                </a:solidFill>
                <a:latin typeface="Calibri" pitchFamily="34" charset="0"/>
                <a:ea typeface="Calibri" pitchFamily="34" charset="-122"/>
                <a:cs typeface="Calibri" pitchFamily="34" charset="-120"/>
              </a:rPr>
              <a:t>Price cleared yellow resistance with high-volume green bars — expansion confirmed</a:t>
            </a:r>
            <a:endParaRPr lang="en-US" sz="950" dirty="0"/>
          </a:p>
        </p:txBody>
      </p:sp>
      <p:sp>
        <p:nvSpPr>
          <p:cNvPr id="24" name="Text 22"/>
          <p:cNvSpPr/>
          <p:nvPr/>
        </p:nvSpPr>
        <p:spPr>
          <a:xfrm>
            <a:off x="2395728" y="2688336"/>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L8 pullback entry:  </a:t>
            </a:r>
            <a:pPr indent="0" marL="0">
              <a:buNone/>
            </a:pPr>
            <a:r>
              <a:rPr lang="en-US" sz="950" dirty="0">
                <a:solidFill>
                  <a:srgbClr val="94A3B8"/>
                </a:solidFill>
                <a:latin typeface="Calibri" pitchFamily="34" charset="0"/>
                <a:ea typeface="Calibri" pitchFamily="34" charset="-122"/>
                <a:cs typeface="Calibri" pitchFamily="34" charset="-120"/>
              </a:rPr>
              <a:t>GreenLight L8 logic — Trend Pullback after EMA crossover triggered entry</a:t>
            </a:r>
            <a:endParaRPr lang="en-US" sz="950" dirty="0"/>
          </a:p>
        </p:txBody>
      </p:sp>
      <p:sp>
        <p:nvSpPr>
          <p:cNvPr id="25" name="Text 23"/>
          <p:cNvSpPr/>
          <p:nvPr/>
        </p:nvSpPr>
        <p:spPr>
          <a:xfrm>
            <a:off x="2395728" y="2944368"/>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EMA crossover:  </a:t>
            </a:r>
            <a:pPr indent="0" marL="0">
              <a:buNone/>
            </a:pPr>
            <a:r>
              <a:rPr lang="en-US" sz="950" dirty="0">
                <a:solidFill>
                  <a:srgbClr val="94A3B8"/>
                </a:solidFill>
                <a:latin typeface="Calibri" pitchFamily="34" charset="0"/>
                <a:ea typeface="Calibri" pitchFamily="34" charset="-122"/>
                <a:cs typeface="Calibri" pitchFamily="34" charset="-120"/>
              </a:rPr>
              <a:t>20 EMA crossed above — momentum shift confirmed, bulls in full control</a:t>
            </a:r>
            <a:endParaRPr lang="en-US" sz="950" dirty="0"/>
          </a:p>
        </p:txBody>
      </p:sp>
      <p:sp>
        <p:nvSpPr>
          <p:cNvPr id="26" name="Text 24"/>
          <p:cNvSpPr/>
          <p:nvPr/>
        </p:nvSpPr>
        <p:spPr>
          <a:xfrm>
            <a:off x="2395728" y="3200400"/>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Final Flag exit:  </a:t>
            </a:r>
            <a:pPr indent="0" marL="0">
              <a:buNone/>
            </a:pPr>
            <a:r>
              <a:rPr lang="en-US" sz="950" dirty="0">
                <a:solidFill>
                  <a:srgbClr val="94A3B8"/>
                </a:solidFill>
                <a:latin typeface="Calibri" pitchFamily="34" charset="0"/>
                <a:ea typeface="Calibri" pitchFamily="34" charset="-122"/>
                <a:cs typeface="Calibri" pitchFamily="34" charset="-120"/>
              </a:rPr>
              <a:t>Exit at 6,666.50 before the Final Flag stall signal — do not overstay the move</a:t>
            </a:r>
            <a:endParaRPr lang="en-US" sz="950" dirty="0"/>
          </a:p>
        </p:txBody>
      </p:sp>
      <p:sp>
        <p:nvSpPr>
          <p:cNvPr id="27" name="Shape 25"/>
          <p:cNvSpPr/>
          <p:nvPr/>
        </p:nvSpPr>
        <p:spPr>
          <a:xfrm>
            <a:off x="228600" y="3566160"/>
            <a:ext cx="1938528" cy="1115568"/>
          </a:xfrm>
          <a:prstGeom prst="rect">
            <a:avLst/>
          </a:prstGeom>
          <a:solidFill>
            <a:srgbClr val="052E16"/>
          </a:solidFill>
          <a:ln w="9525">
            <a:solidFill>
              <a:srgbClr val="14532D"/>
            </a:solidFill>
            <a:prstDash val="solid"/>
          </a:ln>
          <a:effectLst>
            <a:outerShdw sx="100000" sy="100000" kx="0" ky="0" algn="bl" rotWithShape="0" blurRad="38100" dist="25400" dir="8100000">
              <a:srgbClr val="000000">
                <a:alpha val="20000"/>
              </a:srgbClr>
            </a:outerShdw>
          </a:effectLst>
        </p:spPr>
      </p:sp>
      <p:sp>
        <p:nvSpPr>
          <p:cNvPr id="28" name="Text 26"/>
          <p:cNvSpPr/>
          <p:nvPr/>
        </p:nvSpPr>
        <p:spPr>
          <a:xfrm>
            <a:off x="274320" y="3895344"/>
            <a:ext cx="1828800" cy="457200"/>
          </a:xfrm>
          <a:prstGeom prst="rect">
            <a:avLst/>
          </a:prstGeom>
          <a:noFill/>
          <a:ln/>
        </p:spPr>
        <p:txBody>
          <a:bodyPr wrap="square" lIns="0" tIns="0" rIns="0" bIns="0" rtlCol="0" anchor="ctr"/>
          <a:lstStyle/>
          <a:p>
            <a:pPr algn="ctr" indent="0" marL="0">
              <a:buNone/>
            </a:pPr>
            <a:r>
              <a:rPr lang="en-US" sz="1100" b="1" dirty="0">
                <a:solidFill>
                  <a:srgbClr val="22C55E"/>
                </a:solidFill>
                <a:latin typeface="Calibri" pitchFamily="34" charset="0"/>
                <a:ea typeface="Calibri" pitchFamily="34" charset="-122"/>
                <a:cs typeface="Calibri" pitchFamily="34" charset="-120"/>
              </a:rPr>
              <a:t>Entry</a:t>
            </a:r>
            <a:endParaRPr lang="en-US" sz="1100" dirty="0"/>
          </a:p>
          <a:p>
            <a:pPr algn="ctr" indent="0" marL="0">
              <a:buNone/>
            </a:pPr>
            <a:r>
              <a:rPr lang="en-US" sz="1100" b="1" dirty="0">
                <a:solidFill>
                  <a:srgbClr val="22C55E"/>
                </a:solidFill>
                <a:latin typeface="Calibri" pitchFamily="34" charset="0"/>
                <a:ea typeface="Calibri" pitchFamily="34" charset="-122"/>
                <a:cs typeface="Calibri" pitchFamily="34" charset="-120"/>
              </a:rPr>
              <a:t>Exit</a:t>
            </a:r>
            <a:endParaRPr lang="en-US" sz="1100" dirty="0"/>
          </a:p>
          <a:p>
            <a:pPr algn="ctr" indent="0" marL="0">
              <a:buNone/>
            </a:pPr>
            <a:r>
              <a:rPr lang="en-US" sz="1100" b="1" dirty="0">
                <a:solidFill>
                  <a:srgbClr val="22C55E"/>
                </a:solidFill>
                <a:latin typeface="Calibri" pitchFamily="34" charset="0"/>
                <a:ea typeface="Calibri" pitchFamily="34" charset="-122"/>
                <a:cs typeface="Calibri" pitchFamily="34" charset="-120"/>
              </a:rPr>
              <a:t>Reason</a:t>
            </a:r>
            <a:endParaRPr lang="en-US" sz="1100" dirty="0"/>
          </a:p>
        </p:txBody>
      </p:sp>
      <p:sp>
        <p:nvSpPr>
          <p:cNvPr id="29" name="Shape 27"/>
          <p:cNvSpPr/>
          <p:nvPr/>
        </p:nvSpPr>
        <p:spPr>
          <a:xfrm>
            <a:off x="2286000" y="3566160"/>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0" name="Text 28"/>
          <p:cNvSpPr/>
          <p:nvPr/>
        </p:nvSpPr>
        <p:spPr>
          <a:xfrm>
            <a:off x="2395728" y="365760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Entry  </a:t>
            </a:r>
            <a:pPr indent="0" marL="0">
              <a:buNone/>
            </a:pPr>
            <a:r>
              <a:rPr lang="en-US" sz="950" dirty="0">
                <a:solidFill>
                  <a:srgbClr val="FFFFFF"/>
                </a:solidFill>
                <a:latin typeface="Calibri" pitchFamily="34" charset="0"/>
                <a:ea typeface="Calibri" pitchFamily="34" charset="-122"/>
                <a:cs typeface="Calibri" pitchFamily="34" charset="-120"/>
              </a:rPr>
              <a:t>Buy Trend Pullback (L8 logic) after EMA crossover at 6,628.00</a:t>
            </a:r>
            <a:endParaRPr lang="en-US" sz="950" dirty="0"/>
          </a:p>
        </p:txBody>
      </p:sp>
      <p:sp>
        <p:nvSpPr>
          <p:cNvPr id="31" name="Text 29"/>
          <p:cNvSpPr/>
          <p:nvPr/>
        </p:nvSpPr>
        <p:spPr>
          <a:xfrm>
            <a:off x="2395728" y="393192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Exit     </a:t>
            </a:r>
            <a:pPr indent="0" marL="0">
              <a:buNone/>
            </a:pPr>
            <a:r>
              <a:rPr lang="en-US" sz="950" dirty="0">
                <a:solidFill>
                  <a:srgbClr val="FFFFFF"/>
                </a:solidFill>
                <a:latin typeface="Calibri" pitchFamily="34" charset="0"/>
                <a:ea typeface="Calibri" pitchFamily="34" charset="-122"/>
                <a:cs typeface="Calibri" pitchFamily="34" charset="-120"/>
              </a:rPr>
              <a:t>Exit at 6,666.50 measured move target — before the Final Flag stall</a:t>
            </a:r>
            <a:endParaRPr lang="en-US" sz="950" dirty="0"/>
          </a:p>
        </p:txBody>
      </p:sp>
      <p:sp>
        <p:nvSpPr>
          <p:cNvPr id="32" name="Shape 30"/>
          <p:cNvSpPr/>
          <p:nvPr/>
        </p:nvSpPr>
        <p:spPr>
          <a:xfrm>
            <a:off x="2395728" y="4206240"/>
            <a:ext cx="9418320" cy="9144"/>
          </a:xfrm>
          <a:prstGeom prst="rect">
            <a:avLst/>
          </a:prstGeom>
          <a:solidFill>
            <a:srgbClr val="334155"/>
          </a:solidFill>
          <a:ln w="12700">
            <a:solidFill>
              <a:srgbClr val="334155"/>
            </a:solidFill>
            <a:prstDash val="solid"/>
          </a:ln>
        </p:spPr>
      </p:sp>
      <p:sp>
        <p:nvSpPr>
          <p:cNvPr id="33" name="Text 31"/>
          <p:cNvSpPr/>
          <p:nvPr/>
        </p:nvSpPr>
        <p:spPr>
          <a:xfrm>
            <a:off x="2395728" y="4261104"/>
            <a:ext cx="9418320" cy="365760"/>
          </a:xfrm>
          <a:prstGeom prst="rect">
            <a:avLst/>
          </a:prstGeom>
          <a:noFill/>
          <a:ln/>
        </p:spPr>
        <p:txBody>
          <a:bodyPr wrap="square" lIns="0" tIns="0" rIns="0" bIns="0" rtlCol="0" anchor="ctr"/>
          <a:lstStyle/>
          <a:p>
            <a:pPr indent="0" marL="0">
              <a:buNone/>
            </a:pPr>
            <a:r>
              <a:rPr lang="en-US" sz="950" b="1" dirty="0">
                <a:solidFill>
                  <a:srgbClr val="FCA535"/>
                </a:solidFill>
                <a:latin typeface="Calibri" pitchFamily="34" charset="0"/>
                <a:ea typeface="Calibri" pitchFamily="34" charset="-122"/>
                <a:cs typeface="Calibri" pitchFamily="34" charset="-120"/>
              </a:rPr>
              <a:t>Reason  </a:t>
            </a:r>
            <a:pPr indent="0" marL="0">
              <a:buNone/>
            </a:pPr>
            <a:r>
              <a:rPr lang="en-US" sz="950" i="1" dirty="0">
                <a:solidFill>
                  <a:srgbClr val="94A3B8"/>
                </a:solidFill>
                <a:latin typeface="Calibri" pitchFamily="34" charset="0"/>
                <a:ea typeface="Calibri" pitchFamily="34" charset="-122"/>
                <a:cs typeface="Calibri" pitchFamily="34" charset="-120"/>
              </a:rPr>
              <a:t>Volatility expansion. Once the range breaks above yellow resistance, the move mirrors the size of the initial coil. L8 pullback after EMA crossover gave a clean, low-risk entry into the trend.</a:t>
            </a:r>
            <a:endParaRPr lang="en-US" sz="950" dirty="0"/>
          </a:p>
        </p:txBody>
      </p:sp>
      <p:sp>
        <p:nvSpPr>
          <p:cNvPr id="34" name="Shape 32"/>
          <p:cNvSpPr/>
          <p:nvPr/>
        </p:nvSpPr>
        <p:spPr>
          <a:xfrm>
            <a:off x="228600" y="4791456"/>
            <a:ext cx="1938528" cy="1115568"/>
          </a:xfrm>
          <a:prstGeom prst="rect">
            <a:avLst/>
          </a:prstGeom>
          <a:solidFill>
            <a:srgbClr val="411C02"/>
          </a:solidFill>
          <a:ln w="9525">
            <a:solidFill>
              <a:srgbClr val="854F0B"/>
            </a:solidFill>
            <a:prstDash val="solid"/>
          </a:ln>
          <a:effectLst>
            <a:outerShdw sx="100000" sy="100000" kx="0" ky="0" algn="bl" rotWithShape="0" blurRad="38100" dist="25400" dir="8100000">
              <a:srgbClr val="000000">
                <a:alpha val="20000"/>
              </a:srgbClr>
            </a:outerShdw>
          </a:effectLst>
        </p:spPr>
      </p:sp>
      <p:sp>
        <p:nvSpPr>
          <p:cNvPr id="35" name="Text 33"/>
          <p:cNvSpPr/>
          <p:nvPr/>
        </p:nvSpPr>
        <p:spPr>
          <a:xfrm>
            <a:off x="274320" y="5193792"/>
            <a:ext cx="1828800" cy="329184"/>
          </a:xfrm>
          <a:prstGeom prst="rect">
            <a:avLst/>
          </a:prstGeom>
          <a:noFill/>
          <a:ln/>
        </p:spPr>
        <p:txBody>
          <a:bodyPr wrap="square" lIns="0" tIns="0" rIns="0" bIns="0" rtlCol="0" anchor="ctr"/>
          <a:lstStyle/>
          <a:p>
            <a:pPr algn="ctr" indent="0" marL="0">
              <a:buNone/>
            </a:pPr>
            <a:r>
              <a:rPr lang="en-US" sz="1200" b="1" dirty="0">
                <a:solidFill>
                  <a:srgbClr val="FCA535"/>
                </a:solidFill>
                <a:latin typeface="Calibri" pitchFamily="34" charset="0"/>
                <a:ea typeface="Calibri" pitchFamily="34" charset="-122"/>
                <a:cs typeface="Calibri" pitchFamily="34" charset="-120"/>
              </a:rPr>
              <a:t>Lesson</a:t>
            </a:r>
            <a:endParaRPr lang="en-US" sz="1200" dirty="0"/>
          </a:p>
          <a:p>
            <a:pPr algn="ctr" indent="0" marL="0">
              <a:buNone/>
            </a:pPr>
            <a:r>
              <a:rPr lang="en-US" sz="1200" b="1" dirty="0">
                <a:solidFill>
                  <a:srgbClr val="FCA535"/>
                </a:solidFill>
                <a:latin typeface="Calibri" pitchFamily="34" charset="0"/>
                <a:ea typeface="Calibri" pitchFamily="34" charset="-122"/>
                <a:cs typeface="Calibri" pitchFamily="34" charset="-120"/>
              </a:rPr>
              <a:t>Learnt</a:t>
            </a:r>
            <a:endParaRPr lang="en-US" sz="1200" dirty="0"/>
          </a:p>
        </p:txBody>
      </p:sp>
      <p:sp>
        <p:nvSpPr>
          <p:cNvPr id="36" name="Shape 34"/>
          <p:cNvSpPr/>
          <p:nvPr/>
        </p:nvSpPr>
        <p:spPr>
          <a:xfrm>
            <a:off x="2286000" y="4791456"/>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7" name="Text 35"/>
          <p:cNvSpPr/>
          <p:nvPr/>
        </p:nvSpPr>
        <p:spPr>
          <a:xfrm>
            <a:off x="2395728" y="4901184"/>
            <a:ext cx="9418320" cy="914400"/>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The Momentum Expansion trade is the session paycheck — it is the one you size up on. When price breaks a clear resistance level with strong volume bars AND the EMA has crossed, you do not look for reasons not to trade it. The L8 pullback gives you the entry. The measured move gives you the target. The Final Flag signal tells you when to leave. Do not overstay momentum moves — get your ticks and get out.</a:t>
            </a:r>
            <a:endParaRPr lang="en-US" sz="950" dirty="0"/>
          </a:p>
        </p:txBody>
      </p:sp>
      <p:sp>
        <p:nvSpPr>
          <p:cNvPr id="38" name="Text 36"/>
          <p:cNvSpPr/>
          <p:nvPr/>
        </p:nvSpPr>
        <p:spPr>
          <a:xfrm>
            <a:off x="228600" y="6035040"/>
            <a:ext cx="11704320" cy="164592"/>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Trade card  ·  T04  ·  Momentum Expansion  ·  MESM6 5m  ·  Mar 19, 2026  ·  Personal trade journal — not financial advice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MESM6 — Trade Cards — Mar 19, 2026</dc:title>
  <dc:subject>PptxGenJS Presentation</dc:subject>
  <dc:creator>PptxGenJS</dc:creator>
  <cp:lastModifiedBy>PptxGenJS</cp:lastModifiedBy>
  <cp:revision>1</cp:revision>
  <dcterms:created xsi:type="dcterms:W3CDTF">2026-03-19T21:52:25Z</dcterms:created>
  <dcterms:modified xsi:type="dcterms:W3CDTF">2026-03-19T21:52:25Z</dcterms:modified>
</cp:coreProperties>
</file>