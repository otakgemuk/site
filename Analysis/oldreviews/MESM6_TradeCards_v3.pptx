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0F1F3D"/>
          </a:solidFill>
          <a:ln w="12700">
            <a:solidFill>
              <a:srgbClr val="0F1F3D"/>
            </a:solidFill>
            <a:prstDash val="solid"/>
          </a:ln>
        </p:spPr>
      </p:sp>
      <p:sp>
        <p:nvSpPr>
          <p:cNvPr id="3" name="Text 1"/>
          <p:cNvSpPr/>
          <p:nvPr/>
        </p:nvSpPr>
        <p:spPr>
          <a:xfrm>
            <a:off x="228600" y="109728"/>
            <a:ext cx="64008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MESM6  ·  5-Minute Bars  ·  RTH + ETH Session</a:t>
            </a:r>
            <a:endParaRPr lang="en-US" sz="1100" dirty="0"/>
          </a:p>
        </p:txBody>
      </p:sp>
      <p:sp>
        <p:nvSpPr>
          <p:cNvPr id="4" name="Text 2"/>
          <p:cNvSpPr/>
          <p:nvPr/>
        </p:nvSpPr>
        <p:spPr>
          <a:xfrm>
            <a:off x="6400800" y="109728"/>
            <a:ext cx="5532120" cy="347472"/>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MightyOx Ventures  ·  EOD Trade Cards</a:t>
            </a:r>
            <a:endParaRPr lang="en-US" sz="900" dirty="0"/>
          </a:p>
        </p:txBody>
      </p:sp>
      <p:sp>
        <p:nvSpPr>
          <p:cNvPr id="5" name="Text 3"/>
          <p:cNvSpPr/>
          <p:nvPr/>
        </p:nvSpPr>
        <p:spPr>
          <a:xfrm>
            <a:off x="274320" y="777240"/>
            <a:ext cx="109728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Session Trade Review</a:t>
            </a:r>
            <a:endParaRPr lang="en-US" sz="2200" dirty="0"/>
          </a:p>
        </p:txBody>
      </p:sp>
      <p:sp>
        <p:nvSpPr>
          <p:cNvPr id="6" name="Text 4"/>
          <p:cNvSpPr/>
          <p:nvPr/>
        </p:nvSpPr>
        <p:spPr>
          <a:xfrm>
            <a:off x="274320" y="1298448"/>
            <a:ext cx="10972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RTH 9:00 AM – 4:00 PM  ·  4 Trades  ·  SIMPAN / GreenLight Pro  ·  ETH: Trending down into open</a:t>
            </a:r>
            <a:endParaRPr lang="en-US" sz="1000" dirty="0"/>
          </a:p>
        </p:txBody>
      </p:sp>
      <p:sp>
        <p:nvSpPr>
          <p:cNvPr id="7" name="Shape 5"/>
          <p:cNvSpPr/>
          <p:nvPr/>
        </p:nvSpPr>
        <p:spPr>
          <a:xfrm>
            <a:off x="27432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8" name="Text 6"/>
          <p:cNvSpPr/>
          <p:nvPr/>
        </p:nvSpPr>
        <p:spPr>
          <a:xfrm>
            <a:off x="38404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Total Trades</a:t>
            </a:r>
            <a:endParaRPr lang="en-US" sz="800" dirty="0"/>
          </a:p>
        </p:txBody>
      </p:sp>
      <p:sp>
        <p:nvSpPr>
          <p:cNvPr id="9" name="Text 7"/>
          <p:cNvSpPr/>
          <p:nvPr/>
        </p:nvSpPr>
        <p:spPr>
          <a:xfrm>
            <a:off x="365760" y="1975104"/>
            <a:ext cx="1965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0" name="Text 8"/>
          <p:cNvSpPr/>
          <p:nvPr/>
        </p:nvSpPr>
        <p:spPr>
          <a:xfrm>
            <a:off x="384048" y="2304288"/>
            <a:ext cx="1920240" cy="256032"/>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All closed</a:t>
            </a:r>
            <a:endParaRPr lang="en-US" sz="750" dirty="0"/>
          </a:p>
        </p:txBody>
      </p:sp>
      <p:sp>
        <p:nvSpPr>
          <p:cNvPr id="11" name="Shape 9"/>
          <p:cNvSpPr/>
          <p:nvPr/>
        </p:nvSpPr>
        <p:spPr>
          <a:xfrm>
            <a:off x="260604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2" name="Text 10"/>
          <p:cNvSpPr/>
          <p:nvPr/>
        </p:nvSpPr>
        <p:spPr>
          <a:xfrm>
            <a:off x="271576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Total Ticks</a:t>
            </a:r>
            <a:endParaRPr lang="en-US" sz="800" dirty="0"/>
          </a:p>
        </p:txBody>
      </p:sp>
      <p:sp>
        <p:nvSpPr>
          <p:cNvPr id="13" name="Text 11"/>
          <p:cNvSpPr/>
          <p:nvPr/>
        </p:nvSpPr>
        <p:spPr>
          <a:xfrm>
            <a:off x="2697480" y="1975104"/>
            <a:ext cx="196596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+258</a:t>
            </a:r>
            <a:endParaRPr lang="en-US" sz="1300" dirty="0"/>
          </a:p>
        </p:txBody>
      </p:sp>
      <p:sp>
        <p:nvSpPr>
          <p:cNvPr id="14" name="Text 12"/>
          <p:cNvSpPr/>
          <p:nvPr/>
        </p:nvSpPr>
        <p:spPr>
          <a:xfrm>
            <a:off x="2715768" y="2304288"/>
            <a:ext cx="1920240" cy="256032"/>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All winners</a:t>
            </a:r>
            <a:endParaRPr lang="en-US" sz="750" dirty="0"/>
          </a:p>
        </p:txBody>
      </p:sp>
      <p:sp>
        <p:nvSpPr>
          <p:cNvPr id="15" name="Shape 13"/>
          <p:cNvSpPr/>
          <p:nvPr/>
        </p:nvSpPr>
        <p:spPr>
          <a:xfrm>
            <a:off x="493776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6" name="Text 14"/>
          <p:cNvSpPr/>
          <p:nvPr/>
        </p:nvSpPr>
        <p:spPr>
          <a:xfrm>
            <a:off x="504748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 / lot</a:t>
            </a:r>
            <a:endParaRPr lang="en-US" sz="800" dirty="0"/>
          </a:p>
        </p:txBody>
      </p:sp>
      <p:sp>
        <p:nvSpPr>
          <p:cNvPr id="17" name="Text 15"/>
          <p:cNvSpPr/>
          <p:nvPr/>
        </p:nvSpPr>
        <p:spPr>
          <a:xfrm>
            <a:off x="5029200" y="1975104"/>
            <a:ext cx="196596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+$322.50</a:t>
            </a:r>
            <a:endParaRPr lang="en-US" sz="1300" dirty="0"/>
          </a:p>
        </p:txBody>
      </p:sp>
      <p:sp>
        <p:nvSpPr>
          <p:cNvPr id="18" name="Text 16"/>
          <p:cNvSpPr/>
          <p:nvPr/>
        </p:nvSpPr>
        <p:spPr>
          <a:xfrm>
            <a:off x="5047488" y="2304288"/>
            <a:ext cx="1920240" cy="256032"/>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USD</a:t>
            </a:r>
            <a:endParaRPr lang="en-US" sz="750" dirty="0"/>
          </a:p>
        </p:txBody>
      </p:sp>
      <p:sp>
        <p:nvSpPr>
          <p:cNvPr id="19" name="Shape 17"/>
          <p:cNvSpPr/>
          <p:nvPr/>
        </p:nvSpPr>
        <p:spPr>
          <a:xfrm>
            <a:off x="726948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0" name="Text 18"/>
          <p:cNvSpPr/>
          <p:nvPr/>
        </p:nvSpPr>
        <p:spPr>
          <a:xfrm>
            <a:off x="737920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Avg per trade</a:t>
            </a:r>
            <a:endParaRPr lang="en-US" sz="800" dirty="0"/>
          </a:p>
        </p:txBody>
      </p:sp>
      <p:sp>
        <p:nvSpPr>
          <p:cNvPr id="21" name="Text 19"/>
          <p:cNvSpPr/>
          <p:nvPr/>
        </p:nvSpPr>
        <p:spPr>
          <a:xfrm>
            <a:off x="7360920" y="1975104"/>
            <a:ext cx="1965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+64.5 ticks</a:t>
            </a:r>
            <a:endParaRPr lang="en-US" sz="1300" dirty="0"/>
          </a:p>
        </p:txBody>
      </p:sp>
      <p:sp>
        <p:nvSpPr>
          <p:cNvPr id="22" name="Text 20"/>
          <p:cNvSpPr/>
          <p:nvPr/>
        </p:nvSpPr>
        <p:spPr>
          <a:xfrm>
            <a:off x="7379208" y="2304288"/>
            <a:ext cx="1920240" cy="256032"/>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+$80.63 / lot</a:t>
            </a:r>
            <a:endParaRPr lang="en-US" sz="750" dirty="0"/>
          </a:p>
        </p:txBody>
      </p:sp>
      <p:sp>
        <p:nvSpPr>
          <p:cNvPr id="23" name="Shape 21"/>
          <p:cNvSpPr/>
          <p:nvPr/>
        </p:nvSpPr>
        <p:spPr>
          <a:xfrm>
            <a:off x="9601200" y="1719072"/>
            <a:ext cx="2148840" cy="93268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4" name="Text 22"/>
          <p:cNvSpPr/>
          <p:nvPr/>
        </p:nvSpPr>
        <p:spPr>
          <a:xfrm>
            <a:off x="9710928" y="18105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Session structure</a:t>
            </a:r>
            <a:endParaRPr lang="en-US" sz="800" dirty="0"/>
          </a:p>
        </p:txBody>
      </p:sp>
      <p:sp>
        <p:nvSpPr>
          <p:cNvPr id="25" name="Text 23"/>
          <p:cNvSpPr/>
          <p:nvPr/>
        </p:nvSpPr>
        <p:spPr>
          <a:xfrm>
            <a:off x="9692640" y="1975104"/>
            <a:ext cx="1965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V-Rev → Range → Trend</a:t>
            </a:r>
            <a:endParaRPr lang="en-US" sz="1300" dirty="0"/>
          </a:p>
        </p:txBody>
      </p:sp>
      <p:sp>
        <p:nvSpPr>
          <p:cNvPr id="26" name="Text 24"/>
          <p:cNvSpPr/>
          <p:nvPr/>
        </p:nvSpPr>
        <p:spPr>
          <a:xfrm>
            <a:off x="9710928" y="2304288"/>
            <a:ext cx="1920240" cy="256032"/>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ETH down → RTH reversal</a:t>
            </a:r>
            <a:endParaRPr lang="en-US" sz="750" dirty="0"/>
          </a:p>
        </p:txBody>
      </p:sp>
      <p:sp>
        <p:nvSpPr>
          <p:cNvPr id="27" name="Shape 25"/>
          <p:cNvSpPr/>
          <p:nvPr/>
        </p:nvSpPr>
        <p:spPr>
          <a:xfrm>
            <a:off x="274320" y="2816352"/>
            <a:ext cx="11612880" cy="320040"/>
          </a:xfrm>
          <a:prstGeom prst="rect">
            <a:avLst/>
          </a:prstGeom>
          <a:solidFill>
            <a:srgbClr val="1E293B"/>
          </a:solidFill>
          <a:ln w="12700">
            <a:solidFill>
              <a:srgbClr val="334155"/>
            </a:solidFill>
            <a:prstDash val="solid"/>
          </a:ln>
        </p:spPr>
      </p:sp>
      <p:sp>
        <p:nvSpPr>
          <p:cNvPr id="28" name="Text 26"/>
          <p:cNvSpPr/>
          <p:nvPr/>
        </p:nvSpPr>
        <p:spPr>
          <a:xfrm>
            <a:off x="384048" y="2871216"/>
            <a:ext cx="1920240" cy="201168"/>
          </a:xfrm>
          <a:prstGeom prst="rect">
            <a:avLst/>
          </a:prstGeom>
          <a:noFill/>
          <a:ln/>
        </p:spPr>
        <p:txBody>
          <a:bodyPr wrap="square" lIns="0" tIns="0" rIns="0" bIns="0" rtlCol="0" anchor="ctr"/>
          <a:lstStyle/>
          <a:p>
            <a:pPr indent="0" marL="0">
              <a:buNone/>
            </a:pPr>
            <a:r>
              <a:rPr lang="en-US" sz="800" b="1" spc="150" kern="0" dirty="0">
                <a:solidFill>
                  <a:srgbClr val="2DD4BF"/>
                </a:solidFill>
                <a:latin typeface="Calibri" pitchFamily="34" charset="0"/>
                <a:ea typeface="Calibri" pitchFamily="34" charset="-122"/>
                <a:cs typeface="Calibri" pitchFamily="34" charset="-120"/>
              </a:rPr>
              <a:t>SESSION CONTEXT</a:t>
            </a:r>
            <a:endParaRPr lang="en-US" sz="800" dirty="0"/>
          </a:p>
        </p:txBody>
      </p:sp>
      <p:sp>
        <p:nvSpPr>
          <p:cNvPr id="29" name="Text 27"/>
          <p:cNvSpPr/>
          <p:nvPr/>
        </p:nvSpPr>
        <p:spPr>
          <a:xfrm>
            <a:off x="2377440" y="2871216"/>
            <a:ext cx="93268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ETH: Strong trend down E26→E66 (6,680→6,611) · TD9 exhaustion at RTH open · Bar 1 bullish inside bar → 5min ORB breakout · Range 6,629–6,644 held all morning · CHoCH 2PM · Momentum expansion into close</a:t>
            </a:r>
            <a:endParaRPr lang="en-US" sz="850" dirty="0"/>
          </a:p>
        </p:txBody>
      </p:sp>
      <p:sp>
        <p:nvSpPr>
          <p:cNvPr id="30" name="Shape 28"/>
          <p:cNvSpPr/>
          <p:nvPr/>
        </p:nvSpPr>
        <p:spPr>
          <a:xfrm>
            <a:off x="274320" y="3273552"/>
            <a:ext cx="11612880" cy="274320"/>
          </a:xfrm>
          <a:prstGeom prst="rect">
            <a:avLst/>
          </a:prstGeom>
          <a:solidFill>
            <a:srgbClr val="0F1F3D"/>
          </a:solidFill>
          <a:ln w="12700">
            <a:solidFill>
              <a:srgbClr val="0F1F3D"/>
            </a:solidFill>
            <a:prstDash val="solid"/>
          </a:ln>
        </p:spPr>
      </p:sp>
      <p:sp>
        <p:nvSpPr>
          <p:cNvPr id="31" name="Text 29"/>
          <p:cNvSpPr/>
          <p:nvPr/>
        </p:nvSpPr>
        <p:spPr>
          <a:xfrm>
            <a:off x="329184" y="3328416"/>
            <a:ext cx="44805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Trade</a:t>
            </a:r>
            <a:endParaRPr lang="en-US" sz="800" dirty="0"/>
          </a:p>
        </p:txBody>
      </p:sp>
      <p:sp>
        <p:nvSpPr>
          <p:cNvPr id="32" name="Text 30"/>
          <p:cNvSpPr/>
          <p:nvPr/>
        </p:nvSpPr>
        <p:spPr>
          <a:xfrm>
            <a:off x="832104" y="3328416"/>
            <a:ext cx="250545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Setup</a:t>
            </a:r>
            <a:endParaRPr lang="en-US" sz="800" dirty="0"/>
          </a:p>
        </p:txBody>
      </p:sp>
      <p:sp>
        <p:nvSpPr>
          <p:cNvPr id="33" name="Text 31"/>
          <p:cNvSpPr/>
          <p:nvPr/>
        </p:nvSpPr>
        <p:spPr>
          <a:xfrm>
            <a:off x="3392424" y="3328416"/>
            <a:ext cx="67665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Dir</a:t>
            </a:r>
            <a:endParaRPr lang="en-US" sz="800" dirty="0"/>
          </a:p>
        </p:txBody>
      </p:sp>
      <p:sp>
        <p:nvSpPr>
          <p:cNvPr id="34" name="Text 32"/>
          <p:cNvSpPr/>
          <p:nvPr/>
        </p:nvSpPr>
        <p:spPr>
          <a:xfrm>
            <a:off x="4123944" y="3328416"/>
            <a:ext cx="122529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Time / Bars</a:t>
            </a:r>
            <a:endParaRPr lang="en-US" sz="800" dirty="0"/>
          </a:p>
        </p:txBody>
      </p:sp>
      <p:sp>
        <p:nvSpPr>
          <p:cNvPr id="35" name="Text 33"/>
          <p:cNvSpPr/>
          <p:nvPr/>
        </p:nvSpPr>
        <p:spPr>
          <a:xfrm>
            <a:off x="5404104" y="3328416"/>
            <a:ext cx="95097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Entry</a:t>
            </a:r>
            <a:endParaRPr lang="en-US" sz="800" dirty="0"/>
          </a:p>
        </p:txBody>
      </p:sp>
      <p:sp>
        <p:nvSpPr>
          <p:cNvPr id="36" name="Text 34"/>
          <p:cNvSpPr/>
          <p:nvPr/>
        </p:nvSpPr>
        <p:spPr>
          <a:xfrm>
            <a:off x="6409944" y="3328416"/>
            <a:ext cx="95097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Exit</a:t>
            </a:r>
            <a:endParaRPr lang="en-US" sz="800" dirty="0"/>
          </a:p>
        </p:txBody>
      </p:sp>
      <p:sp>
        <p:nvSpPr>
          <p:cNvPr id="37" name="Text 35"/>
          <p:cNvSpPr/>
          <p:nvPr/>
        </p:nvSpPr>
        <p:spPr>
          <a:xfrm>
            <a:off x="7415784" y="3328416"/>
            <a:ext cx="58521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Ticks</a:t>
            </a:r>
            <a:endParaRPr lang="en-US" sz="800" dirty="0"/>
          </a:p>
        </p:txBody>
      </p:sp>
      <p:sp>
        <p:nvSpPr>
          <p:cNvPr id="38" name="Text 36"/>
          <p:cNvSpPr/>
          <p:nvPr/>
        </p:nvSpPr>
        <p:spPr>
          <a:xfrm>
            <a:off x="8055864" y="3328416"/>
            <a:ext cx="813816"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PnL / lot</a:t>
            </a:r>
            <a:endParaRPr lang="en-US" sz="800" dirty="0"/>
          </a:p>
        </p:txBody>
      </p:sp>
      <p:sp>
        <p:nvSpPr>
          <p:cNvPr id="39" name="Shape 37"/>
          <p:cNvSpPr/>
          <p:nvPr/>
        </p:nvSpPr>
        <p:spPr>
          <a:xfrm>
            <a:off x="274320" y="3547872"/>
            <a:ext cx="11612880" cy="310896"/>
          </a:xfrm>
          <a:prstGeom prst="rect">
            <a:avLst/>
          </a:prstGeom>
          <a:solidFill>
            <a:srgbClr val="172033"/>
          </a:solidFill>
          <a:ln w="3810">
            <a:solidFill>
              <a:srgbClr val="334155"/>
            </a:solidFill>
            <a:prstDash val="solid"/>
          </a:ln>
        </p:spPr>
      </p:sp>
      <p:sp>
        <p:nvSpPr>
          <p:cNvPr id="40" name="Text 38"/>
          <p:cNvSpPr/>
          <p:nvPr/>
        </p:nvSpPr>
        <p:spPr>
          <a:xfrm>
            <a:off x="329184" y="3621024"/>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T01</a:t>
            </a:r>
            <a:endParaRPr lang="en-US" sz="850" dirty="0"/>
          </a:p>
        </p:txBody>
      </p:sp>
      <p:sp>
        <p:nvSpPr>
          <p:cNvPr id="41" name="Text 39"/>
          <p:cNvSpPr/>
          <p:nvPr/>
        </p:nvSpPr>
        <p:spPr>
          <a:xfrm>
            <a:off x="832104" y="3621024"/>
            <a:ext cx="248716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2-Leg Rev + ORB BO</a:t>
            </a:r>
            <a:endParaRPr lang="en-US" sz="850" dirty="0"/>
          </a:p>
        </p:txBody>
      </p:sp>
      <p:sp>
        <p:nvSpPr>
          <p:cNvPr id="42" name="Text 40"/>
          <p:cNvSpPr/>
          <p:nvPr/>
        </p:nvSpPr>
        <p:spPr>
          <a:xfrm>
            <a:off x="3392424" y="3621024"/>
            <a:ext cx="65836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43" name="Text 41"/>
          <p:cNvSpPr/>
          <p:nvPr/>
        </p:nvSpPr>
        <p:spPr>
          <a:xfrm>
            <a:off x="4123944" y="3621024"/>
            <a:ext cx="120700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Bar 1–7 / 9AM</a:t>
            </a:r>
            <a:endParaRPr lang="en-US" sz="850" dirty="0"/>
          </a:p>
        </p:txBody>
      </p:sp>
      <p:sp>
        <p:nvSpPr>
          <p:cNvPr id="44" name="Text 42"/>
          <p:cNvSpPr/>
          <p:nvPr/>
        </p:nvSpPr>
        <p:spPr>
          <a:xfrm>
            <a:off x="5404104" y="3621024"/>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6,629.25</a:t>
            </a:r>
            <a:endParaRPr lang="en-US" sz="850" dirty="0"/>
          </a:p>
        </p:txBody>
      </p:sp>
      <p:sp>
        <p:nvSpPr>
          <p:cNvPr id="45" name="Text 43"/>
          <p:cNvSpPr/>
          <p:nvPr/>
        </p:nvSpPr>
        <p:spPr>
          <a:xfrm>
            <a:off x="6409944" y="3621024"/>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6,643.50</a:t>
            </a:r>
            <a:endParaRPr lang="en-US" sz="850" dirty="0"/>
          </a:p>
        </p:txBody>
      </p:sp>
      <p:sp>
        <p:nvSpPr>
          <p:cNvPr id="46" name="Text 44"/>
          <p:cNvSpPr/>
          <p:nvPr/>
        </p:nvSpPr>
        <p:spPr>
          <a:xfrm>
            <a:off x="7415784" y="3621024"/>
            <a:ext cx="5669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+57</a:t>
            </a:r>
            <a:endParaRPr lang="en-US" sz="850" dirty="0"/>
          </a:p>
        </p:txBody>
      </p:sp>
      <p:sp>
        <p:nvSpPr>
          <p:cNvPr id="47" name="Text 45"/>
          <p:cNvSpPr/>
          <p:nvPr/>
        </p:nvSpPr>
        <p:spPr>
          <a:xfrm>
            <a:off x="8055864" y="3621024"/>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+$71.25</a:t>
            </a:r>
            <a:endParaRPr lang="en-US" sz="850" dirty="0"/>
          </a:p>
        </p:txBody>
      </p:sp>
      <p:sp>
        <p:nvSpPr>
          <p:cNvPr id="48" name="Shape 46"/>
          <p:cNvSpPr/>
          <p:nvPr/>
        </p:nvSpPr>
        <p:spPr>
          <a:xfrm>
            <a:off x="274320" y="3877056"/>
            <a:ext cx="11612880" cy="310896"/>
          </a:xfrm>
          <a:prstGeom prst="rect">
            <a:avLst/>
          </a:prstGeom>
          <a:solidFill>
            <a:srgbClr val="1E293B"/>
          </a:solidFill>
          <a:ln w="3810">
            <a:solidFill>
              <a:srgbClr val="334155"/>
            </a:solidFill>
            <a:prstDash val="solid"/>
          </a:ln>
        </p:spPr>
      </p:sp>
      <p:sp>
        <p:nvSpPr>
          <p:cNvPr id="49" name="Text 47"/>
          <p:cNvSpPr/>
          <p:nvPr/>
        </p:nvSpPr>
        <p:spPr>
          <a:xfrm>
            <a:off x="329184" y="3950208"/>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T02</a:t>
            </a:r>
            <a:endParaRPr lang="en-US" sz="850" dirty="0"/>
          </a:p>
        </p:txBody>
      </p:sp>
      <p:sp>
        <p:nvSpPr>
          <p:cNvPr id="50" name="Text 48"/>
          <p:cNvSpPr/>
          <p:nvPr/>
        </p:nvSpPr>
        <p:spPr>
          <a:xfrm>
            <a:off x="832104" y="3950208"/>
            <a:ext cx="248716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Low 2 — 2 Legs Down</a:t>
            </a:r>
            <a:endParaRPr lang="en-US" sz="850" dirty="0"/>
          </a:p>
        </p:txBody>
      </p:sp>
      <p:sp>
        <p:nvSpPr>
          <p:cNvPr id="51" name="Text 49"/>
          <p:cNvSpPr/>
          <p:nvPr/>
        </p:nvSpPr>
        <p:spPr>
          <a:xfrm>
            <a:off x="3392424" y="3950208"/>
            <a:ext cx="658368" cy="182880"/>
          </a:xfrm>
          <a:prstGeom prst="rect">
            <a:avLst/>
          </a:prstGeom>
          <a:noFill/>
          <a:ln/>
        </p:spPr>
        <p:txBody>
          <a:bodyPr wrap="square" lIns="0" tIns="0" rIns="0" bIns="0" rtlCol="0" anchor="ctr"/>
          <a:lstStyle/>
          <a:p>
            <a:pPr indent="0" marL="0">
              <a:buNone/>
            </a:pPr>
            <a:r>
              <a:rPr lang="en-US" sz="850" dirty="0">
                <a:solidFill>
                  <a:srgbClr val="EF4444"/>
                </a:solidFill>
                <a:latin typeface="Calibri" pitchFamily="34" charset="0"/>
                <a:ea typeface="Calibri" pitchFamily="34" charset="-122"/>
                <a:cs typeface="Calibri" pitchFamily="34" charset="-120"/>
              </a:rPr>
              <a:t>SHORT</a:t>
            </a:r>
            <a:endParaRPr lang="en-US" sz="850" dirty="0"/>
          </a:p>
        </p:txBody>
      </p:sp>
      <p:sp>
        <p:nvSpPr>
          <p:cNvPr id="52" name="Text 50"/>
          <p:cNvSpPr/>
          <p:nvPr/>
        </p:nvSpPr>
        <p:spPr>
          <a:xfrm>
            <a:off x="4123944" y="3950208"/>
            <a:ext cx="120700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Bar 20–22 / 10AM</a:t>
            </a:r>
            <a:endParaRPr lang="en-US" sz="850" dirty="0"/>
          </a:p>
        </p:txBody>
      </p:sp>
      <p:sp>
        <p:nvSpPr>
          <p:cNvPr id="53" name="Text 51"/>
          <p:cNvSpPr/>
          <p:nvPr/>
        </p:nvSpPr>
        <p:spPr>
          <a:xfrm>
            <a:off x="5404104" y="3950208"/>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6,643.75</a:t>
            </a:r>
            <a:endParaRPr lang="en-US" sz="850" dirty="0"/>
          </a:p>
        </p:txBody>
      </p:sp>
      <p:sp>
        <p:nvSpPr>
          <p:cNvPr id="54" name="Text 52"/>
          <p:cNvSpPr/>
          <p:nvPr/>
        </p:nvSpPr>
        <p:spPr>
          <a:xfrm>
            <a:off x="6409944" y="3950208"/>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6,629.00</a:t>
            </a:r>
            <a:endParaRPr lang="en-US" sz="850" dirty="0"/>
          </a:p>
        </p:txBody>
      </p:sp>
      <p:sp>
        <p:nvSpPr>
          <p:cNvPr id="55" name="Text 53"/>
          <p:cNvSpPr/>
          <p:nvPr/>
        </p:nvSpPr>
        <p:spPr>
          <a:xfrm>
            <a:off x="7415784" y="3950208"/>
            <a:ext cx="5669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+59</a:t>
            </a:r>
            <a:endParaRPr lang="en-US" sz="850" dirty="0"/>
          </a:p>
        </p:txBody>
      </p:sp>
      <p:sp>
        <p:nvSpPr>
          <p:cNvPr id="56" name="Text 54"/>
          <p:cNvSpPr/>
          <p:nvPr/>
        </p:nvSpPr>
        <p:spPr>
          <a:xfrm>
            <a:off x="8055864" y="3950208"/>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+$73.75</a:t>
            </a:r>
            <a:endParaRPr lang="en-US" sz="850" dirty="0"/>
          </a:p>
        </p:txBody>
      </p:sp>
      <p:sp>
        <p:nvSpPr>
          <p:cNvPr id="57" name="Shape 55"/>
          <p:cNvSpPr/>
          <p:nvPr/>
        </p:nvSpPr>
        <p:spPr>
          <a:xfrm>
            <a:off x="274320" y="4206240"/>
            <a:ext cx="11612880" cy="310896"/>
          </a:xfrm>
          <a:prstGeom prst="rect">
            <a:avLst/>
          </a:prstGeom>
          <a:solidFill>
            <a:srgbClr val="172033"/>
          </a:solidFill>
          <a:ln w="3810">
            <a:solidFill>
              <a:srgbClr val="334155"/>
            </a:solidFill>
            <a:prstDash val="solid"/>
          </a:ln>
        </p:spPr>
      </p:sp>
      <p:sp>
        <p:nvSpPr>
          <p:cNvPr id="58" name="Text 56"/>
          <p:cNvSpPr/>
          <p:nvPr/>
        </p:nvSpPr>
        <p:spPr>
          <a:xfrm>
            <a:off x="329184" y="4279392"/>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T03</a:t>
            </a:r>
            <a:endParaRPr lang="en-US" sz="850" dirty="0"/>
          </a:p>
        </p:txBody>
      </p:sp>
      <p:sp>
        <p:nvSpPr>
          <p:cNvPr id="59" name="Text 57"/>
          <p:cNvSpPr/>
          <p:nvPr/>
        </p:nvSpPr>
        <p:spPr>
          <a:xfrm>
            <a:off x="832104" y="4279392"/>
            <a:ext cx="248716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3-Bar Rev + High 2</a:t>
            </a:r>
            <a:endParaRPr lang="en-US" sz="850" dirty="0"/>
          </a:p>
        </p:txBody>
      </p:sp>
      <p:sp>
        <p:nvSpPr>
          <p:cNvPr id="60" name="Text 58"/>
          <p:cNvSpPr/>
          <p:nvPr/>
        </p:nvSpPr>
        <p:spPr>
          <a:xfrm>
            <a:off x="3392424" y="4279392"/>
            <a:ext cx="65836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61" name="Text 59"/>
          <p:cNvSpPr/>
          <p:nvPr/>
        </p:nvSpPr>
        <p:spPr>
          <a:xfrm>
            <a:off x="4123944" y="4279392"/>
            <a:ext cx="120700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Bar 48–55 / 1PM</a:t>
            </a:r>
            <a:endParaRPr lang="en-US" sz="850" dirty="0"/>
          </a:p>
        </p:txBody>
      </p:sp>
      <p:sp>
        <p:nvSpPr>
          <p:cNvPr id="62" name="Text 60"/>
          <p:cNvSpPr/>
          <p:nvPr/>
        </p:nvSpPr>
        <p:spPr>
          <a:xfrm>
            <a:off x="5404104" y="4279392"/>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6,629.75</a:t>
            </a:r>
            <a:endParaRPr lang="en-US" sz="850" dirty="0"/>
          </a:p>
        </p:txBody>
      </p:sp>
      <p:sp>
        <p:nvSpPr>
          <p:cNvPr id="63" name="Text 61"/>
          <p:cNvSpPr/>
          <p:nvPr/>
        </p:nvSpPr>
        <p:spPr>
          <a:xfrm>
            <a:off x="6409944" y="4279392"/>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6,646.50</a:t>
            </a:r>
            <a:endParaRPr lang="en-US" sz="850" dirty="0"/>
          </a:p>
        </p:txBody>
      </p:sp>
      <p:sp>
        <p:nvSpPr>
          <p:cNvPr id="64" name="Text 62"/>
          <p:cNvSpPr/>
          <p:nvPr/>
        </p:nvSpPr>
        <p:spPr>
          <a:xfrm>
            <a:off x="7415784" y="4279392"/>
            <a:ext cx="5669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+67</a:t>
            </a:r>
            <a:endParaRPr lang="en-US" sz="850" dirty="0"/>
          </a:p>
        </p:txBody>
      </p:sp>
      <p:sp>
        <p:nvSpPr>
          <p:cNvPr id="65" name="Text 63"/>
          <p:cNvSpPr/>
          <p:nvPr/>
        </p:nvSpPr>
        <p:spPr>
          <a:xfrm>
            <a:off x="8055864" y="4279392"/>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+$83.75</a:t>
            </a:r>
            <a:endParaRPr lang="en-US" sz="850" dirty="0"/>
          </a:p>
        </p:txBody>
      </p:sp>
      <p:sp>
        <p:nvSpPr>
          <p:cNvPr id="66" name="Shape 64"/>
          <p:cNvSpPr/>
          <p:nvPr/>
        </p:nvSpPr>
        <p:spPr>
          <a:xfrm>
            <a:off x="274320" y="4535424"/>
            <a:ext cx="11612880" cy="310896"/>
          </a:xfrm>
          <a:prstGeom prst="rect">
            <a:avLst/>
          </a:prstGeom>
          <a:solidFill>
            <a:srgbClr val="1E293B"/>
          </a:solidFill>
          <a:ln w="3810">
            <a:solidFill>
              <a:srgbClr val="334155"/>
            </a:solidFill>
            <a:prstDash val="solid"/>
          </a:ln>
        </p:spPr>
      </p:sp>
      <p:sp>
        <p:nvSpPr>
          <p:cNvPr id="67" name="Text 65"/>
          <p:cNvSpPr/>
          <p:nvPr/>
        </p:nvSpPr>
        <p:spPr>
          <a:xfrm>
            <a:off x="329184" y="4608576"/>
            <a:ext cx="429768" cy="182880"/>
          </a:xfrm>
          <a:prstGeom prst="rect">
            <a:avLst/>
          </a:prstGeom>
          <a:noFill/>
          <a:ln/>
        </p:spPr>
        <p:txBody>
          <a:bodyPr wrap="square" lIns="0" tIns="0" rIns="0" bIns="0" rtlCol="0" anchor="ctr"/>
          <a:lstStyle/>
          <a:p>
            <a:pPr indent="0" marL="0">
              <a:buNone/>
            </a:pPr>
            <a:r>
              <a:rPr lang="en-US" sz="850" b="1" dirty="0">
                <a:solidFill>
                  <a:srgbClr val="FCA535"/>
                </a:solidFill>
                <a:latin typeface="Calibri" pitchFamily="34" charset="0"/>
                <a:ea typeface="Calibri" pitchFamily="34" charset="-122"/>
                <a:cs typeface="Calibri" pitchFamily="34" charset="-120"/>
              </a:rPr>
              <a:t>T04</a:t>
            </a:r>
            <a:endParaRPr lang="en-US" sz="850" dirty="0"/>
          </a:p>
        </p:txBody>
      </p:sp>
      <p:sp>
        <p:nvSpPr>
          <p:cNvPr id="68" name="Text 66"/>
          <p:cNvSpPr/>
          <p:nvPr/>
        </p:nvSpPr>
        <p:spPr>
          <a:xfrm>
            <a:off x="832104" y="4608576"/>
            <a:ext cx="2487168" cy="18288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High 2 — 2 Legs Up</a:t>
            </a:r>
            <a:endParaRPr lang="en-US" sz="850" dirty="0"/>
          </a:p>
        </p:txBody>
      </p:sp>
      <p:sp>
        <p:nvSpPr>
          <p:cNvPr id="69" name="Text 67"/>
          <p:cNvSpPr/>
          <p:nvPr/>
        </p:nvSpPr>
        <p:spPr>
          <a:xfrm>
            <a:off x="3392424" y="4608576"/>
            <a:ext cx="65836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LONG</a:t>
            </a:r>
            <a:endParaRPr lang="en-US" sz="850" dirty="0"/>
          </a:p>
        </p:txBody>
      </p:sp>
      <p:sp>
        <p:nvSpPr>
          <p:cNvPr id="70" name="Text 68"/>
          <p:cNvSpPr/>
          <p:nvPr/>
        </p:nvSpPr>
        <p:spPr>
          <a:xfrm>
            <a:off x="4123944" y="4608576"/>
            <a:ext cx="120700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Bar 42–55 / 2PM</a:t>
            </a:r>
            <a:endParaRPr lang="en-US" sz="850" dirty="0"/>
          </a:p>
        </p:txBody>
      </p:sp>
      <p:sp>
        <p:nvSpPr>
          <p:cNvPr id="71" name="Text 69"/>
          <p:cNvSpPr/>
          <p:nvPr/>
        </p:nvSpPr>
        <p:spPr>
          <a:xfrm>
            <a:off x="5404104" y="4608576"/>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6,632.25</a:t>
            </a:r>
            <a:endParaRPr lang="en-US" sz="850" dirty="0"/>
          </a:p>
        </p:txBody>
      </p:sp>
      <p:sp>
        <p:nvSpPr>
          <p:cNvPr id="72" name="Text 70"/>
          <p:cNvSpPr/>
          <p:nvPr/>
        </p:nvSpPr>
        <p:spPr>
          <a:xfrm>
            <a:off x="6409944" y="4608576"/>
            <a:ext cx="932688"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6,651.00</a:t>
            </a:r>
            <a:endParaRPr lang="en-US" sz="850" dirty="0"/>
          </a:p>
        </p:txBody>
      </p:sp>
      <p:sp>
        <p:nvSpPr>
          <p:cNvPr id="73" name="Text 71"/>
          <p:cNvSpPr/>
          <p:nvPr/>
        </p:nvSpPr>
        <p:spPr>
          <a:xfrm>
            <a:off x="7415784" y="4608576"/>
            <a:ext cx="5669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+75</a:t>
            </a:r>
            <a:endParaRPr lang="en-US" sz="850" dirty="0"/>
          </a:p>
        </p:txBody>
      </p:sp>
      <p:sp>
        <p:nvSpPr>
          <p:cNvPr id="74" name="Text 72"/>
          <p:cNvSpPr/>
          <p:nvPr/>
        </p:nvSpPr>
        <p:spPr>
          <a:xfrm>
            <a:off x="8055864" y="4608576"/>
            <a:ext cx="795528" cy="182880"/>
          </a:xfrm>
          <a:prstGeom prst="rect">
            <a:avLst/>
          </a:prstGeom>
          <a:noFill/>
          <a:ln/>
        </p:spPr>
        <p:txBody>
          <a:bodyPr wrap="square" lIns="0" tIns="0" rIns="0" bIns="0" rtlCol="0" anchor="ctr"/>
          <a:lstStyle/>
          <a:p>
            <a:pPr indent="0" marL="0">
              <a:buNone/>
            </a:pPr>
            <a:r>
              <a:rPr lang="en-US" sz="850" dirty="0">
                <a:solidFill>
                  <a:srgbClr val="22C55E"/>
                </a:solidFill>
                <a:latin typeface="Calibri" pitchFamily="34" charset="0"/>
                <a:ea typeface="Calibri" pitchFamily="34" charset="-122"/>
                <a:cs typeface="Calibri" pitchFamily="34" charset="-120"/>
              </a:rPr>
              <a:t>+$93.75</a:t>
            </a:r>
            <a:endParaRPr lang="en-US" sz="850" dirty="0"/>
          </a:p>
        </p:txBody>
      </p:sp>
      <p:sp>
        <p:nvSpPr>
          <p:cNvPr id="75" name="Shape 73"/>
          <p:cNvSpPr/>
          <p:nvPr/>
        </p:nvSpPr>
        <p:spPr>
          <a:xfrm>
            <a:off x="274320" y="5806440"/>
            <a:ext cx="11612880" cy="274320"/>
          </a:xfrm>
          <a:prstGeom prst="rect">
            <a:avLst/>
          </a:prstGeom>
          <a:solidFill>
            <a:srgbClr val="052E16"/>
          </a:solidFill>
          <a:ln w="12700">
            <a:solidFill>
              <a:srgbClr val="14532D"/>
            </a:solidFill>
            <a:prstDash val="solid"/>
          </a:ln>
        </p:spPr>
      </p:sp>
      <p:sp>
        <p:nvSpPr>
          <p:cNvPr id="76" name="Text 74"/>
          <p:cNvSpPr/>
          <p:nvPr/>
        </p:nvSpPr>
        <p:spPr>
          <a:xfrm>
            <a:off x="365760" y="5843016"/>
            <a:ext cx="11430000" cy="182880"/>
          </a:xfrm>
          <a:prstGeom prst="rect">
            <a:avLst/>
          </a:prstGeom>
          <a:noFill/>
          <a:ln/>
        </p:spPr>
        <p:txBody>
          <a:bodyPr wrap="square" lIns="0" tIns="0" rIns="0" bIns="0" rtlCol="0" anchor="ctr"/>
          <a:lstStyle/>
          <a:p>
            <a:pPr algn="ctr" indent="0" marL="0">
              <a:buNone/>
            </a:pPr>
            <a:r>
              <a:rPr lang="en-US" sz="900" b="1" dirty="0">
                <a:solidFill>
                  <a:srgbClr val="22C55E"/>
                </a:solidFill>
                <a:latin typeface="Calibri" pitchFamily="34" charset="0"/>
                <a:ea typeface="Calibri" pitchFamily="34" charset="-122"/>
                <a:cs typeface="Calibri" pitchFamily="34" charset="-120"/>
              </a:rPr>
              <a:t>SESSION TOTAL  ·  4 trades  ·  T01 +57  ·  T02 +59  ·  T03 +67  ·  T04 +75  ·  TOTAL: +258 TICKS  ·  +$322.50 / lot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  T01  ·  2-Leg Reversal + 5min ORB Breakout  ·  LONG  ·  Bars 1–7</a:t>
            </a:r>
            <a:endParaRPr lang="en-US" sz="13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+$71.25</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9:00–9:30 AM  ·  Bars 1–7</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6,629.25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6,643.50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+57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+$71.25</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ETH context:  </a:t>
            </a:r>
            <a:pPr indent="0" marL="0">
              <a:buNone/>
            </a:pPr>
            <a:r>
              <a:rPr lang="en-US" sz="950" dirty="0">
                <a:solidFill>
                  <a:srgbClr val="94A3B8"/>
                </a:solidFill>
                <a:latin typeface="Calibri" pitchFamily="34" charset="0"/>
                <a:ea typeface="Calibri" pitchFamily="34" charset="-122"/>
                <a:cs typeface="Calibri" pitchFamily="34" charset="-120"/>
              </a:rPr>
              <a:t>Strong trending sell-off E26–E66 (6,680→6,611) — price deeply oversold at RTH open</a:t>
            </a:r>
            <a:endParaRPr lang="en-US" sz="950" dirty="0"/>
          </a:p>
        </p:txBody>
      </p:sp>
      <p:sp>
        <p:nvSpPr>
          <p:cNvPr id="24" name="Text 22"/>
          <p:cNvSpPr/>
          <p:nvPr/>
        </p:nvSpPr>
        <p:spPr>
          <a:xfrm>
            <a:off x="2395728" y="2679192"/>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TD9 exhaustion:  </a:t>
            </a:r>
            <a:pPr indent="0" marL="0">
              <a:buNone/>
            </a:pPr>
            <a:r>
              <a:rPr lang="en-US" sz="950" dirty="0">
                <a:solidFill>
                  <a:srgbClr val="94A3B8"/>
                </a:solidFill>
                <a:latin typeface="Calibri" pitchFamily="34" charset="0"/>
                <a:ea typeface="Calibri" pitchFamily="34" charset="-122"/>
                <a:cs typeface="Calibri" pitchFamily="34" charset="-120"/>
              </a:rPr>
              <a:t>Sequential 9 printed just before RTH open — ETH downtrend showing exhaustion signals</a:t>
            </a:r>
            <a:endParaRPr lang="en-US" sz="950" dirty="0"/>
          </a:p>
        </p:txBody>
      </p:sp>
      <p:sp>
        <p:nvSpPr>
          <p:cNvPr id="25" name="Text 23"/>
          <p:cNvSpPr/>
          <p:nvPr/>
        </p:nvSpPr>
        <p:spPr>
          <a:xfrm>
            <a:off x="2395728" y="292608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Bar 1 — inside bar:  </a:t>
            </a:r>
            <a:pPr indent="0" marL="0">
              <a:buNone/>
            </a:pPr>
            <a:r>
              <a:rPr lang="en-US" sz="950" dirty="0">
                <a:solidFill>
                  <a:srgbClr val="94A3B8"/>
                </a:solidFill>
                <a:latin typeface="Calibri" pitchFamily="34" charset="0"/>
                <a:ea typeface="Calibri" pitchFamily="34" charset="-122"/>
                <a:cs typeface="Calibri" pitchFamily="34" charset="-120"/>
              </a:rPr>
              <a:t>Bullish inside bar at the RTH open low — compression after two legs down, buyers absorbing</a:t>
            </a:r>
            <a:endParaRPr lang="en-US" sz="950" dirty="0"/>
          </a:p>
        </p:txBody>
      </p:sp>
      <p:sp>
        <p:nvSpPr>
          <p:cNvPr id="26" name="Text 24"/>
          <p:cNvSpPr/>
          <p:nvPr/>
        </p:nvSpPr>
        <p:spPr>
          <a:xfrm>
            <a:off x="2395728" y="31729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5min ORB break:  </a:t>
            </a:r>
            <a:pPr indent="0" marL="0">
              <a:buNone/>
            </a:pPr>
            <a:r>
              <a:rPr lang="en-US" sz="950" dirty="0">
                <a:solidFill>
                  <a:srgbClr val="94A3B8"/>
                </a:solidFill>
                <a:latin typeface="Calibri" pitchFamily="34" charset="0"/>
                <a:ea typeface="Calibri" pitchFamily="34" charset="-122"/>
                <a:cs typeface="Calibri" pitchFamily="34" charset="-120"/>
              </a:rPr>
              <a:t>Bar 1 high defined the 5-min opening range — buy STOP above triggers the 1:1 measured move up</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STOP 1 tick above Bar 1 high (ORB breakout) — 6,629.25</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1:1 measured move of the 5-min ORB — target 6,643.50</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Two legs down in ETH + TD9 exhaustion + bullish inside bar at the low = three-confluence reversal. Bar 1 as inside bar defines the ORB range cleanly. Break above = 1:1 move is the minimum target.</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When ETH makes two clear legs down and prints a TD9 exhaustion signal, the RTH open is primed for a reversal. A bullish inside bar at Bar 1 is the confirmation — it tells you buyers are absorbing all the ETH selling at the lows. The 5-min ORB breakout above Bar 1 high is not a prediction, it is a mechanical trigger. Two-leg reversals at extremes with a clean inside bar compression are among the highest probability setups across any session.</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T01  ·  2-Leg Reversal + 5min ORB Breakout  ·  MESM6 5m  ·  Personal trade journal — not financial advice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450A0A"/>
          </a:solidFill>
          <a:ln w="12700">
            <a:solidFill>
              <a:srgbClr val="450A0A"/>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T02  ·  Low 2 — 2 Legs Down  ·  SHORT  ·  Bars 20–22</a:t>
            </a:r>
            <a:endParaRPr lang="en-US" sz="13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FCA5A5"/>
                </a:solidFill>
                <a:latin typeface="Calibri" pitchFamily="34" charset="0"/>
                <a:ea typeface="Calibri" pitchFamily="34" charset="-122"/>
                <a:cs typeface="Calibri" pitchFamily="34" charset="-120"/>
              </a:rPr>
              <a:t>+$73.75</a:t>
            </a:r>
            <a:endParaRPr lang="en-US" sz="1500" dirty="0"/>
          </a:p>
        </p:txBody>
      </p:sp>
      <p:sp>
        <p:nvSpPr>
          <p:cNvPr id="6" name="Shape 4"/>
          <p:cNvSpPr/>
          <p:nvPr/>
        </p:nvSpPr>
        <p:spPr>
          <a:xfrm>
            <a:off x="2286000" y="621792"/>
            <a:ext cx="9646920" cy="384048"/>
          </a:xfrm>
          <a:prstGeom prst="rect">
            <a:avLst/>
          </a:prstGeom>
          <a:solidFill>
            <a:srgbClr val="450A0A"/>
          </a:solidFill>
          <a:ln w="6350">
            <a:solidFill>
              <a:srgbClr val="7F1D1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10:00–11:00 AM  ·  Bars 20–22</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6,643.75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6,629.00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+59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+$73.75</a:t>
            </a:r>
            <a:endParaRPr lang="en-US" sz="1300" dirty="0"/>
          </a:p>
        </p:txBody>
      </p:sp>
      <p:sp>
        <p:nvSpPr>
          <p:cNvPr id="20" name="Shape 18"/>
          <p:cNvSpPr/>
          <p:nvPr/>
        </p:nvSpPr>
        <p:spPr>
          <a:xfrm>
            <a:off x="228600" y="2340864"/>
            <a:ext cx="1938528" cy="1115568"/>
          </a:xfrm>
          <a:prstGeom prst="rect">
            <a:avLst/>
          </a:prstGeom>
          <a:solidFill>
            <a:srgbClr val="450A0A"/>
          </a:solidFill>
          <a:ln w="9525">
            <a:solidFill>
              <a:srgbClr val="7F1D1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 legs up completed:  </a:t>
            </a:r>
            <a:pPr indent="0" marL="0">
              <a:buNone/>
            </a:pPr>
            <a:r>
              <a:rPr lang="en-US" sz="950" dirty="0">
                <a:solidFill>
                  <a:srgbClr val="94A3B8"/>
                </a:solidFill>
                <a:latin typeface="Calibri" pitchFamily="34" charset="0"/>
                <a:ea typeface="Calibri" pitchFamily="34" charset="-122"/>
                <a:cs typeface="Calibri" pitchFamily="34" charset="-120"/>
              </a:rPr>
              <a:t>Price ran from Bar 1 low up through Bars 7–20 in two distinct legs — structure topped out</a:t>
            </a:r>
            <a:endParaRPr lang="en-US" sz="950" dirty="0"/>
          </a:p>
        </p:txBody>
      </p:sp>
      <p:sp>
        <p:nvSpPr>
          <p:cNvPr id="24" name="Text 22"/>
          <p:cNvSpPr/>
          <p:nvPr/>
        </p:nvSpPr>
        <p:spPr>
          <a:xfrm>
            <a:off x="2395728" y="2679192"/>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Bar 20/21 — Low 2:  </a:t>
            </a:r>
            <a:pPr indent="0" marL="0">
              <a:buNone/>
            </a:pPr>
            <a:r>
              <a:rPr lang="en-US" sz="950" dirty="0">
                <a:solidFill>
                  <a:srgbClr val="94A3B8"/>
                </a:solidFill>
                <a:latin typeface="Calibri" pitchFamily="34" charset="0"/>
                <a:ea typeface="Calibri" pitchFamily="34" charset="-122"/>
                <a:cs typeface="Calibri" pitchFamily="34" charset="-120"/>
              </a:rPr>
              <a:t>Classic Low 2 signal at the range high — second lower high after a failed push above 6,644</a:t>
            </a:r>
            <a:endParaRPr lang="en-US" sz="950" dirty="0"/>
          </a:p>
        </p:txBody>
      </p:sp>
      <p:sp>
        <p:nvSpPr>
          <p:cNvPr id="25" name="Text 23"/>
          <p:cNvSpPr/>
          <p:nvPr/>
        </p:nvSpPr>
        <p:spPr>
          <a:xfrm>
            <a:off x="2395728" y="292608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Upper resistance:  </a:t>
            </a:r>
            <a:pPr indent="0" marL="0">
              <a:buNone/>
            </a:pPr>
            <a:r>
              <a:rPr lang="en-US" sz="950" dirty="0">
                <a:solidFill>
                  <a:srgbClr val="94A3B8"/>
                </a:solidFill>
                <a:latin typeface="Calibri" pitchFamily="34" charset="0"/>
                <a:ea typeface="Calibri" pitchFamily="34" charset="-122"/>
                <a:cs typeface="Calibri" pitchFamily="34" charset="-120"/>
              </a:rPr>
              <a:t>White horizontal line at 6,643–6,644 rejected price on multiple attempts — supply zone confirmed</a:t>
            </a:r>
            <a:endParaRPr lang="en-US" sz="950" dirty="0"/>
          </a:p>
        </p:txBody>
      </p:sp>
      <p:sp>
        <p:nvSpPr>
          <p:cNvPr id="26" name="Text 24"/>
          <p:cNvSpPr/>
          <p:nvPr/>
        </p:nvSpPr>
        <p:spPr>
          <a:xfrm>
            <a:off x="2395728" y="31729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overhead:  </a:t>
            </a:r>
            <a:pPr indent="0" marL="0">
              <a:buNone/>
            </a:pPr>
            <a:r>
              <a:rPr lang="en-US" sz="950" dirty="0">
                <a:solidFill>
                  <a:srgbClr val="94A3B8"/>
                </a:solidFill>
                <a:latin typeface="Calibri" pitchFamily="34" charset="0"/>
                <a:ea typeface="Calibri" pitchFamily="34" charset="-122"/>
                <a:cs typeface="Calibri" pitchFamily="34" charset="-120"/>
              </a:rPr>
              <a:t>20 EMA still sloping down above price at the time of entry — bears in structural control</a:t>
            </a:r>
            <a:endParaRPr lang="en-US" sz="950" dirty="0"/>
          </a:p>
        </p:txBody>
      </p:sp>
      <p:sp>
        <p:nvSpPr>
          <p:cNvPr id="27" name="Shape 25"/>
          <p:cNvSpPr/>
          <p:nvPr/>
        </p:nvSpPr>
        <p:spPr>
          <a:xfrm>
            <a:off x="228600" y="3566160"/>
            <a:ext cx="1938528" cy="1115568"/>
          </a:xfrm>
          <a:prstGeom prst="rect">
            <a:avLst/>
          </a:prstGeom>
          <a:solidFill>
            <a:srgbClr val="450A0A"/>
          </a:solidFill>
          <a:ln w="9525">
            <a:solidFill>
              <a:srgbClr val="7F1D1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EF4444"/>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EF4444"/>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Sell STOP 1 tick below Bar 20/21 Low 2 — 6,643.75 breakdown</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Exit at range low / 1:1 measured move — 6,629.00</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Two legs up completed at resistance + Low 2 signal = high probability 2-leg sell-off. Range high rejection with EMA overhead confirmed bearish bias. Expecting price to return to the range low.</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After a two-leg move up into a known resistance level, the Low 2 is the tell. It shows buyers made a second attempt at the high and failed — the second failure is weaker than the first. Combined with the 20 EMA still overhead and the white resistance line rejecting price, the trade becomes obvious. The target is always the other side of the range — do not exit early if the structure supports the full move.</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T02  ·  Low 2 — 2 Legs Down  ·  MESM6 5m  ·  Personal trade journal — not financial advice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  T03  ·  3-Bar Reversal + High 2  ·  LONG  ·  Bars 48–55</a:t>
            </a:r>
            <a:endParaRPr lang="en-US" sz="13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+$83.75</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1:00–2:00 PM  ·  Bars 48–55</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6,629.75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6,646.50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+67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+$83.75</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3-bar reversal (B48–50):  </a:t>
            </a:r>
            <a:pPr indent="0" marL="0">
              <a:buNone/>
            </a:pPr>
            <a:r>
              <a:rPr lang="en-US" sz="950" dirty="0">
                <a:solidFill>
                  <a:srgbClr val="94A3B8"/>
                </a:solidFill>
                <a:latin typeface="Calibri" pitchFamily="34" charset="0"/>
                <a:ea typeface="Calibri" pitchFamily="34" charset="-122"/>
                <a:cs typeface="Calibri" pitchFamily="34" charset="-120"/>
              </a:rPr>
              <a:t>Three consecutive bars forming a reversal pattern at the range low — bears losing momentum</a:t>
            </a:r>
            <a:endParaRPr lang="en-US" sz="950" dirty="0"/>
          </a:p>
        </p:txBody>
      </p:sp>
      <p:sp>
        <p:nvSpPr>
          <p:cNvPr id="24" name="Text 22"/>
          <p:cNvSpPr/>
          <p:nvPr/>
        </p:nvSpPr>
        <p:spPr>
          <a:xfrm>
            <a:off x="2395728" y="2679192"/>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Bar 51/52 — High 2:  </a:t>
            </a:r>
            <a:pPr indent="0" marL="0">
              <a:buNone/>
            </a:pPr>
            <a:r>
              <a:rPr lang="en-US" sz="950" dirty="0">
                <a:solidFill>
                  <a:srgbClr val="94A3B8"/>
                </a:solidFill>
                <a:latin typeface="Calibri" pitchFamily="34" charset="0"/>
                <a:ea typeface="Calibri" pitchFamily="34" charset="-122"/>
                <a:cs typeface="Calibri" pitchFamily="34" charset="-120"/>
              </a:rPr>
              <a:t>High 2 signal after the 3-bar reversal base — second attempt above the prior bar high confirms buyers</a:t>
            </a:r>
            <a:endParaRPr lang="en-US" sz="950" dirty="0"/>
          </a:p>
        </p:txBody>
      </p:sp>
      <p:sp>
        <p:nvSpPr>
          <p:cNvPr id="25" name="Text 23"/>
          <p:cNvSpPr/>
          <p:nvPr/>
        </p:nvSpPr>
        <p:spPr>
          <a:xfrm>
            <a:off x="2395728" y="292608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Range low defence:  </a:t>
            </a:r>
            <a:pPr indent="0" marL="0">
              <a:buNone/>
            </a:pPr>
            <a:r>
              <a:rPr lang="en-US" sz="950" dirty="0">
                <a:solidFill>
                  <a:srgbClr val="94A3B8"/>
                </a:solidFill>
                <a:latin typeface="Calibri" pitchFamily="34" charset="0"/>
                <a:ea typeface="Calibri" pitchFamily="34" charset="-122"/>
                <a:cs typeface="Calibri" pitchFamily="34" charset="-120"/>
              </a:rPr>
              <a:t>6,629–6,620 zone held on multiple afternoon retests — significant buying interest at the low</a:t>
            </a:r>
            <a:endParaRPr lang="en-US" sz="950" dirty="0"/>
          </a:p>
        </p:txBody>
      </p:sp>
      <p:sp>
        <p:nvSpPr>
          <p:cNvPr id="26" name="Text 24"/>
          <p:cNvSpPr/>
          <p:nvPr/>
        </p:nvSpPr>
        <p:spPr>
          <a:xfrm>
            <a:off x="2395728" y="31729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EMA flattening:  </a:t>
            </a:r>
            <a:pPr indent="0" marL="0">
              <a:buNone/>
            </a:pPr>
            <a:r>
              <a:rPr lang="en-US" sz="950" dirty="0">
                <a:solidFill>
                  <a:srgbClr val="94A3B8"/>
                </a:solidFill>
                <a:latin typeface="Calibri" pitchFamily="34" charset="0"/>
                <a:ea typeface="Calibri" pitchFamily="34" charset="-122"/>
                <a:cs typeface="Calibri" pitchFamily="34" charset="-120"/>
              </a:rPr>
              <a:t>Blue EMA beginning to flatten and turn — momentum shift from bearish to neutral/bullish underway</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STOP 1 tick above Bar 51/52 High 2 — 6,629.75</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2 legs up target / range high — 6,646.50</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3-bar reversal base at the range low followed by a High 2 = two-layer confirmation. The range low held again, EMAs flattening. Expecting 2 legs up mirroring the earlier range rotations.</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A 3-bar reversal at a well-tested support level tells you sellers have been exhausted at that price. The High 2 that follows is the entry trigger — it confirms that buyers have taken control and are pushing above prior bar highs. This setup is more reliable when the level has been tested multiple times across the session. The more times a level holds, the stronger the eventual bounce. Wait for the High 2 confirmation, not just the reversal bars.</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T03  ·  3-Bar Reversal + High 2  ·  MESM6 5m  ·  Personal trade journal — not financial advice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512064"/>
          </a:xfrm>
          <a:prstGeom prst="rect">
            <a:avLst/>
          </a:prstGeom>
          <a:solidFill>
            <a:srgbClr val="052E16"/>
          </a:solidFill>
          <a:ln w="12700">
            <a:solidFill>
              <a:srgbClr val="052E16"/>
            </a:solidFill>
            <a:prstDash val="solid"/>
          </a:ln>
        </p:spPr>
      </p:sp>
      <p:sp>
        <p:nvSpPr>
          <p:cNvPr id="3" name="Text 1"/>
          <p:cNvSpPr/>
          <p:nvPr/>
        </p:nvSpPr>
        <p:spPr>
          <a:xfrm>
            <a:off x="228600" y="82296"/>
            <a:ext cx="7772400" cy="32918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  T04  ·  High 2 — 2 Legs Down — 1:2.5R  ·  LONG  ·  Bars 42–67</a:t>
            </a:r>
            <a:endParaRPr lang="en-US" sz="1300" dirty="0"/>
          </a:p>
        </p:txBody>
      </p:sp>
      <p:sp>
        <p:nvSpPr>
          <p:cNvPr id="4" name="Text 2"/>
          <p:cNvSpPr/>
          <p:nvPr/>
        </p:nvSpPr>
        <p:spPr>
          <a:xfrm>
            <a:off x="8046720" y="82296"/>
            <a:ext cx="3886200" cy="18288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MESM6  5m</a:t>
            </a:r>
            <a:endParaRPr lang="en-US" sz="900" dirty="0"/>
          </a:p>
        </p:txBody>
      </p:sp>
      <p:sp>
        <p:nvSpPr>
          <p:cNvPr id="5" name="Text 3"/>
          <p:cNvSpPr/>
          <p:nvPr/>
        </p:nvSpPr>
        <p:spPr>
          <a:xfrm>
            <a:off x="8046720" y="256032"/>
            <a:ext cx="3886200" cy="219456"/>
          </a:xfrm>
          <a:prstGeom prst="rect">
            <a:avLst/>
          </a:prstGeom>
          <a:noFill/>
          <a:ln/>
        </p:spPr>
        <p:txBody>
          <a:bodyPr wrap="square" lIns="0" tIns="0" rIns="0" bIns="0" rtlCol="0" anchor="ctr"/>
          <a:lstStyle/>
          <a:p>
            <a:pPr algn="r" indent="0" marL="0">
              <a:buNone/>
            </a:pPr>
            <a:r>
              <a:rPr lang="en-US" sz="1500" b="1" dirty="0">
                <a:solidFill>
                  <a:srgbClr val="86EFAC"/>
                </a:solidFill>
                <a:latin typeface="Calibri" pitchFamily="34" charset="0"/>
                <a:ea typeface="Calibri" pitchFamily="34" charset="-122"/>
                <a:cs typeface="Calibri" pitchFamily="34" charset="-120"/>
              </a:rPr>
              <a:t>+$93.75</a:t>
            </a:r>
            <a:endParaRPr lang="en-US" sz="1500" dirty="0"/>
          </a:p>
        </p:txBody>
      </p:sp>
      <p:sp>
        <p:nvSpPr>
          <p:cNvPr id="6" name="Shape 4"/>
          <p:cNvSpPr/>
          <p:nvPr/>
        </p:nvSpPr>
        <p:spPr>
          <a:xfrm>
            <a:off x="2286000" y="621792"/>
            <a:ext cx="9646920" cy="384048"/>
          </a:xfrm>
          <a:prstGeom prst="rect">
            <a:avLst/>
          </a:prstGeom>
          <a:solidFill>
            <a:srgbClr val="052E16"/>
          </a:solidFill>
          <a:ln w="6350">
            <a:solidFill>
              <a:srgbClr val="14532D"/>
            </a:solidFill>
            <a:prstDash val="solid"/>
          </a:ln>
        </p:spPr>
      </p:sp>
      <p:sp>
        <p:nvSpPr>
          <p:cNvPr id="7" name="Text 5"/>
          <p:cNvSpPr/>
          <p:nvPr/>
        </p:nvSpPr>
        <p:spPr>
          <a:xfrm>
            <a:off x="2286000" y="685800"/>
            <a:ext cx="9646920" cy="256032"/>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TRADE EXPLANATION</a:t>
            </a:r>
            <a:endParaRPr lang="en-US" sz="1200" dirty="0"/>
          </a:p>
        </p:txBody>
      </p:sp>
      <p:sp>
        <p:nvSpPr>
          <p:cNvPr id="8" name="Shape 6"/>
          <p:cNvSpPr/>
          <p:nvPr/>
        </p:nvSpPr>
        <p:spPr>
          <a:xfrm>
            <a:off x="228600" y="1115568"/>
            <a:ext cx="1938528" cy="1115568"/>
          </a:xfrm>
          <a:prstGeom prst="rect">
            <a:avLst/>
          </a:prstGeom>
          <a:solidFill>
            <a:srgbClr val="0D2E38"/>
          </a:solidFill>
          <a:ln w="9525">
            <a:solidFill>
              <a:srgbClr val="134E5E"/>
            </a:solidFill>
            <a:prstDash val="solid"/>
          </a:ln>
          <a:effectLst>
            <a:outerShdw sx="100000" sy="100000" kx="0" ky="0" algn="bl" rotWithShape="0" blurRad="38100" dist="25400" dir="8100000">
              <a:srgbClr val="000000">
                <a:alpha val="20000"/>
              </a:srgbClr>
            </a:outerShdw>
          </a:effectLst>
        </p:spPr>
      </p:sp>
      <p:sp>
        <p:nvSpPr>
          <p:cNvPr id="9" name="Text 7"/>
          <p:cNvSpPr/>
          <p:nvPr/>
        </p:nvSpPr>
        <p:spPr>
          <a:xfrm>
            <a:off x="274320" y="1536192"/>
            <a:ext cx="1828800" cy="27432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Charting</a:t>
            </a:r>
            <a:endParaRPr lang="en-US" sz="1200" dirty="0"/>
          </a:p>
        </p:txBody>
      </p:sp>
      <p:sp>
        <p:nvSpPr>
          <p:cNvPr id="10" name="Shape 8"/>
          <p:cNvSpPr/>
          <p:nvPr/>
        </p:nvSpPr>
        <p:spPr>
          <a:xfrm>
            <a:off x="2286000" y="1115568"/>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11" name="Text 9"/>
          <p:cNvSpPr/>
          <p:nvPr/>
        </p:nvSpPr>
        <p:spPr>
          <a:xfrm>
            <a:off x="2395728" y="1207008"/>
            <a:ext cx="941832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2:00–4:00 PM  ·  Bars 42–67</a:t>
            </a:r>
            <a:endParaRPr lang="en-US" sz="850" dirty="0"/>
          </a:p>
        </p:txBody>
      </p:sp>
      <p:sp>
        <p:nvSpPr>
          <p:cNvPr id="12" name="Text 10"/>
          <p:cNvSpPr/>
          <p:nvPr/>
        </p:nvSpPr>
        <p:spPr>
          <a:xfrm>
            <a:off x="239572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Entry</a:t>
            </a:r>
            <a:endParaRPr lang="en-US" sz="800" dirty="0"/>
          </a:p>
        </p:txBody>
      </p:sp>
      <p:sp>
        <p:nvSpPr>
          <p:cNvPr id="13" name="Text 11"/>
          <p:cNvSpPr/>
          <p:nvPr/>
        </p:nvSpPr>
        <p:spPr>
          <a:xfrm>
            <a:off x="239572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6,632.25</a:t>
            </a:r>
            <a:endParaRPr lang="en-US" sz="1300" dirty="0"/>
          </a:p>
        </p:txBody>
      </p:sp>
      <p:sp>
        <p:nvSpPr>
          <p:cNvPr id="14" name="Text 12"/>
          <p:cNvSpPr/>
          <p:nvPr/>
        </p:nvSpPr>
        <p:spPr>
          <a:xfrm>
            <a:off x="477316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Exit</a:t>
            </a:r>
            <a:endParaRPr lang="en-US" sz="800" dirty="0"/>
          </a:p>
        </p:txBody>
      </p:sp>
      <p:sp>
        <p:nvSpPr>
          <p:cNvPr id="15" name="Text 13"/>
          <p:cNvSpPr/>
          <p:nvPr/>
        </p:nvSpPr>
        <p:spPr>
          <a:xfrm>
            <a:off x="4773168" y="1627632"/>
            <a:ext cx="21945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6,651.00</a:t>
            </a:r>
            <a:endParaRPr lang="en-US" sz="1300" dirty="0"/>
          </a:p>
        </p:txBody>
      </p:sp>
      <p:sp>
        <p:nvSpPr>
          <p:cNvPr id="16" name="Text 14"/>
          <p:cNvSpPr/>
          <p:nvPr/>
        </p:nvSpPr>
        <p:spPr>
          <a:xfrm>
            <a:off x="715060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Ticks</a:t>
            </a:r>
            <a:endParaRPr lang="en-US" sz="800" dirty="0"/>
          </a:p>
        </p:txBody>
      </p:sp>
      <p:sp>
        <p:nvSpPr>
          <p:cNvPr id="17" name="Text 15"/>
          <p:cNvSpPr/>
          <p:nvPr/>
        </p:nvSpPr>
        <p:spPr>
          <a:xfrm>
            <a:off x="715060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+75 ticks</a:t>
            </a:r>
            <a:endParaRPr lang="en-US" sz="1300" dirty="0"/>
          </a:p>
        </p:txBody>
      </p:sp>
      <p:sp>
        <p:nvSpPr>
          <p:cNvPr id="18" name="Text 16"/>
          <p:cNvSpPr/>
          <p:nvPr/>
        </p:nvSpPr>
        <p:spPr>
          <a:xfrm>
            <a:off x="9528048" y="1463040"/>
            <a:ext cx="109728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PnL</a:t>
            </a:r>
            <a:endParaRPr lang="en-US" sz="800" dirty="0"/>
          </a:p>
        </p:txBody>
      </p:sp>
      <p:sp>
        <p:nvSpPr>
          <p:cNvPr id="19" name="Text 17"/>
          <p:cNvSpPr/>
          <p:nvPr/>
        </p:nvSpPr>
        <p:spPr>
          <a:xfrm>
            <a:off x="9528048" y="1627632"/>
            <a:ext cx="2194560" cy="237744"/>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+$93.75</a:t>
            </a:r>
            <a:endParaRPr lang="en-US" sz="1300" dirty="0"/>
          </a:p>
        </p:txBody>
      </p:sp>
      <p:sp>
        <p:nvSpPr>
          <p:cNvPr id="20" name="Shape 18"/>
          <p:cNvSpPr/>
          <p:nvPr/>
        </p:nvSpPr>
        <p:spPr>
          <a:xfrm>
            <a:off x="228600" y="2340864"/>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1" name="Text 19"/>
          <p:cNvSpPr/>
          <p:nvPr/>
        </p:nvSpPr>
        <p:spPr>
          <a:xfrm>
            <a:off x="274320" y="2761488"/>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Context</a:t>
            </a:r>
            <a:endParaRPr lang="en-US" sz="1200" dirty="0"/>
          </a:p>
        </p:txBody>
      </p:sp>
      <p:sp>
        <p:nvSpPr>
          <p:cNvPr id="22" name="Shape 20"/>
          <p:cNvSpPr/>
          <p:nvPr/>
        </p:nvSpPr>
        <p:spPr>
          <a:xfrm>
            <a:off x="2286000" y="2340864"/>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23" name="Text 21"/>
          <p:cNvSpPr/>
          <p:nvPr/>
        </p:nvSpPr>
        <p:spPr>
          <a:xfrm>
            <a:off x="2395728" y="2432304"/>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 legs down (B36–41):  </a:t>
            </a:r>
            <a:pPr indent="0" marL="0">
              <a:buNone/>
            </a:pPr>
            <a:r>
              <a:rPr lang="en-US" sz="950" dirty="0">
                <a:solidFill>
                  <a:srgbClr val="94A3B8"/>
                </a:solidFill>
                <a:latin typeface="Calibri" pitchFamily="34" charset="0"/>
                <a:ea typeface="Calibri" pitchFamily="34" charset="-122"/>
                <a:cs typeface="Calibri" pitchFamily="34" charset="-120"/>
              </a:rPr>
              <a:t>Clear two-leg structure down from the midday high — leg 1 and leg 2 measured, both clean</a:t>
            </a:r>
            <a:endParaRPr lang="en-US" sz="950" dirty="0"/>
          </a:p>
        </p:txBody>
      </p:sp>
      <p:sp>
        <p:nvSpPr>
          <p:cNvPr id="24" name="Text 22"/>
          <p:cNvSpPr/>
          <p:nvPr/>
        </p:nvSpPr>
        <p:spPr>
          <a:xfrm>
            <a:off x="2395728" y="2679192"/>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Bar 42/43 — High 2:  </a:t>
            </a:r>
            <a:pPr indent="0" marL="0">
              <a:buNone/>
            </a:pPr>
            <a:r>
              <a:rPr lang="en-US" sz="950" dirty="0">
                <a:solidFill>
                  <a:srgbClr val="94A3B8"/>
                </a:solidFill>
                <a:latin typeface="Calibri" pitchFamily="34" charset="0"/>
                <a:ea typeface="Calibri" pitchFamily="34" charset="-122"/>
                <a:cs typeface="Calibri" pitchFamily="34" charset="-120"/>
              </a:rPr>
              <a:t>High 2 forms after the two-leg sell-off — second attempt above prior bar high signals reversal</a:t>
            </a:r>
            <a:endParaRPr lang="en-US" sz="950" dirty="0"/>
          </a:p>
        </p:txBody>
      </p:sp>
      <p:sp>
        <p:nvSpPr>
          <p:cNvPr id="25" name="Text 23"/>
          <p:cNvSpPr/>
          <p:nvPr/>
        </p:nvSpPr>
        <p:spPr>
          <a:xfrm>
            <a:off x="2395728" y="2926080"/>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CHoCH signal:  </a:t>
            </a:r>
            <a:pPr indent="0" marL="0">
              <a:buNone/>
            </a:pPr>
            <a:r>
              <a:rPr lang="en-US" sz="950" dirty="0">
                <a:solidFill>
                  <a:srgbClr val="94A3B8"/>
                </a:solidFill>
                <a:latin typeface="Calibri" pitchFamily="34" charset="0"/>
                <a:ea typeface="Calibri" pitchFamily="34" charset="-122"/>
                <a:cs typeface="Calibri" pitchFamily="34" charset="-120"/>
              </a:rPr>
              <a:t>Break above the most recent swing high (B41 area) confirms Change of Character — trend flip</a:t>
            </a:r>
            <a:endParaRPr lang="en-US" sz="950" dirty="0"/>
          </a:p>
        </p:txBody>
      </p:sp>
      <p:sp>
        <p:nvSpPr>
          <p:cNvPr id="26" name="Text 24"/>
          <p:cNvSpPr/>
          <p:nvPr/>
        </p:nvSpPr>
        <p:spPr>
          <a:xfrm>
            <a:off x="2395728" y="3172968"/>
            <a:ext cx="941832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Yellow resistance ahead:  </a:t>
            </a:r>
            <a:pPr indent="0" marL="0">
              <a:buNone/>
            </a:pPr>
            <a:r>
              <a:rPr lang="en-US" sz="950" dirty="0">
                <a:solidFill>
                  <a:srgbClr val="94A3B8"/>
                </a:solidFill>
                <a:latin typeface="Calibri" pitchFamily="34" charset="0"/>
                <a:ea typeface="Calibri" pitchFamily="34" charset="-122"/>
                <a:cs typeface="Calibri" pitchFamily="34" charset="-120"/>
              </a:rPr>
              <a:t>Yellow VWAP line + white horizontal at 6,648–6,650 = extension target for the 1:2.5R move</a:t>
            </a:r>
            <a:endParaRPr lang="en-US" sz="950" dirty="0"/>
          </a:p>
        </p:txBody>
      </p:sp>
      <p:sp>
        <p:nvSpPr>
          <p:cNvPr id="27" name="Shape 25"/>
          <p:cNvSpPr/>
          <p:nvPr/>
        </p:nvSpPr>
        <p:spPr>
          <a:xfrm>
            <a:off x="228600" y="3566160"/>
            <a:ext cx="1938528" cy="1115568"/>
          </a:xfrm>
          <a:prstGeom prst="rect">
            <a:avLst/>
          </a:prstGeom>
          <a:solidFill>
            <a:srgbClr val="052E16"/>
          </a:solidFill>
          <a:ln w="9525">
            <a:solidFill>
              <a:srgbClr val="14532D"/>
            </a:solidFill>
            <a:prstDash val="solid"/>
          </a:ln>
          <a:effectLst>
            <a:outerShdw sx="100000" sy="100000" kx="0" ky="0" algn="bl" rotWithShape="0" blurRad="38100" dist="25400" dir="8100000">
              <a:srgbClr val="000000">
                <a:alpha val="20000"/>
              </a:srgbClr>
            </a:outerShdw>
          </a:effectLst>
        </p:spPr>
      </p:sp>
      <p:sp>
        <p:nvSpPr>
          <p:cNvPr id="28" name="Text 26"/>
          <p:cNvSpPr/>
          <p:nvPr/>
        </p:nvSpPr>
        <p:spPr>
          <a:xfrm>
            <a:off x="274320" y="3895344"/>
            <a:ext cx="1828800" cy="45720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Entry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Exit</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Reason</a:t>
            </a:r>
            <a:endParaRPr lang="en-US" sz="1100" dirty="0"/>
          </a:p>
        </p:txBody>
      </p:sp>
      <p:sp>
        <p:nvSpPr>
          <p:cNvPr id="29" name="Shape 27"/>
          <p:cNvSpPr/>
          <p:nvPr/>
        </p:nvSpPr>
        <p:spPr>
          <a:xfrm>
            <a:off x="2286000" y="3566160"/>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0" name="Text 28"/>
          <p:cNvSpPr/>
          <p:nvPr/>
        </p:nvSpPr>
        <p:spPr>
          <a:xfrm>
            <a:off x="2395728" y="365760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Entry   </a:t>
            </a:r>
            <a:pPr indent="0" marL="0">
              <a:buNone/>
            </a:pPr>
            <a:r>
              <a:rPr lang="en-US" sz="950" dirty="0">
                <a:solidFill>
                  <a:srgbClr val="FFFFFF"/>
                </a:solidFill>
                <a:latin typeface="Calibri" pitchFamily="34" charset="0"/>
                <a:ea typeface="Calibri" pitchFamily="34" charset="-122"/>
                <a:cs typeface="Calibri" pitchFamily="34" charset="-120"/>
              </a:rPr>
              <a:t>Buy STOP 1 tick above Bar 42/43 High 2 — 6,632.25</a:t>
            </a:r>
            <a:endParaRPr lang="en-US" sz="950" dirty="0"/>
          </a:p>
        </p:txBody>
      </p:sp>
      <p:sp>
        <p:nvSpPr>
          <p:cNvPr id="31" name="Text 29"/>
          <p:cNvSpPr/>
          <p:nvPr/>
        </p:nvSpPr>
        <p:spPr>
          <a:xfrm>
            <a:off x="2395728" y="3931920"/>
            <a:ext cx="9418320" cy="237744"/>
          </a:xfrm>
          <a:prstGeom prst="rect">
            <a:avLst/>
          </a:prstGeom>
          <a:noFill/>
          <a:ln/>
        </p:spPr>
        <p:txBody>
          <a:bodyPr wrap="square" lIns="0" tIns="0" rIns="0" bIns="0" rtlCol="0" anchor="ctr"/>
          <a:lstStyle/>
          <a:p>
            <a:pPr indent="0" marL="0">
              <a:buNone/>
            </a:pPr>
            <a:r>
              <a:rPr lang="en-US" sz="950" b="1" dirty="0">
                <a:solidFill>
                  <a:srgbClr val="2DD4BF"/>
                </a:solidFill>
                <a:latin typeface="Calibri" pitchFamily="34" charset="0"/>
                <a:ea typeface="Calibri" pitchFamily="34" charset="-122"/>
                <a:cs typeface="Calibri" pitchFamily="34" charset="-120"/>
              </a:rPr>
              <a:t>Exit      </a:t>
            </a:r>
            <a:pPr indent="0" marL="0">
              <a:buNone/>
            </a:pPr>
            <a:r>
              <a:rPr lang="en-US" sz="950" dirty="0">
                <a:solidFill>
                  <a:srgbClr val="FFFFFF"/>
                </a:solidFill>
                <a:latin typeface="Calibri" pitchFamily="34" charset="0"/>
                <a:ea typeface="Calibri" pitchFamily="34" charset="-122"/>
                <a:cs typeface="Calibri" pitchFamily="34" charset="-120"/>
              </a:rPr>
              <a:t>1:2.5R extension target — 6,651.00 (yellow resistance / VWAP zone)</a:t>
            </a:r>
            <a:endParaRPr lang="en-US" sz="950" dirty="0"/>
          </a:p>
        </p:txBody>
      </p:sp>
      <p:sp>
        <p:nvSpPr>
          <p:cNvPr id="32" name="Shape 30"/>
          <p:cNvSpPr/>
          <p:nvPr/>
        </p:nvSpPr>
        <p:spPr>
          <a:xfrm>
            <a:off x="2395728" y="4206240"/>
            <a:ext cx="9418320" cy="9144"/>
          </a:xfrm>
          <a:prstGeom prst="rect">
            <a:avLst/>
          </a:prstGeom>
          <a:solidFill>
            <a:srgbClr val="334155"/>
          </a:solidFill>
          <a:ln w="12700">
            <a:solidFill>
              <a:srgbClr val="334155"/>
            </a:solidFill>
            <a:prstDash val="solid"/>
          </a:ln>
        </p:spPr>
      </p:sp>
      <p:sp>
        <p:nvSpPr>
          <p:cNvPr id="33" name="Text 31"/>
          <p:cNvSpPr/>
          <p:nvPr/>
        </p:nvSpPr>
        <p:spPr>
          <a:xfrm>
            <a:off x="2395728" y="4261104"/>
            <a:ext cx="9418320" cy="365760"/>
          </a:xfrm>
          <a:prstGeom prst="rect">
            <a:avLst/>
          </a:prstGeom>
          <a:noFill/>
          <a:ln/>
        </p:spPr>
        <p:txBody>
          <a:bodyPr wrap="square" lIns="0" tIns="0" rIns="0" bIns="0" rtlCol="0" anchor="ctr"/>
          <a:lstStyle/>
          <a:p>
            <a:pPr indent="0" marL="0">
              <a:buNone/>
            </a:pPr>
            <a:r>
              <a:rPr lang="en-US" sz="950" b="1" dirty="0">
                <a:solidFill>
                  <a:srgbClr val="FCA535"/>
                </a:solidFill>
                <a:latin typeface="Calibri" pitchFamily="34" charset="0"/>
                <a:ea typeface="Calibri" pitchFamily="34" charset="-122"/>
                <a:cs typeface="Calibri" pitchFamily="34" charset="-120"/>
              </a:rPr>
              <a:t>Reason  </a:t>
            </a:r>
            <a:pPr indent="0" marL="0">
              <a:buNone/>
            </a:pPr>
            <a:r>
              <a:rPr lang="en-US" sz="950" i="1" dirty="0">
                <a:solidFill>
                  <a:srgbClr val="94A3B8"/>
                </a:solidFill>
                <a:latin typeface="Calibri" pitchFamily="34" charset="0"/>
                <a:ea typeface="Calibri" pitchFamily="34" charset="-122"/>
                <a:cs typeface="Calibri" pitchFamily="34" charset="-120"/>
              </a:rPr>
              <a:t>Two clean legs down into support + High 2 = textbook reversal entry. CHoCH confirmed. Wider 1:2.5R target justified by yellow resistance level above and the size of the two-leg move. Larger reward-to-risk warranted by the structural shift.</a:t>
            </a:r>
            <a:endParaRPr lang="en-US" sz="950" dirty="0"/>
          </a:p>
        </p:txBody>
      </p:sp>
      <p:sp>
        <p:nvSpPr>
          <p:cNvPr id="34" name="Shape 32"/>
          <p:cNvSpPr/>
          <p:nvPr/>
        </p:nvSpPr>
        <p:spPr>
          <a:xfrm>
            <a:off x="228600" y="4791456"/>
            <a:ext cx="1938528" cy="1115568"/>
          </a:xfrm>
          <a:prstGeom prst="rect">
            <a:avLst/>
          </a:prstGeom>
          <a:solidFill>
            <a:srgbClr val="411C02"/>
          </a:solidFill>
          <a:ln w="9525">
            <a:solidFill>
              <a:srgbClr val="854F0B"/>
            </a:solidFill>
            <a:prstDash val="solid"/>
          </a:ln>
          <a:effectLst>
            <a:outerShdw sx="100000" sy="100000" kx="0" ky="0" algn="bl" rotWithShape="0" blurRad="38100" dist="25400" dir="8100000">
              <a:srgbClr val="000000">
                <a:alpha val="20000"/>
              </a:srgbClr>
            </a:outerShdw>
          </a:effectLst>
        </p:spPr>
      </p:sp>
      <p:sp>
        <p:nvSpPr>
          <p:cNvPr id="35" name="Text 33"/>
          <p:cNvSpPr/>
          <p:nvPr/>
        </p:nvSpPr>
        <p:spPr>
          <a:xfrm>
            <a:off x="274320" y="5193792"/>
            <a:ext cx="1828800" cy="329184"/>
          </a:xfrm>
          <a:prstGeom prst="rect">
            <a:avLst/>
          </a:prstGeom>
          <a:noFill/>
          <a:ln/>
        </p:spPr>
        <p:txBody>
          <a:bodyPr wrap="square" lIns="0" tIns="0" rIns="0" bIns="0" rtlCol="0" anchor="ctr"/>
          <a:lstStyle/>
          <a:p>
            <a:pPr algn="ctr" indent="0" marL="0">
              <a:buNone/>
            </a:pPr>
            <a:r>
              <a:rPr lang="en-US" sz="1200" b="1" dirty="0">
                <a:solidFill>
                  <a:srgbClr val="FCA535"/>
                </a:solidFill>
                <a:latin typeface="Calibri" pitchFamily="34" charset="0"/>
                <a:ea typeface="Calibri" pitchFamily="34" charset="-122"/>
                <a:cs typeface="Calibri" pitchFamily="34" charset="-120"/>
              </a:rPr>
              <a:t>Lesson</a:t>
            </a:r>
            <a:endParaRPr lang="en-US" sz="1200" dirty="0"/>
          </a:p>
          <a:p>
            <a:pPr algn="ctr" indent="0" marL="0">
              <a:buNone/>
            </a:pPr>
            <a:r>
              <a:rPr lang="en-US" sz="1200" b="1" dirty="0">
                <a:solidFill>
                  <a:srgbClr val="FCA535"/>
                </a:solidFill>
                <a:latin typeface="Calibri" pitchFamily="34" charset="0"/>
                <a:ea typeface="Calibri" pitchFamily="34" charset="-122"/>
                <a:cs typeface="Calibri" pitchFamily="34" charset="-120"/>
              </a:rPr>
              <a:t>Learnt</a:t>
            </a:r>
            <a:endParaRPr lang="en-US" sz="1200" dirty="0"/>
          </a:p>
        </p:txBody>
      </p:sp>
      <p:sp>
        <p:nvSpPr>
          <p:cNvPr id="36" name="Shape 34"/>
          <p:cNvSpPr/>
          <p:nvPr/>
        </p:nvSpPr>
        <p:spPr>
          <a:xfrm>
            <a:off x="2286000" y="4791456"/>
            <a:ext cx="9646920" cy="1115568"/>
          </a:xfrm>
          <a:prstGeom prst="rect">
            <a:avLst/>
          </a:prstGeom>
          <a:solidFill>
            <a:srgbClr val="1E293B"/>
          </a:solidFill>
          <a:ln w="6350">
            <a:solidFill>
              <a:srgbClr val="334155"/>
            </a:solidFill>
            <a:prstDash val="solid"/>
          </a:ln>
          <a:effectLst>
            <a:outerShdw sx="100000" sy="100000" kx="0" ky="0" algn="bl" rotWithShape="0" blurRad="38100" dist="25400" dir="8100000">
              <a:srgbClr val="000000">
                <a:alpha val="20000"/>
              </a:srgbClr>
            </a:outerShdw>
          </a:effectLst>
        </p:spPr>
      </p:sp>
      <p:sp>
        <p:nvSpPr>
          <p:cNvPr id="37" name="Text 35"/>
          <p:cNvSpPr/>
          <p:nvPr/>
        </p:nvSpPr>
        <p:spPr>
          <a:xfrm>
            <a:off x="2395728" y="4901184"/>
            <a:ext cx="9418320" cy="91440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When two legs down complete cleanly with comparable size, the High 2 after the second leg is the cleanest entry in the SIMPAN playbook. The reason to extend the target to 1:2.5R here is the presence of a clear structural level above (yellow line) that is far enough away to justify the wider target. Not every High 2 deserves a 1:2.5R — you earn the wider target by identifying where the next significant level sits before the trade is on. The CHoCH confirmation above B41 makes this a high conviction trade — size accordingly.</a:t>
            </a:r>
            <a:endParaRPr lang="en-US" sz="950" dirty="0"/>
          </a:p>
        </p:txBody>
      </p:sp>
      <p:sp>
        <p:nvSpPr>
          <p:cNvPr id="38" name="Text 36"/>
          <p:cNvSpPr/>
          <p:nvPr/>
        </p:nvSpPr>
        <p:spPr>
          <a:xfrm>
            <a:off x="228600" y="6035040"/>
            <a:ext cx="11704320" cy="164592"/>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Trade card  ·  T04  ·  High 2 — 2 Legs Down — 1:2.5R  ·  MESM6 5m  ·  Personal trade journal — not financial advice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MESM6 — Trade Cards — Mar 20, 2026</dc:title>
  <dc:subject>PptxGenJS Presentation</dc:subject>
  <dc:creator>PptxGenJS</dc:creator>
  <cp:lastModifiedBy>PptxGenJS</cp:lastModifiedBy>
  <cp:revision>1</cp:revision>
  <dcterms:created xsi:type="dcterms:W3CDTF">2026-03-19T22:24:30Z</dcterms:created>
  <dcterms:modified xsi:type="dcterms:W3CDTF">2026-03-19T22:24:30Z</dcterms:modified>
</cp:coreProperties>
</file>